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HITO 5 · ENTREGA FINAL Y DEFENSA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STRIKE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gestión de gimnasio   ·   Trabajo de Campo · Ingeniería de Software II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931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2:   Mateo Brizuela · Ernesto Ponce · Martín Mousist · Fabricio Posada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572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B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Defensa: martes 16/06/2026 · 19:00     ·     github.com/MartinMousist/power-strike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organizamos la defensa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1E2230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828800"/>
            <a:ext cx="64008" cy="3291840"/>
          </a:xfrm>
          <a:prstGeom prst="rect">
            <a:avLst/>
          </a:prstGeom>
          <a:solidFill>
            <a:srgbClr val="3DD68C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99339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Mateo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340864"/>
            <a:ext cx="2331720" cy="2761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Producto, testing automatizado (caja negra/blanca, TDD) y métricas finales.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18288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1E2230"/>
          </a:solidFill>
          <a:ln/>
        </p:spPr>
      </p:sp>
      <p:sp>
        <p:nvSpPr>
          <p:cNvPr id="11" name="Shape 9"/>
          <p:cNvSpPr/>
          <p:nvPr/>
        </p:nvSpPr>
        <p:spPr>
          <a:xfrm>
            <a:off x="3337560" y="1828800"/>
            <a:ext cx="64008" cy="329184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12" name="Text 10"/>
          <p:cNvSpPr/>
          <p:nvPr/>
        </p:nvSpPr>
        <p:spPr>
          <a:xfrm>
            <a:off x="3538728" y="199339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Martín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38728" y="2340864"/>
            <a:ext cx="2331720" cy="2761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en capas, máquina de estados e integración continua (CI).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8288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1E2230"/>
          </a:solidFill>
          <a:ln/>
        </p:spPr>
      </p:sp>
      <p:sp>
        <p:nvSpPr>
          <p:cNvPr id="15" name="Shape 13"/>
          <p:cNvSpPr/>
          <p:nvPr/>
        </p:nvSpPr>
        <p:spPr>
          <a:xfrm>
            <a:off x="6172200" y="1828800"/>
            <a:ext cx="64008" cy="329184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3368" y="199339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Fabricio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3368" y="2340864"/>
            <a:ext cx="2331720" cy="2761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SQA, trazabilidad (RTM) y análisis de riesgos (FMEA).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06840" y="18288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1E2230"/>
          </a:solidFill>
          <a:ln/>
        </p:spPr>
      </p:sp>
      <p:sp>
        <p:nvSpPr>
          <p:cNvPr id="19" name="Shape 17"/>
          <p:cNvSpPr/>
          <p:nvPr/>
        </p:nvSpPr>
        <p:spPr>
          <a:xfrm>
            <a:off x="9006840" y="1828800"/>
            <a:ext cx="64008" cy="329184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20" name="Text 18"/>
          <p:cNvSpPr/>
          <p:nvPr/>
        </p:nvSpPr>
        <p:spPr>
          <a:xfrm>
            <a:off x="9208008" y="199339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Ernesto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208008" y="2340864"/>
            <a:ext cx="2331720" cy="2761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de defectos, correcciones del Hito 5 y usabilidad (Nielsen).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conjunto: demo en vivo, reflexión y conclusiones.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PRODUCTO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resuelve Power Strike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02920" y="16916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 usuarios, actividades y asistencias de un gimnasio, con autenticación por roles y una API REST consumida por una SPA.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2743200" cy="2377440"/>
          </a:xfrm>
          <a:prstGeom prst="roundRect">
            <a:avLst>
              <a:gd name="adj" fmla="val 3077"/>
            </a:avLst>
          </a:prstGeom>
          <a:solidFill>
            <a:srgbClr val="1E223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2468880"/>
            <a:ext cx="64008" cy="237744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26334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Usuarios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04088" y="2980944"/>
            <a:ext cx="2377440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con nombre, email y DNI validados. Roles ADMIN / TRAINER / CLIENT.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29000" y="2468880"/>
            <a:ext cx="2743200" cy="2377440"/>
          </a:xfrm>
          <a:prstGeom prst="roundRect">
            <a:avLst>
              <a:gd name="adj" fmla="val 3077"/>
            </a:avLst>
          </a:prstGeom>
          <a:solidFill>
            <a:srgbClr val="1E2230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2468880"/>
            <a:ext cx="64008" cy="237744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13" name="Text 11"/>
          <p:cNvSpPr/>
          <p:nvPr/>
        </p:nvSpPr>
        <p:spPr>
          <a:xfrm>
            <a:off x="3630168" y="26334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Actividades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30168" y="2980944"/>
            <a:ext cx="2377440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Crear, editar y consultar: nombre, día, horario y costo mensual.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55080" y="2468880"/>
            <a:ext cx="2743200" cy="2377440"/>
          </a:xfrm>
          <a:prstGeom prst="roundRect">
            <a:avLst>
              <a:gd name="adj" fmla="val 3077"/>
            </a:avLst>
          </a:prstGeom>
          <a:solidFill>
            <a:srgbClr val="1E2230"/>
          </a:solidFill>
          <a:ln/>
        </p:spPr>
      </p:sp>
      <p:sp>
        <p:nvSpPr>
          <p:cNvPr id="16" name="Shape 14"/>
          <p:cNvSpPr/>
          <p:nvPr/>
        </p:nvSpPr>
        <p:spPr>
          <a:xfrm>
            <a:off x="6355080" y="2468880"/>
            <a:ext cx="64008" cy="2377440"/>
          </a:xfrm>
          <a:prstGeom prst="rect">
            <a:avLst/>
          </a:prstGeom>
          <a:solidFill>
            <a:srgbClr val="3DD68C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48" y="26334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Asistencias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56248" y="2980944"/>
            <a:ext cx="2377440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e historial de asistencia por usuario.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281160" y="2468880"/>
            <a:ext cx="2423160" cy="2377440"/>
          </a:xfrm>
          <a:prstGeom prst="roundRect">
            <a:avLst>
              <a:gd name="adj" fmla="val 3077"/>
            </a:avLst>
          </a:prstGeom>
          <a:solidFill>
            <a:srgbClr val="1E2230"/>
          </a:solidFill>
          <a:ln/>
        </p:spPr>
      </p:sp>
      <p:sp>
        <p:nvSpPr>
          <p:cNvPr id="20" name="Shape 18"/>
          <p:cNvSpPr/>
          <p:nvPr/>
        </p:nvSpPr>
        <p:spPr>
          <a:xfrm>
            <a:off x="9281160" y="2468880"/>
            <a:ext cx="64008" cy="237744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21" name="Text 19"/>
          <p:cNvSpPr/>
          <p:nvPr/>
        </p:nvSpPr>
        <p:spPr>
          <a:xfrm>
            <a:off x="9482328" y="2633472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Seguridad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482328" y="2980944"/>
            <a:ext cx="2057400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con JWT y autorización por rol en los endpoints.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Mateo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ARQUITECTURA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Capas y stack tecnológico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194560"/>
            <a:ext cx="2331720" cy="2194560"/>
          </a:xfrm>
          <a:prstGeom prst="roundRect">
            <a:avLst>
              <a:gd name="adj" fmla="val 3333"/>
            </a:avLst>
          </a:prstGeom>
          <a:solidFill>
            <a:srgbClr val="1E2230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2194560"/>
            <a:ext cx="64008" cy="219456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359152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Vue 3 SPA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706624"/>
            <a:ext cx="1965960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Pinia · Router · Vite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88920" y="283464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200400" y="2194560"/>
            <a:ext cx="2331720" cy="2194560"/>
          </a:xfrm>
          <a:prstGeom prst="roundRect">
            <a:avLst>
              <a:gd name="adj" fmla="val 3333"/>
            </a:avLst>
          </a:prstGeom>
          <a:solidFill>
            <a:srgbClr val="1E2230"/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0" y="2194560"/>
            <a:ext cx="64008" cy="219456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13" name="Text 11"/>
          <p:cNvSpPr/>
          <p:nvPr/>
        </p:nvSpPr>
        <p:spPr>
          <a:xfrm>
            <a:off x="3401568" y="2359152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 REST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01568" y="2706624"/>
            <a:ext cx="1965960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Boot 3.2 · JWT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0" y="283464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5897880" y="2194560"/>
            <a:ext cx="2331720" cy="2194560"/>
          </a:xfrm>
          <a:prstGeom prst="roundRect">
            <a:avLst>
              <a:gd name="adj" fmla="val 3333"/>
            </a:avLst>
          </a:prstGeom>
          <a:solidFill>
            <a:srgbClr val="1E2230"/>
          </a:solidFill>
          <a:ln/>
        </p:spPr>
      </p:sp>
      <p:sp>
        <p:nvSpPr>
          <p:cNvPr id="17" name="Shape 15"/>
          <p:cNvSpPr/>
          <p:nvPr/>
        </p:nvSpPr>
        <p:spPr>
          <a:xfrm>
            <a:off x="5897880" y="2194560"/>
            <a:ext cx="64008" cy="219456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099048" y="2359152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Servicios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99048" y="2706624"/>
            <a:ext cx="1965960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Lógica de negocio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183880" y="283464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8595360" y="2194560"/>
            <a:ext cx="2331720" cy="2194560"/>
          </a:xfrm>
          <a:prstGeom prst="roundRect">
            <a:avLst>
              <a:gd name="adj" fmla="val 3333"/>
            </a:avLst>
          </a:prstGeom>
          <a:solidFill>
            <a:srgbClr val="1E2230"/>
          </a:solidFill>
          <a:ln/>
        </p:spPr>
      </p:sp>
      <p:sp>
        <p:nvSpPr>
          <p:cNvPr id="22" name="Shape 20"/>
          <p:cNvSpPr/>
          <p:nvPr/>
        </p:nvSpPr>
        <p:spPr>
          <a:xfrm>
            <a:off x="8595360" y="2194560"/>
            <a:ext cx="64008" cy="2194560"/>
          </a:xfrm>
          <a:prstGeom prst="rect">
            <a:avLst/>
          </a:prstGeom>
          <a:solidFill>
            <a:srgbClr val="3DD68C"/>
          </a:solidFill>
          <a:ln/>
        </p:spPr>
      </p:sp>
      <p:sp>
        <p:nvSpPr>
          <p:cNvPr id="23" name="Text 21"/>
          <p:cNvSpPr/>
          <p:nvPr/>
        </p:nvSpPr>
        <p:spPr>
          <a:xfrm>
            <a:off x="8796528" y="2359152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796528" y="2706624"/>
            <a:ext cx="1965960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Data · PostgreSQL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en capas (controller → service → repository): cada capa se testea de forma aislada.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Martín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PROCESO DE CALIDAD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Plan SQA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611880" cy="3200400"/>
          </a:xfrm>
          <a:prstGeom prst="roundRect">
            <a:avLst>
              <a:gd name="adj" fmla="val 2286"/>
            </a:avLst>
          </a:prstGeom>
          <a:solidFill>
            <a:srgbClr val="1E2230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828800"/>
            <a:ext cx="64008" cy="320040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99339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controlamos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340864"/>
            <a:ext cx="3246120" cy="2670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requerimiento→código→test, cobertura, complejidad y mantenibilidad, y gestión de defectos como Issues.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611880" cy="3200400"/>
          </a:xfrm>
          <a:prstGeom prst="roundRect">
            <a:avLst>
              <a:gd name="adj" fmla="val 2286"/>
            </a:avLst>
          </a:prstGeom>
          <a:solidFill>
            <a:srgbClr val="1E2230"/>
          </a:solidFill>
          <a:ln/>
        </p:spPr>
      </p:sp>
      <p:sp>
        <p:nvSpPr>
          <p:cNvPr id="11" name="Shape 9"/>
          <p:cNvSpPr/>
          <p:nvPr/>
        </p:nvSpPr>
        <p:spPr>
          <a:xfrm>
            <a:off x="4297680" y="1828800"/>
            <a:ext cx="64008" cy="320040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199339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medimos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340864"/>
            <a:ext cx="3246120" cy="2670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cada push: tests + cobertura + linters (CI). Por hito: revisión de métricas y actualización del plan.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828800"/>
            <a:ext cx="3611880" cy="3200400"/>
          </a:xfrm>
          <a:prstGeom prst="roundRect">
            <a:avLst>
              <a:gd name="adj" fmla="val 2286"/>
            </a:avLst>
          </a:prstGeom>
          <a:solidFill>
            <a:srgbClr val="1E2230"/>
          </a:solidFill>
          <a:ln/>
        </p:spPr>
      </p:sp>
      <p:sp>
        <p:nvSpPr>
          <p:cNvPr id="15" name="Shape 13"/>
          <p:cNvSpPr/>
          <p:nvPr/>
        </p:nvSpPr>
        <p:spPr>
          <a:xfrm>
            <a:off x="8092440" y="1828800"/>
            <a:ext cx="64008" cy="3200400"/>
          </a:xfrm>
          <a:prstGeom prst="rect">
            <a:avLst/>
          </a:prstGeom>
          <a:solidFill>
            <a:srgbClr val="3DD68C"/>
          </a:solidFill>
          <a:ln/>
        </p:spPr>
      </p:sp>
      <p:sp>
        <p:nvSpPr>
          <p:cNvPr id="16" name="Text 14"/>
          <p:cNvSpPr/>
          <p:nvPr/>
        </p:nvSpPr>
        <p:spPr>
          <a:xfrm>
            <a:off x="8293608" y="199339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Umbrales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93608" y="2340864"/>
            <a:ext cx="3246120" cy="2670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≥ 60% en módulos nuevos · CC ≤ 10 · 100% tests en verde · 0 críticos abiertos al mergear.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Fabricio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TRAZABILIDAD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RTM · Requerimientos funcionales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1E2230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83080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REQ-F01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468880" y="1783080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usuarios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783080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UserController + tests CP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064240" y="1783080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02920" y="2624328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1E223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624328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REQ-F02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468880" y="2624328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Listado de usuarios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2624328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UserController.getAll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064240" y="2624328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02920" y="3465576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1E2230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465576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REQ-F03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468880" y="3465576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Gestionar actividades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3465576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ActivityController + AC-01..11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064240" y="3465576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02920" y="4306824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1E2230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306824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REQ-F04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468880" y="4306824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actividades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4306824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getAllActivities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064240" y="4306824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02920" y="5148072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1E223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5148072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REQ-F05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2468880" y="5148072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Asistencias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0" y="514807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AttendanceController + AT-01..06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064240" y="5148072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Fabricio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TRAZABILIDAD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RTM · No funcionales y seguridad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1E2230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828800"/>
            <a:ext cx="64008" cy="310896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99339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REQ-NF01 · JWT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340864"/>
            <a:ext cx="3246120" cy="2578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Autenticación con token. AuthController + JwtUtil + filtro. Test de login.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1E2230"/>
          </a:solidFill>
          <a:ln/>
        </p:spPr>
      </p:sp>
      <p:sp>
        <p:nvSpPr>
          <p:cNvPr id="11" name="Shape 9"/>
          <p:cNvSpPr/>
          <p:nvPr/>
        </p:nvSpPr>
        <p:spPr>
          <a:xfrm>
            <a:off x="4297680" y="1828800"/>
            <a:ext cx="64008" cy="3108960"/>
          </a:xfrm>
          <a:prstGeom prst="rect">
            <a:avLst/>
          </a:prstGeom>
          <a:solidFill>
            <a:srgbClr val="3DD68C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199339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REQ-NF02 · Roles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340864"/>
            <a:ext cx="3246120" cy="2578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Autorización por rol con @PreAuthorize. CLIENT→403, ADMIN→200. Verificado por test de seguridad.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82880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1E2230"/>
          </a:solidFill>
          <a:ln/>
        </p:spPr>
      </p:sp>
      <p:sp>
        <p:nvSpPr>
          <p:cNvPr id="15" name="Shape 13"/>
          <p:cNvSpPr/>
          <p:nvPr/>
        </p:nvSpPr>
        <p:spPr>
          <a:xfrm>
            <a:off x="8092440" y="1828800"/>
            <a:ext cx="64008" cy="310896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16" name="Text 14"/>
          <p:cNvSpPr/>
          <p:nvPr/>
        </p:nvSpPr>
        <p:spPr>
          <a:xfrm>
            <a:off x="8293608" y="199339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REQ-NF03 · Errores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93608" y="2340864"/>
            <a:ext cx="3246120" cy="2578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GlobalExceptionHandler: 400 / 409 / 404 / 403 coherentes. Cubierto por tests EX.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D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control de roles (DEF-EXP-04) era el hueco crítico del Hito 4: se cerró en el Hito 5.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Fabricio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ASEGURAMIENTO DE CALIDAD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Testing automatizado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920240"/>
            <a:ext cx="64008" cy="265176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084832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55 · caja negra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04088" y="2743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Controllers vía MockMvc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04088" y="3090672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Validaciones y errores probados por HTTP, sin levantar la base. Verifican la especificación.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920240"/>
            <a:ext cx="557784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</p:sp>
      <p:sp>
        <p:nvSpPr>
          <p:cNvPr id="12" name="Shape 10"/>
          <p:cNvSpPr/>
          <p:nvPr/>
        </p:nvSpPr>
        <p:spPr>
          <a:xfrm>
            <a:off x="6126480" y="1920240"/>
            <a:ext cx="64008" cy="265176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13" name="Text 11"/>
          <p:cNvSpPr/>
          <p:nvPr/>
        </p:nvSpPr>
        <p:spPr>
          <a:xfrm>
            <a:off x="6327648" y="2084832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 · caja blanca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27648" y="27432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Services con Mockito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27648" y="3090672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Lógica de negocio con dobles de prueba. Cubren ramas y casos límite.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Técnicas: partición de equivalencia · valores límite · tabla de decisión · máquina de estados.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Mateo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METODOLOGÍA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TDD · ciclo Red-Green-Refactor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1E2230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2011680"/>
            <a:ext cx="64008" cy="27432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17627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· RED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523744"/>
            <a:ext cx="324612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Escribimos primero el test del caso de uso. Falla, porque la funcionalidad o la validación todavía no existe.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20116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1E2230"/>
          </a:solidFill>
          <a:ln/>
        </p:spPr>
      </p:sp>
      <p:sp>
        <p:nvSpPr>
          <p:cNvPr id="11" name="Shape 9"/>
          <p:cNvSpPr/>
          <p:nvPr/>
        </p:nvSpPr>
        <p:spPr>
          <a:xfrm>
            <a:off x="4297680" y="2011680"/>
            <a:ext cx="64008" cy="2743200"/>
          </a:xfrm>
          <a:prstGeom prst="rect">
            <a:avLst/>
          </a:prstGeom>
          <a:solidFill>
            <a:srgbClr val="3DD68C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217627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 · GREEN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523744"/>
            <a:ext cx="324612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Implementamos lo mínimo para que el test pase. La barra se pone verde.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20116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1E2230"/>
          </a:solidFill>
          <a:ln/>
        </p:spPr>
      </p:sp>
      <p:sp>
        <p:nvSpPr>
          <p:cNvPr id="15" name="Shape 13"/>
          <p:cNvSpPr/>
          <p:nvPr/>
        </p:nvSpPr>
        <p:spPr>
          <a:xfrm>
            <a:off x="8092440" y="2011680"/>
            <a:ext cx="64008" cy="274320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93608" y="217627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· REFACTOR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93608" y="2523744"/>
            <a:ext cx="324612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Limpiamos el código con la red de seguridad de los tests ya en verde.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queda visible en el historial de commits: primero el test que falla, después el fix.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Mateo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DISEÑO DE PRUEBAS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Máquina de estados · Asistencia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3108960" cy="1188720"/>
          </a:xfrm>
          <a:prstGeom prst="roundRect">
            <a:avLst>
              <a:gd name="adj" fmla="val 7692"/>
            </a:avLst>
          </a:prstGeom>
          <a:solidFill>
            <a:srgbClr val="1E2230"/>
          </a:solidFill>
          <a:ln w="25400">
            <a:solidFill>
              <a:srgbClr val="9AA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AA0A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SIN REGISTRO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977640" y="2743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663440" y="2468880"/>
            <a:ext cx="3108960" cy="1188720"/>
          </a:xfrm>
          <a:prstGeom prst="roundRect">
            <a:avLst>
              <a:gd name="adj" fmla="val 7692"/>
            </a:avLst>
          </a:prstGeom>
          <a:solidFill>
            <a:srgbClr val="1E2230"/>
          </a:solidFill>
          <a:ln w="25400">
            <a:solidFill>
              <a:srgbClr val="3DD6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46888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REGISTRADA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818120" y="2743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8503920" y="2468880"/>
            <a:ext cx="3108960" cy="1188720"/>
          </a:xfrm>
          <a:prstGeom prst="roundRect">
            <a:avLst>
              <a:gd name="adj" fmla="val 7692"/>
            </a:avLst>
          </a:prstGeom>
          <a:solidFill>
            <a:srgbClr val="1E2230"/>
          </a:solidFill>
          <a:ln w="25400">
            <a:solidFill>
              <a:srgbClr val="FF4B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246888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DUPLICADA → 409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Modelamos la asistencia como estados y derivamos casos: primer registro OK, segundo registro del día → 409.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Martín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D68C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AUTOMATIZACIÓN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Integración continua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1E2230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920240"/>
            <a:ext cx="64008" cy="2926080"/>
          </a:xfrm>
          <a:prstGeom prst="rect">
            <a:avLst/>
          </a:prstGeom>
          <a:solidFill>
            <a:srgbClr val="3DD68C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08483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 cada push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432304"/>
            <a:ext cx="3246120" cy="2395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compila, corre los 77 tests y genera el reporte de cobertura JaCoCo.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92024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1E2230"/>
          </a:solidFill>
          <a:ln/>
        </p:spPr>
      </p:sp>
      <p:sp>
        <p:nvSpPr>
          <p:cNvPr id="11" name="Shape 9"/>
          <p:cNvSpPr/>
          <p:nvPr/>
        </p:nvSpPr>
        <p:spPr>
          <a:xfrm>
            <a:off x="4297680" y="1920240"/>
            <a:ext cx="64008" cy="292608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208483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Feedback inmediato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432304"/>
            <a:ext cx="3246120" cy="2395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un test falla, el pipeline avisa antes de mergear. La rama main siempre queda verde.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92024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1E2230"/>
          </a:solidFill>
          <a:ln/>
        </p:spPr>
      </p:sp>
      <p:sp>
        <p:nvSpPr>
          <p:cNvPr id="15" name="Shape 13"/>
          <p:cNvSpPr/>
          <p:nvPr/>
        </p:nvSpPr>
        <p:spPr>
          <a:xfrm>
            <a:off x="8092440" y="1920240"/>
            <a:ext cx="64008" cy="292608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16" name="Text 14"/>
          <p:cNvSpPr/>
          <p:nvPr/>
        </p:nvSpPr>
        <p:spPr>
          <a:xfrm>
            <a:off x="8293608" y="208483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Análisis estático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93608" y="2432304"/>
            <a:ext cx="3246120" cy="2395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Checkstyle y PMD sobre el código Java; ESLint en el frontend.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calidad deja de depender de la disciplina individual: la verifica la máquina en cada cambio.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Martín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MÉTRICAS FINALES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Tamaño y complejidad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920240"/>
            <a:ext cx="64008" cy="265176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0848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1.585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04088" y="27432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líneas de producción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04088" y="3090672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704 + Frontend 881. Tests: 839 (razón 0,53).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192024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0" y="1920240"/>
            <a:ext cx="64008" cy="2651760"/>
          </a:xfrm>
          <a:prstGeom prst="rect">
            <a:avLst/>
          </a:prstGeom>
          <a:solidFill>
            <a:srgbClr val="3DD68C"/>
          </a:solidFill>
          <a:ln/>
        </p:spPr>
      </p:sp>
      <p:sp>
        <p:nvSpPr>
          <p:cNvPr id="13" name="Text 11"/>
          <p:cNvSpPr/>
          <p:nvPr/>
        </p:nvSpPr>
        <p:spPr>
          <a:xfrm>
            <a:off x="4498848" y="20848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CC ≤ 10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498848" y="27432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complejidad ciclomática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98848" y="3090672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violaciones en PMD. Método más complejo: CC = 3.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92440" y="192024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</p:sp>
      <p:sp>
        <p:nvSpPr>
          <p:cNvPr id="17" name="Shape 15"/>
          <p:cNvSpPr/>
          <p:nvPr/>
        </p:nvSpPr>
        <p:spPr>
          <a:xfrm>
            <a:off x="8092440" y="1920240"/>
            <a:ext cx="64008" cy="265176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18" name="Text 16"/>
          <p:cNvSpPr/>
          <p:nvPr/>
        </p:nvSpPr>
        <p:spPr>
          <a:xfrm>
            <a:off x="8293608" y="20848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 ≈ 85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293608" y="27432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mantenibilidad (MI)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93608" y="3090672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SEI: ≥ 85 es alta mantenibilidad.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Mateo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MÉTRICAS FINALES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Cobertura y resultado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920240"/>
            <a:ext cx="64008" cy="2651760"/>
          </a:xfrm>
          <a:prstGeom prst="rect">
            <a:avLst/>
          </a:prstGeom>
          <a:solidFill>
            <a:srgbClr val="3DD68C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0848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04088" y="27432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cobertura en controller, service y model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04088" y="3090672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 el umbral de 60% del Plan SQA.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192024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0" y="1920240"/>
            <a:ext cx="64008" cy="265176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13" name="Text 11"/>
          <p:cNvSpPr/>
          <p:nvPr/>
        </p:nvSpPr>
        <p:spPr>
          <a:xfrm>
            <a:off x="4498848" y="20848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53%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498848" y="27432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cobertura global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98848" y="3090672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resto es security/ y arranque, fuera del testing funcional.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92440" y="192024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</p:sp>
      <p:sp>
        <p:nvSpPr>
          <p:cNvPr id="17" name="Shape 15"/>
          <p:cNvSpPr/>
          <p:nvPr/>
        </p:nvSpPr>
        <p:spPr>
          <a:xfrm>
            <a:off x="8092440" y="1920240"/>
            <a:ext cx="64008" cy="265176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18" name="Text 16"/>
          <p:cNvSpPr/>
          <p:nvPr/>
        </p:nvSpPr>
        <p:spPr>
          <a:xfrm>
            <a:off x="8293608" y="20848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77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293608" y="27432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tests · todos en verde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93608" y="3090672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fallos, 0 errores en la suite completa.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Evolución: 21 tests (H3) → 72 (H4) → 77 (H5). Cobertura de módulos principales: parcial → 100%.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Mateo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GESTIÓN DE DEFECTOS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 detectados · 9 cerrados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920240"/>
            <a:ext cx="64008" cy="265176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084832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04088" y="2743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documentados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04088" y="3090672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TDD y análisis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92024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</p:sp>
      <p:sp>
        <p:nvSpPr>
          <p:cNvPr id="12" name="Shape 10"/>
          <p:cNvSpPr/>
          <p:nvPr/>
        </p:nvSpPr>
        <p:spPr>
          <a:xfrm>
            <a:off x="3337560" y="1920240"/>
            <a:ext cx="64008" cy="265176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13" name="Text 11"/>
          <p:cNvSpPr/>
          <p:nvPr/>
        </p:nvSpPr>
        <p:spPr>
          <a:xfrm>
            <a:off x="3538728" y="2084832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538728" y="2743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exploratorios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38728" y="3090672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sesiones manuales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72200" y="192024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</p:sp>
      <p:sp>
        <p:nvSpPr>
          <p:cNvPr id="17" name="Shape 15"/>
          <p:cNvSpPr/>
          <p:nvPr/>
        </p:nvSpPr>
        <p:spPr>
          <a:xfrm>
            <a:off x="6172200" y="1920240"/>
            <a:ext cx="64008" cy="2651760"/>
          </a:xfrm>
          <a:prstGeom prst="rect">
            <a:avLst/>
          </a:prstGeom>
          <a:solidFill>
            <a:srgbClr val="3DD68C"/>
          </a:solidFill>
          <a:ln/>
        </p:spPr>
      </p:sp>
      <p:sp>
        <p:nvSpPr>
          <p:cNvPr id="18" name="Text 16"/>
          <p:cNvSpPr/>
          <p:nvPr/>
        </p:nvSpPr>
        <p:spPr>
          <a:xfrm>
            <a:off x="6373368" y="2084832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373368" y="2743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corregidos / cerrados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73368" y="3090672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incl. el crítico de roles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06840" y="192024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</p:sp>
      <p:sp>
        <p:nvSpPr>
          <p:cNvPr id="22" name="Shape 20"/>
          <p:cNvSpPr/>
          <p:nvPr/>
        </p:nvSpPr>
        <p:spPr>
          <a:xfrm>
            <a:off x="9006840" y="1920240"/>
            <a:ext cx="64008" cy="265176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23" name="Text 21"/>
          <p:cNvSpPr/>
          <p:nvPr/>
        </p:nvSpPr>
        <p:spPr>
          <a:xfrm>
            <a:off x="9208008" y="2084832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208008" y="2743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abiertos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208008" y="3090672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avances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 (QA) y Prioridad (PO) separadas · todos cargados como Issues en GitHub.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Ernesto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D68C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CIERRE DEL HITO 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Defectos corregidos con TDD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11201400" cy="749808"/>
          </a:xfrm>
          <a:prstGeom prst="roundRect">
            <a:avLst>
              <a:gd name="adj" fmla="val 7317"/>
            </a:avLst>
          </a:prstGeom>
          <a:solidFill>
            <a:srgbClr val="1E2230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82880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DEF-EXP-04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06040" y="1828800"/>
            <a:ext cx="5212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control de roles (CLIENT accedía a todo)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955280" y="1828800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403 con @PreAuthorize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2697480"/>
            <a:ext cx="11201400" cy="749808"/>
          </a:xfrm>
          <a:prstGeom prst="roundRect">
            <a:avLst>
              <a:gd name="adj" fmla="val 7317"/>
            </a:avLst>
          </a:prstGeom>
          <a:solidFill>
            <a:srgbClr val="1E2230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69748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DEF-EXP-02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06040" y="2697480"/>
            <a:ext cx="5212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Asistencias duplicadas el mismo día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55280" y="2697480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409 Conflict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566160"/>
            <a:ext cx="11201400" cy="749808"/>
          </a:xfrm>
          <a:prstGeom prst="roundRect">
            <a:avLst>
              <a:gd name="adj" fmla="val 7317"/>
            </a:avLst>
          </a:prstGeom>
          <a:solidFill>
            <a:srgbClr val="1E223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56616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DEF-EXP-01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606040" y="3566160"/>
            <a:ext cx="5212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userId inexistente devolvía 500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955280" y="3566160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404 NotFound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" y="4434840"/>
            <a:ext cx="11201400" cy="749808"/>
          </a:xfrm>
          <a:prstGeom prst="roundRect">
            <a:avLst>
              <a:gd name="adj" fmla="val 7317"/>
            </a:avLst>
          </a:prstGeom>
          <a:solidFill>
            <a:srgbClr val="1E2230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443484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DEF-EXP-06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606040" y="4434840"/>
            <a:ext cx="5212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 de actividad sin validar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955280" y="4434840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400 con @Pattern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Ernesto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ANÁLISIS DE RIESGOS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FMEA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1E2230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920240"/>
            <a:ext cx="64008" cy="301752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08483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Modos de falla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432304"/>
            <a:ext cx="3246120" cy="2487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Identificamos qué puede fallar en el registro de usuarios y su efecto en el sistema.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92024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1E2230"/>
          </a:solidFill>
          <a:ln/>
        </p:spPr>
      </p:sp>
      <p:sp>
        <p:nvSpPr>
          <p:cNvPr id="11" name="Shape 9"/>
          <p:cNvSpPr/>
          <p:nvPr/>
        </p:nvSpPr>
        <p:spPr>
          <a:xfrm>
            <a:off x="4297680" y="1920240"/>
            <a:ext cx="64008" cy="301752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208483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NPR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432304"/>
            <a:ext cx="3246120" cy="2487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Priorizamos por Número de Prioridad de Riesgo = gravedad × ocurrencia × detección.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92024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1E2230"/>
          </a:solidFill>
          <a:ln/>
        </p:spPr>
      </p:sp>
      <p:sp>
        <p:nvSpPr>
          <p:cNvPr id="15" name="Shape 13"/>
          <p:cNvSpPr/>
          <p:nvPr/>
        </p:nvSpPr>
        <p:spPr>
          <a:xfrm>
            <a:off x="8092440" y="1920240"/>
            <a:ext cx="64008" cy="3017520"/>
          </a:xfrm>
          <a:prstGeom prst="rect">
            <a:avLst/>
          </a:prstGeom>
          <a:solidFill>
            <a:srgbClr val="3DD68C"/>
          </a:solidFill>
          <a:ln/>
        </p:spPr>
      </p:sp>
      <p:sp>
        <p:nvSpPr>
          <p:cNvPr id="16" name="Text 14"/>
          <p:cNvSpPr/>
          <p:nvPr/>
        </p:nvSpPr>
        <p:spPr>
          <a:xfrm>
            <a:off x="8293608" y="208483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Mitigaciones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93608" y="2432304"/>
            <a:ext cx="3246120" cy="2487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riesgos altos se tradujeron en validaciones y tests concretos del backend.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Fabricio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USABILIDAD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Análisis heurístico · 10 de Nielsen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02920" y="1737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Evaluamos las 5 pantallas con las 10 heurísticas de Nielsen. Hallazgos por severidad: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3611880" cy="2377440"/>
          </a:xfrm>
          <a:prstGeom prst="roundRect">
            <a:avLst>
              <a:gd name="adj" fmla="val 3077"/>
            </a:avLst>
          </a:prstGeom>
          <a:solidFill>
            <a:srgbClr val="1E223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2377440"/>
            <a:ext cx="64008" cy="237744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25420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04088" y="32004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mayores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04088" y="3547872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al borrar · mensaje al borrar con asistencias · buscar usuario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2377440"/>
            <a:ext cx="3611880" cy="2377440"/>
          </a:xfrm>
          <a:prstGeom prst="roundRect">
            <a:avLst>
              <a:gd name="adj" fmla="val 3077"/>
            </a:avLst>
          </a:prstGeom>
          <a:solidFill>
            <a:srgbClr val="1E2230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0" y="2377440"/>
            <a:ext cx="64008" cy="237744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98848" y="25420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498848" y="32004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menores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498848" y="3547872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 · validación front · filtros/paginación · ayuda contextual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92440" y="2377440"/>
            <a:ext cx="3611880" cy="2377440"/>
          </a:xfrm>
          <a:prstGeom prst="roundRect">
            <a:avLst>
              <a:gd name="adj" fmla="val 3077"/>
            </a:avLst>
          </a:prstGeom>
          <a:solidFill>
            <a:srgbClr val="1E2230"/>
          </a:solidFill>
          <a:ln/>
        </p:spPr>
      </p:sp>
      <p:sp>
        <p:nvSpPr>
          <p:cNvPr id="18" name="Shape 16"/>
          <p:cNvSpPr/>
          <p:nvPr/>
        </p:nvSpPr>
        <p:spPr>
          <a:xfrm>
            <a:off x="8092440" y="2377440"/>
            <a:ext cx="64008" cy="237744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19" name="Text 17"/>
          <p:cNvSpPr/>
          <p:nvPr/>
        </p:nvSpPr>
        <p:spPr>
          <a:xfrm>
            <a:off x="8293608" y="25420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293608" y="32004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cosméticos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93608" y="3547872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mensajes técnicos · consistencia de botones · dashboard vacío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mejoras: confirmación al eliminar · mensaje correcto al borrar (FK) · selector de usuario en asistencias.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Ernesto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D68C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PRODUCTO EN VIVO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 y wireframes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11201400" cy="1828800"/>
          </a:xfrm>
          <a:prstGeom prst="roundRect">
            <a:avLst>
              <a:gd name="adj" fmla="val 5000"/>
            </a:avLst>
          </a:prstGeom>
          <a:solidFill>
            <a:srgbClr val="1E2230"/>
          </a:solidFill>
          <a:ln w="25400">
            <a:solidFill>
              <a:srgbClr val="3DD6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240280"/>
            <a:ext cx="11201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▶   DEMO EN VIVO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02920" y="2971800"/>
            <a:ext cx="11201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 →  Usuarios  →  Actividades  →  Asistencias  →  intento como CLIENT (403)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Wireframes y mockups de las pantallas clave: proyecto de Figma del equipo (link).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Equipo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REFLEXIÓN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aprendimos · qué haríamos distinto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5486400" cy="3291840"/>
          </a:xfrm>
          <a:prstGeom prst="roundRect">
            <a:avLst>
              <a:gd name="adj" fmla="val 2222"/>
            </a:avLst>
          </a:prstGeom>
          <a:solidFill>
            <a:srgbClr val="1E2230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920240"/>
            <a:ext cx="64008" cy="3291840"/>
          </a:xfrm>
          <a:prstGeom prst="rect">
            <a:avLst/>
          </a:prstGeom>
          <a:solidFill>
            <a:srgbClr val="3DD68C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08483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Aprendimos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432304"/>
            <a:ext cx="5120640" cy="2761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como parte del desarrollo (TDD) · técnicas formales de diseño de casos · métricas que importan (cobertura útil, CC, MI) · integración continua · trazabilidad.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920240"/>
            <a:ext cx="5486400" cy="3291840"/>
          </a:xfrm>
          <a:prstGeom prst="roundRect">
            <a:avLst>
              <a:gd name="adj" fmla="val 2222"/>
            </a:avLst>
          </a:prstGeom>
          <a:solidFill>
            <a:srgbClr val="1E223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0" y="1920240"/>
            <a:ext cx="64008" cy="329184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208483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Haríamos distinto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9088" y="2432304"/>
            <a:ext cx="5120640" cy="2761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Testear desde el día 1 · implementar RBAC más temprano · validar también en el frontend · cubrir seguridad y frontend con tests · cerrar antes los defectos abiertos.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Equipo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CONCLUSIÓN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 producto funcional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 un método de calidad replicable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 tests verdes  ·  100% en módulos principales  ·  CI activo  ·  trazabilidad completa  ·  defecto crítico cerrado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480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¡Gracias!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2026-06-12T15:16:48Z</dcterms:created>
  <dcterms:modified xsi:type="dcterms:W3CDTF">2026-06-12T15:16:48Z</dcterms:modified>
</cp:coreProperties>
</file>