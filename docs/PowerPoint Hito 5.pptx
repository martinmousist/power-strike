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88950"/>
  <p:notesSz cx="6858000" cy="12188950"/>
  <p:embeddedFontLst>
    <p:embeddedFont>
      <p:font typeface="Arial Black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sdIS+UyvWs+cUJe+8ajQbO2We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ialBlack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c29c5742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ec29c5742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ec29c57420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c3778e6f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ec3778e6f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ec3778e6fb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c29c57420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ec29c57420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ec29c57420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c29c57420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ec29c57420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ec29c57420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c29c57420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0" name="Google Shape;470;g3ec29c57420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ec29c57420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c29c57420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3ec29c57420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ec29c57420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2000"/>
              <a:buFont typeface="Arial Black"/>
              <a:buNone/>
            </a:pPr>
            <a:r>
              <a:rPr b="1" lang="en-US" sz="20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HITO 5 · ENTREGA FINAL Y DEFENSA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192024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8000"/>
              <a:buFont typeface="Arial Black"/>
              <a:buNone/>
            </a:pPr>
            <a:r>
              <a:rPr b="1" lang="en-US" sz="80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POWER STRIKE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Sistema de gestión de gimnasio   ·   Trabajo de Campo · Ingeniería de Software II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Grupo 2:   Mateo Brizuela · Ernesto Ponce · Martín Mousist · Fabricio Posada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4572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FB100"/>
                </a:solidFill>
                <a:latin typeface="Arial"/>
                <a:ea typeface="Arial"/>
                <a:cs typeface="Arial"/>
                <a:sym typeface="Arial"/>
              </a:rPr>
              <a:t>Defensa: martes 16/06/2026 · 19:00     ·     github.com/MartinMousist/power-strike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02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AGENDA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Cómo organizamos la defensa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828800"/>
            <a:ext cx="2697480" cy="3291840"/>
          </a:xfrm>
          <a:prstGeom prst="roundRect">
            <a:avLst>
              <a:gd fmla="val 2712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1828800"/>
            <a:ext cx="64008" cy="32918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04088" y="199339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Mateo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04088" y="2340864"/>
            <a:ext cx="2331720" cy="276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</a:rPr>
              <a:t>Plan SQA, umbrales de calidad y trazabilidad (RTM). Testing automatizado: caja negra y caja blanca. Diseño de casos de prueba. Métricas finales: cobertura, complejidad y mantenibilidad.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337560" y="1828800"/>
            <a:ext cx="2697480" cy="3291840"/>
          </a:xfrm>
          <a:prstGeom prst="roundRect">
            <a:avLst>
              <a:gd fmla="val 2712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337560" y="1828800"/>
            <a:ext cx="64008" cy="329184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538728" y="199339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Martín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538728" y="2340864"/>
            <a:ext cx="2331720" cy="276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</a:rPr>
              <a:t>Arquitectura en capas y stack. Ejemplos de pruebas e integración continua (CI). TDD: ciclo Red-Green-Refactor. Gestión de defectos y cierre del Hito 5 con los defectos corregidos.</a:t>
            </a:r>
            <a:endParaRPr sz="1100">
              <a:solidFill>
                <a:srgbClr val="9AA0A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</a:rPr>
              <a:t>Implementación</a:t>
            </a:r>
            <a:r>
              <a:rPr lang="en-US" sz="1100">
                <a:solidFill>
                  <a:srgbClr val="9AA0AE"/>
                </a:solidFill>
              </a:rPr>
              <a:t> de pruebas de caja blanca y caja negra</a:t>
            </a:r>
            <a:endParaRPr sz="1100">
              <a:solidFill>
                <a:srgbClr val="9AA0AE"/>
              </a:solidFill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72200" y="1828800"/>
            <a:ext cx="2697480" cy="3291840"/>
          </a:xfrm>
          <a:prstGeom prst="roundRect">
            <a:avLst>
              <a:gd fmla="val 2712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172200" y="1828800"/>
            <a:ext cx="64008" cy="329184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373368" y="199339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Fabricio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373368" y="2340864"/>
            <a:ext cx="2331720" cy="276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</a:rPr>
              <a:t>Análisis de riesgos (FMEA) y usabilidad: heurísticas de Nielsen + wireframes en Figma.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9006840" y="1828800"/>
            <a:ext cx="2697480" cy="3291840"/>
          </a:xfrm>
          <a:prstGeom prst="roundRect">
            <a:avLst>
              <a:gd fmla="val 2712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006840" y="1828800"/>
            <a:ext cx="64008" cy="329184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208008" y="1993392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Ernesto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208008" y="2340864"/>
            <a:ext cx="2331720" cy="276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</a:rPr>
              <a:t>El producto: qué resuelve Power Strike y sus módulos. Máquina de estados de la asistencia.</a:t>
            </a:r>
            <a:endParaRPr sz="1100">
              <a:solidFill>
                <a:srgbClr val="9AA0A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9AA0A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9AA0AE"/>
              </a:solidFill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02920" y="64008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</a:t>
            </a:r>
            <a:r>
              <a:rPr lang="en-US" sz="1100">
                <a:solidFill>
                  <a:srgbClr val="9AA0AE"/>
                </a:solidFill>
              </a:rPr>
              <a:t> Ernesto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03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EL PRODUCTO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Qué resuelve Power Strike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02920" y="16916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Administrar usuarios, actividades y asistencias de un gimnasio, con autenticación por roles y una API REST consumida por una SPA.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02920" y="2468880"/>
            <a:ext cx="2743200" cy="2377440"/>
          </a:xfrm>
          <a:prstGeom prst="roundRect">
            <a:avLst>
              <a:gd fmla="val 307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02920" y="2468880"/>
            <a:ext cx="64008" cy="237744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04088" y="263347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Usuarios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04088" y="2980944"/>
            <a:ext cx="237744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Alta con nombre, email y DNI validados. Roles ADMIN / TRAINER / CLIENT.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429000" y="2468880"/>
            <a:ext cx="2743200" cy="2377440"/>
          </a:xfrm>
          <a:prstGeom prst="roundRect">
            <a:avLst>
              <a:gd fmla="val 307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429000" y="2468880"/>
            <a:ext cx="64008" cy="237744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30168" y="263347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Actividades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30168" y="2980944"/>
            <a:ext cx="237744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Crear, editar y consultar: nombre, día, horario y costo mensual.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355080" y="2468880"/>
            <a:ext cx="2743200" cy="2377440"/>
          </a:xfrm>
          <a:prstGeom prst="roundRect">
            <a:avLst>
              <a:gd fmla="val 307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355080" y="2468880"/>
            <a:ext cx="64008" cy="23774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56248" y="263347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Asistencias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56248" y="2980944"/>
            <a:ext cx="237744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Registro e historial de asistencia por usuario.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281160" y="2468880"/>
            <a:ext cx="2423160" cy="2377440"/>
          </a:xfrm>
          <a:prstGeom prst="roundRect">
            <a:avLst>
              <a:gd fmla="val 307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281160" y="2468880"/>
            <a:ext cx="64008" cy="237744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482328" y="2633472"/>
            <a:ext cx="2057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Seguridad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482328" y="2980944"/>
            <a:ext cx="2057400" cy="184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Login con JWT y autorización por rol en los endpoints.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</a:t>
            </a:r>
            <a:r>
              <a:rPr lang="en-US" sz="1100">
                <a:solidFill>
                  <a:srgbClr val="9AA0AE"/>
                </a:solidFill>
              </a:rPr>
              <a:t> Ernesto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04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ARQUITECTURA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Capas y stack tecnológico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02920" y="2194560"/>
            <a:ext cx="2331720" cy="2194560"/>
          </a:xfrm>
          <a:prstGeom prst="roundRect">
            <a:avLst>
              <a:gd fmla="val 3333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02920" y="2194560"/>
            <a:ext cx="64008" cy="219456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04088" y="235915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Vue 3 SPA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04088" y="2706624"/>
            <a:ext cx="196596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Pinia · Router · Vite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2788920" y="28346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200400" y="2194560"/>
            <a:ext cx="2331720" cy="2194560"/>
          </a:xfrm>
          <a:prstGeom prst="roundRect">
            <a:avLst>
              <a:gd fmla="val 3333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200400" y="2194560"/>
            <a:ext cx="64008" cy="219456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401568" y="235915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API REST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401568" y="2706624"/>
            <a:ext cx="196596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Spring Boot 3.2 · JWT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486400" y="28346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897880" y="2194560"/>
            <a:ext cx="2331720" cy="2194560"/>
          </a:xfrm>
          <a:prstGeom prst="roundRect">
            <a:avLst>
              <a:gd fmla="val 3333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897880" y="2194560"/>
            <a:ext cx="64008" cy="21945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099048" y="235915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Servicios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099048" y="2706624"/>
            <a:ext cx="196596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Lógica de negocio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183880" y="28346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595360" y="2194560"/>
            <a:ext cx="2331720" cy="2194560"/>
          </a:xfrm>
          <a:prstGeom prst="roundRect">
            <a:avLst>
              <a:gd fmla="val 3333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8595360" y="2194560"/>
            <a:ext cx="64008" cy="219456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8796528" y="2359152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Datos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796528" y="2706624"/>
            <a:ext cx="196596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Spring Data · PostgreSQL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Arquitectura en capas (controller → service → repository): cada capa se testea de forma aislada.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Martín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05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PROCESO DE CALIDAD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Plan SQA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93720" y="2400300"/>
            <a:ext cx="3612000" cy="3200400"/>
          </a:xfrm>
          <a:prstGeom prst="roundRect">
            <a:avLst>
              <a:gd fmla="val 2286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97795" y="2400300"/>
            <a:ext cx="63900" cy="32004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94888" y="2564892"/>
            <a:ext cx="324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Qué controlamos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94888" y="2912364"/>
            <a:ext cx="32460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Trazabilidad requerimiento→código→test, cobertura, complejidad y mantenibilidad, y gestión de defectos como Issues.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288480" y="2400300"/>
            <a:ext cx="3612000" cy="3200400"/>
          </a:xfrm>
          <a:prstGeom prst="roundRect">
            <a:avLst>
              <a:gd fmla="val 2286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288480" y="2400300"/>
            <a:ext cx="63900" cy="320040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489648" y="2564892"/>
            <a:ext cx="324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Cómo medimos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489648" y="2912364"/>
            <a:ext cx="32460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En cada push: tests + cobertura + linters (CI). Por hito: revisión de métricas y actualización del plan.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083240" y="2400300"/>
            <a:ext cx="3612000" cy="3200400"/>
          </a:xfrm>
          <a:prstGeom prst="roundRect">
            <a:avLst>
              <a:gd fmla="val 2286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083240" y="2400300"/>
            <a:ext cx="63900" cy="32004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284408" y="2564892"/>
            <a:ext cx="324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Umbrales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284408" y="2912364"/>
            <a:ext cx="32460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Cobertura ≥ 60% en módulos nuevos · CC ≤ 10 · 100% tests en verde · 0 críticos abiertos al mergear.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Mateo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02920" y="1498365"/>
            <a:ext cx="1097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9AA0AE"/>
                </a:solidFill>
              </a:rPr>
              <a:t>Calidad guiada por el modelo ISO/IEC 25010.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06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TRAZABILIDAD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RTM · Requerimientos funcionales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Mateo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876" y="1647575"/>
            <a:ext cx="9428899" cy="47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07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TRAZABILIDAD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RTM · No funcionales y seguridad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02920" y="1828800"/>
            <a:ext cx="3611880" cy="3108960"/>
          </a:xfrm>
          <a:prstGeom prst="roundRect">
            <a:avLst>
              <a:gd fmla="val 2353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2920" y="1828800"/>
            <a:ext cx="64008" cy="310896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04088" y="199339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REQ-NF01 · JWT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04088" y="2340864"/>
            <a:ext cx="3246120" cy="2578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Autenticación con token. AuthController + JwtUtil + filtro. Test de login.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297680" y="1828800"/>
            <a:ext cx="3611880" cy="3108960"/>
          </a:xfrm>
          <a:prstGeom prst="roundRect">
            <a:avLst>
              <a:gd fmla="val 2353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297680" y="1828800"/>
            <a:ext cx="64008" cy="310896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498848" y="199339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REQ-NF02 · Roles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498848" y="2340864"/>
            <a:ext cx="3246120" cy="2578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</a:rPr>
              <a:t>Autorización por rol con @PreAuthorize. CLIENT→403, ADMIN→200. Verificado por test de seguridad.  DEF-EXP-04 corregido (Hito 5).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092440" y="1828800"/>
            <a:ext cx="3611880" cy="3108960"/>
          </a:xfrm>
          <a:prstGeom prst="roundRect">
            <a:avLst>
              <a:gd fmla="val 2353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092440" y="1828800"/>
            <a:ext cx="64008" cy="310896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293608" y="199339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REQ-NF03 · Errores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293608" y="2340864"/>
            <a:ext cx="3246120" cy="2578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GlobalExceptionHandler: 400 / 409 / 404 / 403 coherentes. Cubierto por tests EX.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3DD68C"/>
                </a:solidFill>
                <a:latin typeface="Arial"/>
                <a:ea typeface="Arial"/>
                <a:cs typeface="Arial"/>
                <a:sym typeface="Arial"/>
              </a:rPr>
              <a:t>El control de roles (DEF-EXP-04) era el hueco crítico del Hito 4: se cerró en el Hito 5.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Mateo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08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ASEGURAMIENTO DE CALIDAD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Testing automatizado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02920" y="1920240"/>
            <a:ext cx="539496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02920" y="1920240"/>
            <a:ext cx="64008" cy="265176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704088" y="2084832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56 · caja negra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04088" y="27432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Controllers vía MockMvc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04088" y="3090672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Validaciones y errores probados por HTTP, sin levantar la base. Verifican la especificación.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126480" y="1920240"/>
            <a:ext cx="557784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126480" y="1920240"/>
            <a:ext cx="64008" cy="265176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327648" y="2084832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22 · caja blanca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327648" y="27432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Services con Mockito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327648" y="3090672"/>
            <a:ext cx="5212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Lógica de negocio con dobles de prueba. Cubren ramas y casos límite.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Técnicas: partición de equivalencia · valores límite · tabla de decisión · máquina de estados.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Mateo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c29c57420_0_2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ec29c57420_0_2"/>
          <p:cNvSpPr/>
          <p:nvPr/>
        </p:nvSpPr>
        <p:spPr>
          <a:xfrm>
            <a:off x="10698480" y="640080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08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c29c57420_0_2"/>
          <p:cNvSpPr/>
          <p:nvPr/>
        </p:nvSpPr>
        <p:spPr>
          <a:xfrm>
            <a:off x="502920" y="41148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ASEGURAMIENTO DE CALIDAD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ec29c57420_0_2"/>
          <p:cNvSpPr/>
          <p:nvPr/>
        </p:nvSpPr>
        <p:spPr>
          <a:xfrm>
            <a:off x="502925" y="777249"/>
            <a:ext cx="109728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Ejemplos de pruebas 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c29c57420_0_2"/>
          <p:cNvSpPr/>
          <p:nvPr/>
        </p:nvSpPr>
        <p:spPr>
          <a:xfrm>
            <a:off x="565450" y="1322500"/>
            <a:ext cx="6766200" cy="194130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ec29c57420_0_2"/>
          <p:cNvSpPr/>
          <p:nvPr/>
        </p:nvSpPr>
        <p:spPr>
          <a:xfrm>
            <a:off x="565450" y="1322500"/>
            <a:ext cx="63900" cy="19413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c29c57420_0_2"/>
          <p:cNvSpPr/>
          <p:nvPr/>
        </p:nvSpPr>
        <p:spPr>
          <a:xfrm>
            <a:off x="766625" y="1487075"/>
            <a:ext cx="676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Prueba de caja negra (CP03)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ec29c57420_0_2"/>
          <p:cNvSpPr/>
          <p:nvPr/>
        </p:nvSpPr>
        <p:spPr>
          <a:xfrm>
            <a:off x="565450" y="3352750"/>
            <a:ext cx="11275500" cy="292560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ec29c57420_0_2"/>
          <p:cNvSpPr/>
          <p:nvPr/>
        </p:nvSpPr>
        <p:spPr>
          <a:xfrm>
            <a:off x="565450" y="3352750"/>
            <a:ext cx="129300" cy="292560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ec29c57420_0_2"/>
          <p:cNvSpPr/>
          <p:nvPr/>
        </p:nvSpPr>
        <p:spPr>
          <a:xfrm>
            <a:off x="748300" y="3352763"/>
            <a:ext cx="48807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caja blanca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c29c57420_0_2"/>
          <p:cNvSpPr/>
          <p:nvPr/>
        </p:nvSpPr>
        <p:spPr>
          <a:xfrm>
            <a:off x="502920" y="64008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</a:t>
            </a:r>
            <a:r>
              <a:rPr lang="en-US" sz="1100">
                <a:solidFill>
                  <a:srgbClr val="9AA0AE"/>
                </a:solidFill>
              </a:rPr>
              <a:t> </a:t>
            </a: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Marti</a:t>
            </a:r>
            <a:r>
              <a:rPr lang="en-US" sz="1100">
                <a:solidFill>
                  <a:srgbClr val="9AA0AE"/>
                </a:solidFill>
              </a:rPr>
              <a:t>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g3ec29c5742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545" y="2183715"/>
            <a:ext cx="5986330" cy="968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ec29c57420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3451" y="3898051"/>
            <a:ext cx="9977675" cy="229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09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METODOLOGÍA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TDD · ciclo Red-Green-Refactor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02920" y="2011680"/>
            <a:ext cx="3611880" cy="2743200"/>
          </a:xfrm>
          <a:prstGeom prst="roundRect">
            <a:avLst>
              <a:gd fmla="val 266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502920" y="2011680"/>
            <a:ext cx="64008" cy="27432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704088" y="217627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1 · RED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04088" y="2523744"/>
            <a:ext cx="3246120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Escribimos primero el test del caso de uso. Falla, porque la funcionalidad o la validación todavía no existe.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297680" y="2011680"/>
            <a:ext cx="3611880" cy="2743200"/>
          </a:xfrm>
          <a:prstGeom prst="roundRect">
            <a:avLst>
              <a:gd fmla="val 266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297680" y="2011680"/>
            <a:ext cx="64008" cy="27432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498848" y="217627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2 · GREEN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498848" y="2523744"/>
            <a:ext cx="3246120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Implementamos lo mínimo para que el test pase. La barra se pone verde.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8092440" y="2011680"/>
            <a:ext cx="3611880" cy="2743200"/>
          </a:xfrm>
          <a:prstGeom prst="roundRect">
            <a:avLst>
              <a:gd fmla="val 266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092440" y="2011680"/>
            <a:ext cx="64008" cy="274320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293608" y="217627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3 · REFACTOR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293608" y="2523744"/>
            <a:ext cx="3246120" cy="2212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Limpiamos el código con la red de seguridad de los tests ya en verde.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El ciclo queda visible en el historial de commits: primero el test que falla, después el fix.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M</a:t>
            </a:r>
            <a:r>
              <a:rPr lang="en-US" sz="1100">
                <a:solidFill>
                  <a:srgbClr val="9AA0AE"/>
                </a:solidFill>
              </a:rPr>
              <a:t>artin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10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DISEÑO DE PRUEBAS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Máquina de estados · Asistencia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822960" y="2468880"/>
            <a:ext cx="3108960" cy="1188720"/>
          </a:xfrm>
          <a:prstGeom prst="roundRect">
            <a:avLst>
              <a:gd fmla="val 7692" name="adj"/>
            </a:avLst>
          </a:prstGeom>
          <a:solidFill>
            <a:srgbClr val="1E2230"/>
          </a:solidFill>
          <a:ln cap="flat" cmpd="sng" w="25400">
            <a:solidFill>
              <a:srgbClr val="9AA0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822960" y="24688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9AA0AE"/>
                </a:solidFill>
                <a:latin typeface="Arial Black"/>
                <a:ea typeface="Arial Black"/>
                <a:cs typeface="Arial Black"/>
                <a:sym typeface="Arial Black"/>
              </a:rPr>
              <a:t>SIN REGISTRO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3977640" y="27432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4663440" y="2468880"/>
            <a:ext cx="3108960" cy="1188720"/>
          </a:xfrm>
          <a:prstGeom prst="roundRect">
            <a:avLst>
              <a:gd fmla="val 7692" name="adj"/>
            </a:avLst>
          </a:prstGeom>
          <a:solidFill>
            <a:srgbClr val="1E2230"/>
          </a:solidFill>
          <a:ln cap="flat" cmpd="sng" w="25400">
            <a:solidFill>
              <a:srgbClr val="3DD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663440" y="24688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REGISTRADA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818120" y="27432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2800"/>
              <a:buFont typeface="Arial Black"/>
              <a:buNone/>
            </a:pPr>
            <a:r>
              <a:rPr b="1" lang="en-US" sz="28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503920" y="2468880"/>
            <a:ext cx="3108960" cy="1188720"/>
          </a:xfrm>
          <a:prstGeom prst="roundRect">
            <a:avLst>
              <a:gd fmla="val 7692" name="adj"/>
            </a:avLst>
          </a:prstGeom>
          <a:solidFill>
            <a:srgbClr val="1E2230"/>
          </a:solidFill>
          <a:ln cap="flat" cmpd="sng" w="25400">
            <a:solidFill>
              <a:srgbClr val="FF4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8503920" y="24688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DUPLICADA → 409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Modelamos la asistencia como estados y derivamos casos: primer registro OK, segundo registro del día → 409.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Ernesto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11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AUTOMATIZACIÓN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Integración continua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02920" y="1920240"/>
            <a:ext cx="3611880" cy="2926080"/>
          </a:xfrm>
          <a:prstGeom prst="roundRect">
            <a:avLst>
              <a:gd fmla="val 2500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502920" y="1920240"/>
            <a:ext cx="64008" cy="292608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04088" y="208483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En cada push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04088" y="2432304"/>
            <a:ext cx="3246120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GitHub Actions compila, corre los 78 tests y genera el reporte de cobertura JaCoCo.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297680" y="1920240"/>
            <a:ext cx="3611880" cy="2926080"/>
          </a:xfrm>
          <a:prstGeom prst="roundRect">
            <a:avLst>
              <a:gd fmla="val 2500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297680" y="1920240"/>
            <a:ext cx="64008" cy="292608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498848" y="208483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Feedback inmediato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498848" y="2432304"/>
            <a:ext cx="3246120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Si un test falla, el pipeline avisa antes de mergear. La rama main siempre queda verde.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8092440" y="1920240"/>
            <a:ext cx="3611880" cy="2926080"/>
          </a:xfrm>
          <a:prstGeom prst="roundRect">
            <a:avLst>
              <a:gd fmla="val 2500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092440" y="1920240"/>
            <a:ext cx="64008" cy="292608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8293608" y="208483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Análisis estático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8293608" y="2432304"/>
            <a:ext cx="3246120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Checkstyle y PMD sobre el código Java; ESLint en el frontend.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La calidad deja de depender de la disciplina individual: la verifica la máquina en cada cambio.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Martín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12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MÉTRICAS FINALES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Tamaño y complejidad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02920" y="1920240"/>
            <a:ext cx="36118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502920" y="1920240"/>
            <a:ext cx="64008" cy="265176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704088" y="20848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1.585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704088" y="27432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líneas de producción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704088" y="3090672"/>
            <a:ext cx="3246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Backend 704 + Frontend 881. Tests: 839 (razón 0,53).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297680" y="1920240"/>
            <a:ext cx="36118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297680" y="1920240"/>
            <a:ext cx="64008" cy="265176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498848" y="20848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CC ≤ 10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498848" y="27432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complejidad ciclomática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4498848" y="3090672"/>
            <a:ext cx="3246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 violaciones en PMD. Método más complejo: CC = 3.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8092440" y="1920240"/>
            <a:ext cx="36118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8092440" y="1920240"/>
            <a:ext cx="64008" cy="2651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8293608" y="20848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MI ≈ 85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8293608" y="27432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mantenibilidad (MI)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8293608" y="3090672"/>
            <a:ext cx="3246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Escala SEI: ≥ 85 es alta mantenibilidad.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Mateo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13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MÉTRICAS FINALES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Cobertura y resultado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02920" y="1920240"/>
            <a:ext cx="36118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02920" y="1920240"/>
            <a:ext cx="64008" cy="265176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704088" y="20848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100%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704088" y="27432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cobertura en controller, service y model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704088" y="3090672"/>
            <a:ext cx="3246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Supera el umbral de 60% del Plan SQA.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297680" y="1920240"/>
            <a:ext cx="36118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4297680" y="1920240"/>
            <a:ext cx="64008" cy="265176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4498848" y="20848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53%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498848" y="27432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cobertura global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498848" y="3090672"/>
            <a:ext cx="3246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El resto es security/ y arranque, fuera del testing funcional.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8092440" y="1920240"/>
            <a:ext cx="36118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8092440" y="1920240"/>
            <a:ext cx="64008" cy="265176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8293608" y="20848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78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8293608" y="27432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tests · todos en verde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8293608" y="3090672"/>
            <a:ext cx="32461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0 fallos, 0 errores en la suite completa.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Evolución: 21 tests (H3) → 72 (H4) → 78 (H5). Cobertura de módulos principales: parcial → 100%.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Mateo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14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GESTIÓN DE DEFECTOS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12 detectados · 9 cerrados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502920" y="1920240"/>
            <a:ext cx="26974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502920" y="1920240"/>
            <a:ext cx="64008" cy="265176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704088" y="208483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704088" y="27432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documentados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704088" y="3090672"/>
            <a:ext cx="2331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TDD y análisis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3337560" y="1920240"/>
            <a:ext cx="26974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3337560" y="1920240"/>
            <a:ext cx="64008" cy="265176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3538728" y="208483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3538728" y="27432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exploratorios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3538728" y="3090672"/>
            <a:ext cx="2331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sesiones manuales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6172200" y="1920240"/>
            <a:ext cx="26974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6172200" y="1920240"/>
            <a:ext cx="64008" cy="265176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6373368" y="208483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6373368" y="27432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corregidos / cerrados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6373368" y="3090672"/>
            <a:ext cx="2331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incl. el crítico de roles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9006840" y="1920240"/>
            <a:ext cx="2697480" cy="2651760"/>
          </a:xfrm>
          <a:prstGeom prst="roundRect">
            <a:avLst>
              <a:gd fmla="val 2759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9006840" y="1920240"/>
            <a:ext cx="64008" cy="265176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9208008" y="208483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9208008" y="27432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abiertos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9208008" y="3090672"/>
            <a:ext cx="2331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próximos avances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Severidad (QA) y Prioridad (PO) separadas · todos cargados como Issues en GitHub.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Martin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15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CIERRE DEL HITO 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Defectos corregidos con TDD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02920" y="1828800"/>
            <a:ext cx="11201400" cy="749808"/>
          </a:xfrm>
          <a:prstGeom prst="roundRect">
            <a:avLst>
              <a:gd fmla="val 731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685800" y="182880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DEF-EXP-04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2606040" y="1828800"/>
            <a:ext cx="5212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Sin control de roles (CLIENT accedía a todo)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7955280" y="182880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→ 403 con @PreAuthorize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502920" y="2697480"/>
            <a:ext cx="11201400" cy="749808"/>
          </a:xfrm>
          <a:prstGeom prst="roundRect">
            <a:avLst>
              <a:gd fmla="val 731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685800" y="269748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DEF-EXP-02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2606040" y="2697480"/>
            <a:ext cx="5212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Asistencias duplicadas el mismo día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7955280" y="269748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→ 409 Conflict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502920" y="3566160"/>
            <a:ext cx="11201400" cy="749808"/>
          </a:xfrm>
          <a:prstGeom prst="roundRect">
            <a:avLst>
              <a:gd fmla="val 731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685800" y="356616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DEF-EXP-03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2606040" y="3566160"/>
            <a:ext cx="5212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No se podía editar usuario sin cambiar pass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7955280" y="356616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→ 200 (grupo OnCreate)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502920" y="4434840"/>
            <a:ext cx="11201400" cy="749808"/>
          </a:xfrm>
          <a:prstGeom prst="roundRect">
            <a:avLst>
              <a:gd fmla="val 731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685800" y="443484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DEF-EXP-01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2606040" y="4434840"/>
            <a:ext cx="5212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userId inexistente devolvía 500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7955280" y="443484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→ 404 NotFound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502920" y="5303520"/>
            <a:ext cx="11201400" cy="749808"/>
          </a:xfrm>
          <a:prstGeom prst="roundRect">
            <a:avLst>
              <a:gd fmla="val 731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85800" y="530352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DEF-EXP-06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2606040" y="5303520"/>
            <a:ext cx="5212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Día de actividad sin validar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7955280" y="5303520"/>
            <a:ext cx="3657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→ 400 con @Pattern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Martin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16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ANÁLISIS DE RIESGOS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FMEA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502925" y="1920245"/>
            <a:ext cx="3612000" cy="1427100"/>
          </a:xfrm>
          <a:prstGeom prst="roundRect">
            <a:avLst>
              <a:gd fmla="val 2424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502925" y="1920245"/>
            <a:ext cx="63900" cy="14271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704093" y="1998087"/>
            <a:ext cx="3246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Modos de falla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704093" y="2162419"/>
            <a:ext cx="32460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Identificamos qué puede fallar en el registro de usuarios y su efecto en el sistema.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4297687" y="1920245"/>
            <a:ext cx="3612000" cy="1427100"/>
          </a:xfrm>
          <a:prstGeom prst="roundRect">
            <a:avLst>
              <a:gd fmla="val 2424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4297687" y="1920245"/>
            <a:ext cx="63900" cy="14271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4498855" y="1998087"/>
            <a:ext cx="3246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NPR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4498855" y="2162419"/>
            <a:ext cx="32460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Priorizamos por Número de Prioridad de Riesgo = gravedad × ocurrencia × detección.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8092448" y="1920245"/>
            <a:ext cx="3612000" cy="1427100"/>
          </a:xfrm>
          <a:prstGeom prst="roundRect">
            <a:avLst>
              <a:gd fmla="val 2424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8092448" y="1920245"/>
            <a:ext cx="63900" cy="14271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8293616" y="1998087"/>
            <a:ext cx="3246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Mitigaciones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8293616" y="2162419"/>
            <a:ext cx="32460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Los riesgos altos se tradujeron en validaciones y tests concretos del backend.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Fabricio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327" y="4242314"/>
            <a:ext cx="8281600" cy="176377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6"/>
          <p:cNvSpPr/>
          <p:nvPr/>
        </p:nvSpPr>
        <p:spPr>
          <a:xfrm>
            <a:off x="704095" y="366741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9AA0AE"/>
                </a:solidFill>
              </a:rPr>
              <a:t>Modo de fallo mas critico como ejemplo: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c3778e6fb_0_5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ec3778e6fb_0_5"/>
          <p:cNvSpPr/>
          <p:nvPr/>
        </p:nvSpPr>
        <p:spPr>
          <a:xfrm>
            <a:off x="10698480" y="640080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16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g3ec3778e6fb_0_5"/>
          <p:cNvSpPr/>
          <p:nvPr/>
        </p:nvSpPr>
        <p:spPr>
          <a:xfrm>
            <a:off x="502920" y="41148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ANÁLISIS DE RIESGOS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ec3778e6fb_0_5"/>
          <p:cNvSpPr/>
          <p:nvPr/>
        </p:nvSpPr>
        <p:spPr>
          <a:xfrm>
            <a:off x="502920" y="777240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FMEA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ec3778e6fb_0_5"/>
          <p:cNvSpPr/>
          <p:nvPr/>
        </p:nvSpPr>
        <p:spPr>
          <a:xfrm>
            <a:off x="502920" y="64008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Fabricio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ec3778e6fb_0_5"/>
          <p:cNvSpPr/>
          <p:nvPr/>
        </p:nvSpPr>
        <p:spPr>
          <a:xfrm>
            <a:off x="1003024" y="2030523"/>
            <a:ext cx="9972600" cy="3939900"/>
          </a:xfrm>
          <a:prstGeom prst="roundRect">
            <a:avLst>
              <a:gd fmla="val 2424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126175" lIns="252425" spcFirstLastPara="1" rIns="252425" wrap="square" tIns="126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ec3778e6fb_0_5"/>
          <p:cNvSpPr/>
          <p:nvPr/>
        </p:nvSpPr>
        <p:spPr>
          <a:xfrm>
            <a:off x="1003024" y="2030523"/>
            <a:ext cx="176400" cy="39399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126175" lIns="252425" spcFirstLastPara="1" rIns="252425" wrap="square" tIns="126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ec3778e6fb_0_5"/>
          <p:cNvSpPr/>
          <p:nvPr/>
        </p:nvSpPr>
        <p:spPr>
          <a:xfrm>
            <a:off x="1373871" y="2174009"/>
            <a:ext cx="59841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4250" lIns="168550" spcFirstLastPara="1" rIns="168550" wrap="square" tIns="84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581"/>
              <a:buFont typeface="Arial Black"/>
              <a:buNone/>
            </a:pPr>
            <a:r>
              <a:rPr b="1" lang="en-US" sz="2581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Mitigación</a:t>
            </a:r>
            <a:r>
              <a:rPr b="1" lang="en-US" sz="2581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 Propuesta</a:t>
            </a:r>
            <a:endParaRPr sz="258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ec3778e6fb_0_5"/>
          <p:cNvSpPr/>
          <p:nvPr/>
        </p:nvSpPr>
        <p:spPr>
          <a:xfrm>
            <a:off x="1625225" y="2264675"/>
            <a:ext cx="8814000" cy="3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84250" lIns="168550" spcFirstLastPara="1" rIns="168550" wrap="square" tIns="84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8"/>
              <a:buFont typeface="Arial"/>
              <a:buNone/>
            </a:pPr>
            <a:r>
              <a:t/>
            </a:r>
            <a:endParaRPr sz="2028">
              <a:solidFill>
                <a:srgbClr val="D9D9D9"/>
              </a:solidFill>
            </a:endParaRPr>
          </a:p>
          <a:p>
            <a:pPr indent="-550189" lvl="0" marL="842843" rtl="0" algn="l">
              <a:lnSpc>
                <a:spcPct val="115000"/>
              </a:lnSpc>
              <a:spcBef>
                <a:spcPts val="2212"/>
              </a:spcBef>
              <a:spcAft>
                <a:spcPts val="0"/>
              </a:spcAft>
              <a:buClr>
                <a:srgbClr val="D9D9D9"/>
              </a:buClr>
              <a:buSzPts val="2028"/>
              <a:buChar char="●"/>
            </a:pPr>
            <a:r>
              <a:rPr b="1" lang="en-US" sz="2028">
                <a:solidFill>
                  <a:srgbClr val="D9D9D9"/>
                </a:solidFill>
              </a:rPr>
              <a:t>Modo de fallo</a:t>
            </a:r>
            <a:r>
              <a:rPr lang="en-US" sz="2028">
                <a:solidFill>
                  <a:srgbClr val="D9D9D9"/>
                </a:solidFill>
              </a:rPr>
              <a:t>: Falla de base de datos durante el guardado 	(RPN 320).</a:t>
            </a:r>
            <a:endParaRPr sz="2028">
              <a:solidFill>
                <a:srgbClr val="D9D9D9"/>
              </a:solidFill>
            </a:endParaRPr>
          </a:p>
          <a:p>
            <a:pPr indent="-550189" lvl="0" marL="84284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028"/>
              <a:buChar char="●"/>
            </a:pPr>
            <a:r>
              <a:rPr b="1" lang="en-US" sz="2028">
                <a:solidFill>
                  <a:srgbClr val="D9D9D9"/>
                </a:solidFill>
              </a:rPr>
              <a:t>Estrategia</a:t>
            </a:r>
            <a:r>
              <a:rPr lang="en-US" sz="2028">
                <a:solidFill>
                  <a:srgbClr val="D9D9D9"/>
                </a:solidFill>
              </a:rPr>
              <a:t>: Detección + Recuperación.</a:t>
            </a:r>
            <a:endParaRPr sz="2028">
              <a:solidFill>
                <a:srgbClr val="D9D9D9"/>
              </a:solidFill>
            </a:endParaRPr>
          </a:p>
          <a:p>
            <a:pPr indent="-550189" lvl="0" marL="84284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028"/>
              <a:buChar char="●"/>
            </a:pPr>
            <a:r>
              <a:rPr b="1" lang="en-US" sz="2028">
                <a:solidFill>
                  <a:srgbClr val="D9D9D9"/>
                </a:solidFill>
              </a:rPr>
              <a:t>Implementación concreta</a:t>
            </a:r>
            <a:r>
              <a:rPr lang="en-US" sz="2028">
                <a:solidFill>
                  <a:srgbClr val="D9D9D9"/>
                </a:solidFill>
              </a:rPr>
              <a:t>: Registrar errores mediante logs y 	devolver un mensaje controlado al usuario. Implementar reintentos 	automáticos de conexión y monitoreo de disponibilidad de la base 	de datos para detectar fallas tempranamente.</a:t>
            </a:r>
            <a:endParaRPr sz="2028">
              <a:solidFill>
                <a:srgbClr val="D9D9D9"/>
              </a:solidFill>
            </a:endParaRPr>
          </a:p>
          <a:p>
            <a:pPr indent="0" lvl="0" marL="0" marR="0" rtl="0" algn="l">
              <a:spcBef>
                <a:spcPts val="2212"/>
              </a:spcBef>
              <a:spcAft>
                <a:spcPts val="0"/>
              </a:spcAft>
              <a:buClr>
                <a:srgbClr val="9AA0AE"/>
              </a:buClr>
              <a:buSzPts val="2028"/>
              <a:buFont typeface="Arial"/>
              <a:buNone/>
            </a:pPr>
            <a:r>
              <a:t/>
            </a:r>
            <a:endParaRPr sz="2028">
              <a:solidFill>
                <a:srgbClr val="9AA0AE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17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USABILIDAD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Análisis heurístico · 10 de Nielsen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502920" y="17373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Evaluamos las 5 pantallas con las 10 heurísticas de Nielsen. Hallazgos por severidad: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502920" y="2377440"/>
            <a:ext cx="3611880" cy="2377440"/>
          </a:xfrm>
          <a:prstGeom prst="roundRect">
            <a:avLst>
              <a:gd fmla="val 307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502920" y="2377440"/>
            <a:ext cx="64008" cy="237744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704088" y="25420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704088" y="32004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mayores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7"/>
          <p:cNvSpPr/>
          <p:nvPr/>
        </p:nvSpPr>
        <p:spPr>
          <a:xfrm>
            <a:off x="704088" y="3547872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confirmar al borrar · mensaje al borrar con asistencias · buscar usuario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4297680" y="2377440"/>
            <a:ext cx="3611880" cy="2377440"/>
          </a:xfrm>
          <a:prstGeom prst="roundRect">
            <a:avLst>
              <a:gd fmla="val 307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4297680" y="2377440"/>
            <a:ext cx="64008" cy="237744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4498848" y="25420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4498848" y="32004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menores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4498848" y="3547872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loading · validación front · filtros/paginación · ayuda contextual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8092440" y="2377440"/>
            <a:ext cx="3611880" cy="2377440"/>
          </a:xfrm>
          <a:prstGeom prst="roundRect">
            <a:avLst>
              <a:gd fmla="val 3077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8092440" y="2377440"/>
            <a:ext cx="64008" cy="237744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8293608" y="2542032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8293608" y="320040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cosméticos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8293608" y="3547872"/>
            <a:ext cx="3246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mensajes técnicos · consistencia de botones · dashboard vacío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7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Top 3 mejoras: confirmación al eliminar · mensaje correcto al borrar (FK) · selector de usuario en asistencias.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7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Fabricio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ec29c57420_0_24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ec29c57420_0_24"/>
          <p:cNvSpPr/>
          <p:nvPr/>
        </p:nvSpPr>
        <p:spPr>
          <a:xfrm>
            <a:off x="10698480" y="640080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17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ec29c57420_0_24"/>
          <p:cNvSpPr/>
          <p:nvPr/>
        </p:nvSpPr>
        <p:spPr>
          <a:xfrm>
            <a:off x="502920" y="41148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USABILIDAD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ec29c57420_0_24"/>
          <p:cNvSpPr/>
          <p:nvPr/>
        </p:nvSpPr>
        <p:spPr>
          <a:xfrm>
            <a:off x="502920" y="777240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Prototipos figma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ec29c57420_0_24"/>
          <p:cNvSpPr/>
          <p:nvPr/>
        </p:nvSpPr>
        <p:spPr>
          <a:xfrm>
            <a:off x="502920" y="1600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9AA0AE"/>
                </a:solidFill>
              </a:rPr>
              <a:t>Pantalla: dashboard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ec29c57420_0_24"/>
          <p:cNvSpPr/>
          <p:nvPr/>
        </p:nvSpPr>
        <p:spPr>
          <a:xfrm>
            <a:off x="502920" y="64008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Fabricio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5" name="Google Shape;455;g3ec29c57420_0_24"/>
          <p:cNvPicPr preferRelativeResize="0"/>
          <p:nvPr/>
        </p:nvPicPr>
        <p:blipFill rotWithShape="1">
          <a:blip r:embed="rId3">
            <a:alphaModFix/>
          </a:blip>
          <a:srcRect b="33744" l="0" r="0" t="0"/>
          <a:stretch/>
        </p:blipFill>
        <p:spPr>
          <a:xfrm>
            <a:off x="744425" y="2057348"/>
            <a:ext cx="10377249" cy="370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c29c57420_0_73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ec29c57420_0_73"/>
          <p:cNvSpPr/>
          <p:nvPr/>
        </p:nvSpPr>
        <p:spPr>
          <a:xfrm>
            <a:off x="10698480" y="640080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17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ec29c57420_0_73"/>
          <p:cNvSpPr/>
          <p:nvPr/>
        </p:nvSpPr>
        <p:spPr>
          <a:xfrm>
            <a:off x="502920" y="41148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USABILIDAD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ec29c57420_0_73"/>
          <p:cNvSpPr/>
          <p:nvPr/>
        </p:nvSpPr>
        <p:spPr>
          <a:xfrm>
            <a:off x="502920" y="777240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Prototipos figma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ec29c57420_0_73"/>
          <p:cNvSpPr/>
          <p:nvPr/>
        </p:nvSpPr>
        <p:spPr>
          <a:xfrm>
            <a:off x="502920" y="1600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9AA0AE"/>
                </a:solidFill>
              </a:rPr>
              <a:t>Pantalla: dashboard (alta fidelidad)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c29c57420_0_73"/>
          <p:cNvSpPr/>
          <p:nvPr/>
        </p:nvSpPr>
        <p:spPr>
          <a:xfrm>
            <a:off x="502920" y="64008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Fabricio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7" name="Google Shape;467;g3ec29c57420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275" y="2057360"/>
            <a:ext cx="7528189" cy="403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c29c57420_0_51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ec29c57420_0_51"/>
          <p:cNvSpPr/>
          <p:nvPr/>
        </p:nvSpPr>
        <p:spPr>
          <a:xfrm>
            <a:off x="10698480" y="640080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17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ec29c57420_0_51"/>
          <p:cNvSpPr/>
          <p:nvPr/>
        </p:nvSpPr>
        <p:spPr>
          <a:xfrm>
            <a:off x="502920" y="41148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USABILIDAD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ec29c57420_0_51"/>
          <p:cNvSpPr/>
          <p:nvPr/>
        </p:nvSpPr>
        <p:spPr>
          <a:xfrm>
            <a:off x="502920" y="777240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Prototipos figma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ec29c57420_0_51"/>
          <p:cNvSpPr/>
          <p:nvPr/>
        </p:nvSpPr>
        <p:spPr>
          <a:xfrm>
            <a:off x="502920" y="1600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9AA0AE"/>
                </a:solidFill>
              </a:rPr>
              <a:t>Pantalla:  gestión de actividades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ec29c57420_0_51"/>
          <p:cNvSpPr/>
          <p:nvPr/>
        </p:nvSpPr>
        <p:spPr>
          <a:xfrm>
            <a:off x="502920" y="64008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Fabricio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9" name="Google Shape;479;g3ec29c57420_0_51"/>
          <p:cNvPicPr preferRelativeResize="0"/>
          <p:nvPr/>
        </p:nvPicPr>
        <p:blipFill rotWithShape="1">
          <a:blip r:embed="rId3">
            <a:alphaModFix/>
          </a:blip>
          <a:srcRect b="33744" l="0" r="0" t="0"/>
          <a:stretch/>
        </p:blipFill>
        <p:spPr>
          <a:xfrm>
            <a:off x="744425" y="2057348"/>
            <a:ext cx="10377249" cy="370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c29c57420_0_62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ec29c57420_0_62"/>
          <p:cNvSpPr/>
          <p:nvPr/>
        </p:nvSpPr>
        <p:spPr>
          <a:xfrm>
            <a:off x="10698480" y="640080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17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ec29c57420_0_62"/>
          <p:cNvSpPr/>
          <p:nvPr/>
        </p:nvSpPr>
        <p:spPr>
          <a:xfrm>
            <a:off x="502920" y="41148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B3E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FF4B3E"/>
                </a:solidFill>
                <a:latin typeface="Arial Black"/>
                <a:ea typeface="Arial Black"/>
                <a:cs typeface="Arial Black"/>
                <a:sym typeface="Arial Black"/>
              </a:rPr>
              <a:t>USABILIDAD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ec29c57420_0_62"/>
          <p:cNvSpPr/>
          <p:nvPr/>
        </p:nvSpPr>
        <p:spPr>
          <a:xfrm>
            <a:off x="502920" y="777240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Prototipos figma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ec29c57420_0_62"/>
          <p:cNvSpPr/>
          <p:nvPr/>
        </p:nvSpPr>
        <p:spPr>
          <a:xfrm>
            <a:off x="502920" y="16001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9AA0AE"/>
                </a:solidFill>
              </a:rPr>
              <a:t>Pantalla: gestión de actividades (alta fidelidad)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ec29c57420_0_62"/>
          <p:cNvSpPr/>
          <p:nvPr/>
        </p:nvSpPr>
        <p:spPr>
          <a:xfrm>
            <a:off x="502920" y="64008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</a:t>
            </a:r>
            <a:r>
              <a:rPr lang="en-US" sz="1100">
                <a:solidFill>
                  <a:srgbClr val="9AA0AE"/>
                </a:solidFill>
              </a:rPr>
              <a:t>Fabricio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g3ec29c57420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425" y="2057349"/>
            <a:ext cx="8009247" cy="434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18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PRODUCTO EN VIVO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Demo y wireframes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502920" y="2011680"/>
            <a:ext cx="11201400" cy="1828800"/>
          </a:xfrm>
          <a:prstGeom prst="roundRect">
            <a:avLst>
              <a:gd fmla="val 5000" name="adj"/>
            </a:avLst>
          </a:prstGeom>
          <a:solidFill>
            <a:srgbClr val="1E2230"/>
          </a:solidFill>
          <a:ln cap="flat" cmpd="sng" w="25400">
            <a:solidFill>
              <a:srgbClr val="3DD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502920" y="2240280"/>
            <a:ext cx="11201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D68C"/>
              </a:buClr>
              <a:buSzPts val="3000"/>
              <a:buFont typeface="Arial Black"/>
              <a:buNone/>
            </a:pPr>
            <a:r>
              <a:rPr b="1" lang="en-US" sz="3000">
                <a:solidFill>
                  <a:srgbClr val="3DD68C"/>
                </a:solidFill>
                <a:latin typeface="Arial Black"/>
                <a:ea typeface="Arial Black"/>
                <a:cs typeface="Arial Black"/>
                <a:sym typeface="Arial Black"/>
              </a:rPr>
              <a:t>▶   DEMO EN VIVO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502920" y="2971800"/>
            <a:ext cx="11201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rPr>
              <a:t>Login  →  Usuarios  →  Actividades  →  Asistencias  →  intento como CLIENT (403)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Wireframes y mockups de las pantallas clave: proyecto de Figma del equipo (link).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Equipo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9B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10698480" y="64008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19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9"/>
          <p:cNvSpPr/>
          <p:nvPr/>
        </p:nvSpPr>
        <p:spPr>
          <a:xfrm>
            <a:off x="502920" y="411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9BFF"/>
              </a:buClr>
              <a:buSzPts val="1300"/>
              <a:buFont typeface="Arial Black"/>
              <a:buNone/>
            </a:pPr>
            <a:r>
              <a:rPr b="1" lang="en-US" sz="1300">
                <a:solidFill>
                  <a:srgbClr val="5B9BFF"/>
                </a:solidFill>
                <a:latin typeface="Arial Black"/>
                <a:ea typeface="Arial Black"/>
                <a:cs typeface="Arial Black"/>
                <a:sym typeface="Arial Black"/>
              </a:rPr>
              <a:t>REFLEXIÓN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3400"/>
              <a:buFont typeface="Arial Black"/>
              <a:buNone/>
            </a:pPr>
            <a:r>
              <a:rPr b="1" lang="en-US" sz="3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Qué aprendimos · qué haríamos distinto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502920" y="1920240"/>
            <a:ext cx="5486400" cy="3291840"/>
          </a:xfrm>
          <a:prstGeom prst="roundRect">
            <a:avLst>
              <a:gd fmla="val 2222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502920" y="1920240"/>
            <a:ext cx="64008" cy="32918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704088" y="208483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Aprendimos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704088" y="2432304"/>
            <a:ext cx="5120640" cy="276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Testing como parte del desarrollo (TDD) · técnicas formales de diseño de casos · métricas que importan (cobertura útil, CC, MI) · integración continua · trazabilidad.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6217920" y="1920240"/>
            <a:ext cx="5486400" cy="3291840"/>
          </a:xfrm>
          <a:prstGeom prst="roundRect">
            <a:avLst>
              <a:gd fmla="val 2222" name="adj"/>
            </a:avLst>
          </a:prstGeom>
          <a:solidFill>
            <a:srgbClr val="1E22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6217920" y="1920240"/>
            <a:ext cx="64008" cy="329184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9"/>
          <p:cNvSpPr/>
          <p:nvPr/>
        </p:nvSpPr>
        <p:spPr>
          <a:xfrm>
            <a:off x="6419088" y="208483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400"/>
              <a:buFont typeface="Arial Black"/>
              <a:buNone/>
            </a:pPr>
            <a:r>
              <a:rPr b="1" lang="en-US" sz="14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Haríamos distinto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6419088" y="2432304"/>
            <a:ext cx="5120640" cy="2761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Testear desde el día 1 · implementar RBAC más temprano · validar también en el frontend · cubrir seguridad y frontend con tests · cerrar antes los defectos abiertos.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Presenta: Equipo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61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B3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FB1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1800"/>
              <a:buFont typeface="Arial Black"/>
              <a:buNone/>
            </a:pPr>
            <a:r>
              <a:rPr b="1" lang="en-US" sz="18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CONCLUSIÓN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731520" y="182880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Arial Black"/>
              <a:buNone/>
            </a:pPr>
            <a:r>
              <a:rPr b="1" lang="en-US" sz="40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Un producto funcional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4000"/>
              <a:buFont typeface="Arial Black"/>
              <a:buNone/>
            </a:pPr>
            <a:r>
              <a:rPr b="1" lang="en-US" sz="4000">
                <a:solidFill>
                  <a:srgbClr val="F5F5F5"/>
                </a:solidFill>
                <a:latin typeface="Arial Black"/>
                <a:ea typeface="Arial Black"/>
                <a:cs typeface="Arial Black"/>
                <a:sym typeface="Arial Black"/>
              </a:rPr>
              <a:t>y un método de calidad replicable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0AE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78 tests verdes  ·  100% en módulos principales  ·  CI activo  ·  trazabilidad completa  ·  defecto crítico cerrado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731520" y="448056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100"/>
              </a:buClr>
              <a:buSzPts val="4400"/>
              <a:buFont typeface="Arial Black"/>
              <a:buNone/>
            </a:pPr>
            <a:r>
              <a:rPr b="1" lang="en-US" sz="4400">
                <a:solidFill>
                  <a:srgbClr val="FFB100"/>
                </a:solidFill>
                <a:latin typeface="Arial Black"/>
                <a:ea typeface="Arial Black"/>
                <a:cs typeface="Arial Black"/>
                <a:sym typeface="Arial Black"/>
              </a:rPr>
              <a:t>¡Gracias!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2026-06-15T17:28:48Z</dcterms:created>
  <dc:creator>PptxGenJS</dc:creator>
</cp:coreProperties>
</file>