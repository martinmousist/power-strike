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1887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HITO 5 · ENTREGA FINAL Y DEFENSA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960120" y="1691640"/>
            <a:ext cx="100584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8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POWER STRIKE</a:t>
            </a:r>
            <a:endParaRPr lang="en-US" sz="5800" dirty="0"/>
          </a:p>
        </p:txBody>
      </p:sp>
      <p:sp>
        <p:nvSpPr>
          <p:cNvPr id="6" name="Text 4"/>
          <p:cNvSpPr/>
          <p:nvPr/>
        </p:nvSpPr>
        <p:spPr>
          <a:xfrm>
            <a:off x="1005840" y="2880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Sistema de gestión de gimnasio  ·  Trabajo de Campo · Ingeniería de Software II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005840" y="51206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Grupo 2:  </a:t>
            </a:r>
            <a:pPr indent="0" marL="0">
              <a:buNone/>
            </a:pPr>
            <a:r>
              <a:rPr lang="en-US" sz="14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Mateo Brizuela · Ernesto Ponce · Martín Mousist · Fabricio Posada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005840" y="55778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B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Defensa: martes 16/06/2026 · 19:00   ·   github.com/MartinMousist/power-strike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PRODUCTO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es y cómo está construido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Power Strike administra usuarios, actividades y asistencias de un gimnasio, con autenticación y una API REST consumida por una SPA.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822960" y="2834640"/>
            <a:ext cx="2468880" cy="1554480"/>
          </a:xfrm>
          <a:prstGeom prst="roundRect">
            <a:avLst>
              <a:gd name="adj" fmla="val 4706"/>
            </a:avLst>
          </a:prstGeom>
          <a:solidFill>
            <a:srgbClr val="1E2230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834640"/>
            <a:ext cx="2468880" cy="109728"/>
          </a:xfrm>
          <a:prstGeom prst="rect">
            <a:avLst/>
          </a:prstGeom>
          <a:solidFill>
            <a:srgbClr val="5B9BFF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1089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Vue 3 SPA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05840" y="36118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Pinia · Vue Router · Vite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200400" y="33832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Shape 9"/>
          <p:cNvSpPr/>
          <p:nvPr/>
        </p:nvSpPr>
        <p:spPr>
          <a:xfrm>
            <a:off x="3429000" y="2834640"/>
            <a:ext cx="2468880" cy="1554480"/>
          </a:xfrm>
          <a:prstGeom prst="roundRect">
            <a:avLst>
              <a:gd name="adj" fmla="val 4706"/>
            </a:avLst>
          </a:prstGeom>
          <a:solidFill>
            <a:srgbClr val="1E2230"/>
          </a:solidFill>
          <a:ln/>
        </p:spPr>
      </p:sp>
      <p:sp>
        <p:nvSpPr>
          <p:cNvPr id="12" name="Shape 10"/>
          <p:cNvSpPr/>
          <p:nvPr/>
        </p:nvSpPr>
        <p:spPr>
          <a:xfrm>
            <a:off x="3429000" y="2834640"/>
            <a:ext cx="2468880" cy="109728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13" name="Text 11"/>
          <p:cNvSpPr/>
          <p:nvPr/>
        </p:nvSpPr>
        <p:spPr>
          <a:xfrm>
            <a:off x="3611880" y="31089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API REST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611880" y="36118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Boot 3.2 · JWT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806440" y="33832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6035040" y="2834640"/>
            <a:ext cx="2468880" cy="1554480"/>
          </a:xfrm>
          <a:prstGeom prst="roundRect">
            <a:avLst>
              <a:gd name="adj" fmla="val 4706"/>
            </a:avLst>
          </a:prstGeom>
          <a:solidFill>
            <a:srgbClr val="1E2230"/>
          </a:solidFill>
          <a:ln/>
        </p:spPr>
      </p:sp>
      <p:sp>
        <p:nvSpPr>
          <p:cNvPr id="17" name="Shape 15"/>
          <p:cNvSpPr/>
          <p:nvPr/>
        </p:nvSpPr>
        <p:spPr>
          <a:xfrm>
            <a:off x="6035040" y="2834640"/>
            <a:ext cx="2468880" cy="109728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8" name="Text 16"/>
          <p:cNvSpPr/>
          <p:nvPr/>
        </p:nvSpPr>
        <p:spPr>
          <a:xfrm>
            <a:off x="6217920" y="31089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Servicios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6217920" y="36118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Lógica de negocio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412480" y="3383280"/>
            <a:ext cx="228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→</a:t>
            </a:r>
            <a:endParaRPr lang="en-US" sz="2000" dirty="0"/>
          </a:p>
        </p:txBody>
      </p:sp>
      <p:sp>
        <p:nvSpPr>
          <p:cNvPr id="21" name="Shape 19"/>
          <p:cNvSpPr/>
          <p:nvPr/>
        </p:nvSpPr>
        <p:spPr>
          <a:xfrm>
            <a:off x="8641080" y="2834640"/>
            <a:ext cx="2468880" cy="1554480"/>
          </a:xfrm>
          <a:prstGeom prst="roundRect">
            <a:avLst>
              <a:gd name="adj" fmla="val 4706"/>
            </a:avLst>
          </a:prstGeom>
          <a:solidFill>
            <a:srgbClr val="1E2230"/>
          </a:solidFill>
          <a:ln/>
        </p:spPr>
      </p:sp>
      <p:sp>
        <p:nvSpPr>
          <p:cNvPr id="22" name="Shape 20"/>
          <p:cNvSpPr/>
          <p:nvPr/>
        </p:nvSpPr>
        <p:spPr>
          <a:xfrm>
            <a:off x="8641080" y="2834640"/>
            <a:ext cx="2468880" cy="109728"/>
          </a:xfrm>
          <a:prstGeom prst="rect">
            <a:avLst/>
          </a:prstGeom>
          <a:solidFill>
            <a:srgbClr val="3DD68C"/>
          </a:solidFill>
          <a:ln/>
        </p:spPr>
      </p:sp>
      <p:sp>
        <p:nvSpPr>
          <p:cNvPr id="23" name="Text 21"/>
          <p:cNvSpPr/>
          <p:nvPr/>
        </p:nvSpPr>
        <p:spPr>
          <a:xfrm>
            <a:off x="8823960" y="310896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Datos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8823960" y="361188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Spring Data · PostgreSQL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822960" y="484632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Arquitectura en capas (controller → service → repository) → testeable y mantenible.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822960" y="6355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Martín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TRAZABILIDAD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Requerimientos y RTM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874520"/>
            <a:ext cx="10515600" cy="658368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874520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2651760" y="187452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 usuarios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766560" y="187452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UserController + tests CP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424160" y="187452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22960" y="2606040"/>
            <a:ext cx="10515600" cy="658368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11" name="Text 9"/>
          <p:cNvSpPr/>
          <p:nvPr/>
        </p:nvSpPr>
        <p:spPr>
          <a:xfrm>
            <a:off x="1005840" y="2606040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2651760" y="260604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Listado de usuarios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766560" y="260604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UserController.getAll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0424160" y="260604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822960" y="3337560"/>
            <a:ext cx="10515600" cy="658368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16" name="Text 14"/>
          <p:cNvSpPr/>
          <p:nvPr/>
        </p:nvSpPr>
        <p:spPr>
          <a:xfrm>
            <a:off x="1005840" y="3337560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2651760" y="333756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Gestionar actividades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66560" y="333756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ActivityController + AC-01..10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0424160" y="333756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20" name="Shape 18"/>
          <p:cNvSpPr/>
          <p:nvPr/>
        </p:nvSpPr>
        <p:spPr>
          <a:xfrm>
            <a:off x="822960" y="4069080"/>
            <a:ext cx="10515600" cy="658368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069080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2651760" y="406908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Mostrar actividades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766560" y="406908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getAllActivities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424160" y="406908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25" name="Shape 23"/>
          <p:cNvSpPr/>
          <p:nvPr/>
        </p:nvSpPr>
        <p:spPr>
          <a:xfrm>
            <a:off x="822960" y="4800600"/>
            <a:ext cx="10515600" cy="658368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26" name="Text 24"/>
          <p:cNvSpPr/>
          <p:nvPr/>
        </p:nvSpPr>
        <p:spPr>
          <a:xfrm>
            <a:off x="1005840" y="4800600"/>
            <a:ext cx="1645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REQ-F05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2651760" y="4800600"/>
            <a:ext cx="41148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Asistencias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766560" y="4800600"/>
            <a:ext cx="36576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AttendanceController + AT-01..06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10424160" y="4800600"/>
            <a:ext cx="7315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✓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B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5/5 requerimientos implementados y verificados con tests. Cada test referencia su caso de diseño.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822960" y="6355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Fabricio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ASEGURAMIENTO DE CALIDAD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Testing automatizado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1E2230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1920240"/>
            <a:ext cx="5212080" cy="73152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9202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CAJA NEGRA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97280" y="27432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50 tests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1097280" y="33375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Controllers vía MockMvc (especificación)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153912" y="1920240"/>
            <a:ext cx="5212080" cy="1828800"/>
          </a:xfrm>
          <a:prstGeom prst="roundRect">
            <a:avLst>
              <a:gd name="adj" fmla="val 4000"/>
            </a:avLst>
          </a:prstGeom>
          <a:solidFill>
            <a:srgbClr val="1E2230"/>
          </a:solidFill>
          <a:ln/>
        </p:spPr>
      </p:sp>
      <p:sp>
        <p:nvSpPr>
          <p:cNvPr id="11" name="Shape 9"/>
          <p:cNvSpPr/>
          <p:nvPr/>
        </p:nvSpPr>
        <p:spPr>
          <a:xfrm>
            <a:off x="6153912" y="1920240"/>
            <a:ext cx="5212080" cy="73152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12" name="Text 10"/>
          <p:cNvSpPr/>
          <p:nvPr/>
        </p:nvSpPr>
        <p:spPr>
          <a:xfrm>
            <a:off x="6428232" y="1920240"/>
            <a:ext cx="4663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4161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CAJA BLANCA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28232" y="27432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22 tests</a:t>
            </a:r>
            <a:endParaRPr lang="en-US" sz="3400" dirty="0"/>
          </a:p>
        </p:txBody>
      </p:sp>
      <p:sp>
        <p:nvSpPr>
          <p:cNvPr id="14" name="Text 12"/>
          <p:cNvSpPr/>
          <p:nvPr/>
        </p:nvSpPr>
        <p:spPr>
          <a:xfrm>
            <a:off x="6428232" y="3337560"/>
            <a:ext cx="4663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Services con Mockito (cobertura de ramas)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22960" y="420624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TDD (Red-Green-Refactor)  ·  </a:t>
            </a:r>
            <a:pPr indent="0" marL="0">
              <a:buNone/>
            </a:pPr>
            <a:r>
              <a:rPr lang="en-US" sz="1600" b="1" dirty="0">
                <a:solidFill>
                  <a:srgbClr val="3DD68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Pipeline GitHub Actions en verde en cada push ✓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822960" y="4937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Técnicas: partición de equivalencia · valores límite · tabla de decisión · máquina de estados.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22960" y="6355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MÉTRICAS FINALES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números del cierre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1E2230"/>
          </a:solidFill>
          <a:ln/>
        </p:spPr>
      </p:sp>
      <p:sp>
        <p:nvSpPr>
          <p:cNvPr id="6" name="Text 4"/>
          <p:cNvSpPr/>
          <p:nvPr/>
        </p:nvSpPr>
        <p:spPr>
          <a:xfrm>
            <a:off x="1051560" y="214884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72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1051560" y="306324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tests · 100% verdes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434840" y="19202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1E2230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14884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100%</a:t>
            </a:r>
            <a:endParaRPr lang="en-US" sz="3800" dirty="0"/>
          </a:p>
        </p:txBody>
      </p:sp>
      <p:sp>
        <p:nvSpPr>
          <p:cNvPr id="10" name="Text 8"/>
          <p:cNvSpPr/>
          <p:nvPr/>
        </p:nvSpPr>
        <p:spPr>
          <a:xfrm>
            <a:off x="4663440" y="306324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módulos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principales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46720" y="192024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1E2230"/>
          </a:solidFill>
          <a:ln/>
        </p:spPr>
      </p:sp>
      <p:sp>
        <p:nvSpPr>
          <p:cNvPr id="12" name="Text 10"/>
          <p:cNvSpPr/>
          <p:nvPr/>
        </p:nvSpPr>
        <p:spPr>
          <a:xfrm>
            <a:off x="8275320" y="214884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CC ≤ 10</a:t>
            </a:r>
            <a:endParaRPr lang="en-US" sz="3800" dirty="0"/>
          </a:p>
        </p:txBody>
      </p:sp>
      <p:sp>
        <p:nvSpPr>
          <p:cNvPr id="13" name="Text 11"/>
          <p:cNvSpPr/>
          <p:nvPr/>
        </p:nvSpPr>
        <p:spPr>
          <a:xfrm>
            <a:off x="8275320" y="306324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violaciones (PMD)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22960" y="406908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1E2230"/>
          </a:solidFill>
          <a:ln/>
        </p:spPr>
      </p:sp>
      <p:sp>
        <p:nvSpPr>
          <p:cNvPr id="15" name="Text 13"/>
          <p:cNvSpPr/>
          <p:nvPr/>
        </p:nvSpPr>
        <p:spPr>
          <a:xfrm>
            <a:off x="1051560" y="429768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5B9B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 ≈ 85</a:t>
            </a:r>
            <a:endParaRPr lang="en-US" sz="3800" dirty="0"/>
          </a:p>
        </p:txBody>
      </p:sp>
      <p:sp>
        <p:nvSpPr>
          <p:cNvPr id="16" name="Text 14"/>
          <p:cNvSpPr/>
          <p:nvPr/>
        </p:nvSpPr>
        <p:spPr>
          <a:xfrm>
            <a:off x="1051560" y="521208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alta mantenibilidad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434840" y="406908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1E2230"/>
          </a:solidFill>
          <a:ln/>
        </p:spPr>
      </p:sp>
      <p:sp>
        <p:nvSpPr>
          <p:cNvPr id="18" name="Text 16"/>
          <p:cNvSpPr/>
          <p:nvPr/>
        </p:nvSpPr>
        <p:spPr>
          <a:xfrm>
            <a:off x="4663440" y="429768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1.585</a:t>
            </a:r>
            <a:endParaRPr lang="en-US" sz="3800" dirty="0"/>
          </a:p>
        </p:txBody>
      </p:sp>
      <p:sp>
        <p:nvSpPr>
          <p:cNvPr id="19" name="Text 17"/>
          <p:cNvSpPr/>
          <p:nvPr/>
        </p:nvSpPr>
        <p:spPr>
          <a:xfrm>
            <a:off x="4663440" y="521208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 de producción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8046720" y="4069080"/>
            <a:ext cx="3429000" cy="1920240"/>
          </a:xfrm>
          <a:prstGeom prst="roundRect">
            <a:avLst>
              <a:gd name="adj" fmla="val 3810"/>
            </a:avLst>
          </a:prstGeom>
          <a:solidFill>
            <a:srgbClr val="1E2230"/>
          </a:solidFill>
          <a:ln/>
        </p:spPr>
      </p:sp>
      <p:sp>
        <p:nvSpPr>
          <p:cNvPr id="21" name="Text 19"/>
          <p:cNvSpPr/>
          <p:nvPr/>
        </p:nvSpPr>
        <p:spPr>
          <a:xfrm>
            <a:off x="8275320" y="4297680"/>
            <a:ext cx="29718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9AA0A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53%</a:t>
            </a:r>
            <a:endParaRPr lang="en-US" sz="3800" dirty="0"/>
          </a:p>
        </p:txBody>
      </p:sp>
      <p:sp>
        <p:nvSpPr>
          <p:cNvPr id="22" name="Text 20"/>
          <p:cNvSpPr/>
          <p:nvPr/>
        </p:nvSpPr>
        <p:spPr>
          <a:xfrm>
            <a:off x="8275320" y="5212080"/>
            <a:ext cx="2971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cobertura global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22960" y="6355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Mateo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GESTIÓN DE DEFECTOS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12 defectos detectados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192024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E2230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1031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600" dirty="0"/>
          </a:p>
        </p:txBody>
      </p:sp>
      <p:sp>
        <p:nvSpPr>
          <p:cNvPr id="7" name="Text 5"/>
          <p:cNvSpPr/>
          <p:nvPr/>
        </p:nvSpPr>
        <p:spPr>
          <a:xfrm>
            <a:off x="1005840" y="28346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documentados (TDD/análisis)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474720" y="192024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E2230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0" y="21031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6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3657600" y="28346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testing exploratorio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126480" y="192024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E2230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1031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6309360" y="28346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corregidos/cerrados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778240" y="1920240"/>
            <a:ext cx="2514600" cy="1554480"/>
          </a:xfrm>
          <a:prstGeom prst="roundRect">
            <a:avLst>
              <a:gd name="adj" fmla="val 4706"/>
            </a:avLst>
          </a:prstGeom>
          <a:solidFill>
            <a:srgbClr val="1E2230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0" y="2103120"/>
            <a:ext cx="2148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9AA0A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7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8961120" y="283464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abiertos (próximos avances)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379476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 (QA) vs Prioridad (PO) separadas · todos cargados como Issues en GitHub.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443484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4B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Crítico abierto a corregir:  </a:t>
            </a:r>
            <a:pPr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DEF-EXP-04 — sin control de roles (un CLIENT accede a todo).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822960" y="6355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Ernesto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USABILIDAD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Análisis heurístico (10 Nielsen)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78308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Evaluamos las 5 pantallas con las 10 heurísticas de Nielsen. Hallazgos por severidad: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468880"/>
            <a:ext cx="10515600" cy="914400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246888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 mayores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3474720" y="246888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al borrar · userId→500 · buscar usuario en asistencia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" y="3474720"/>
            <a:ext cx="10515600" cy="914400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347472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5 menores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474720" y="34747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loading · validación front · filtros/paginación · ayuda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22960" y="4480560"/>
            <a:ext cx="10515600" cy="914400"/>
          </a:xfrm>
          <a:prstGeom prst="rect">
            <a:avLst/>
          </a:prstGeom>
          <a:solidFill>
            <a:srgbClr val="1E2230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4480560"/>
            <a:ext cx="23774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9AA0A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cosméticos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474720" y="448056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mensajes técnicos · consistencia · dashboard vacío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B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mejoras: confirmación al eliminar · códigos 404/409 · selector de usuario.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6355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Ernesto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PRODUCTO EN VIVO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Wireframes y demo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22960" y="2011680"/>
            <a:ext cx="10515600" cy="2926080"/>
          </a:xfrm>
          <a:prstGeom prst="roundRect">
            <a:avLst>
              <a:gd name="adj" fmla="val 3125"/>
            </a:avLst>
          </a:prstGeom>
          <a:solidFill>
            <a:srgbClr val="262B3B"/>
          </a:solidFill>
          <a:ln w="12700">
            <a:solidFill>
              <a:srgbClr val="FFB100"/>
            </a:solidFill>
            <a:prstDash val="dash"/>
          </a:ln>
        </p:spPr>
      </p:sp>
      <p:sp>
        <p:nvSpPr>
          <p:cNvPr id="6" name="Text 4"/>
          <p:cNvSpPr/>
          <p:nvPr/>
        </p:nvSpPr>
        <p:spPr>
          <a:xfrm>
            <a:off x="822960" y="27432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▶  DEMO EN VIVO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822960" y="347472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Login → Usuarios → Actividades → Asistencias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822960" y="5212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Wireframes/mockups de las pantallas clave: ver Figma (link del equipo).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6355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Equipo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Text 1"/>
          <p:cNvSpPr/>
          <p:nvPr/>
        </p:nvSpPr>
        <p:spPr>
          <a:xfrm>
            <a:off x="822960" y="6400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REFLEXIÓN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822960" y="960120"/>
            <a:ext cx="10607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aprendimos · qué haríamos distinto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DD68C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Aprendimos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22960" y="2286000"/>
            <a:ext cx="51206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Testing como parte del desarrollo (TDD)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Técnicas formales de diseño de casos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Métricas que importan (cobertura útil, CC, MI)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Integración continua y trazabilidad (RTM)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6309360" y="182880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Haríamos distinto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309360" y="2286000"/>
            <a:ext cx="512064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Testear desde el día 1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Implementar RBAC más temprano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Validar también en el frontend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F5F5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Cubrir seguridad y frontend con tests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22960" y="6355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AA0A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Presenta: Equipo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6858000"/>
          </a:xfrm>
          <a:prstGeom prst="rect">
            <a:avLst/>
          </a:prstGeom>
          <a:solidFill>
            <a:srgbClr val="FF4B3E"/>
          </a:solidFill>
          <a:ln/>
        </p:spPr>
      </p:sp>
      <p:sp>
        <p:nvSpPr>
          <p:cNvPr id="3" name="Shape 1"/>
          <p:cNvSpPr/>
          <p:nvPr/>
        </p:nvSpPr>
        <p:spPr>
          <a:xfrm>
            <a:off x="320040" y="0"/>
            <a:ext cx="109728" cy="6858000"/>
          </a:xfrm>
          <a:prstGeom prst="rect">
            <a:avLst/>
          </a:prstGeom>
          <a:solidFill>
            <a:srgbClr val="FFB100"/>
          </a:solidFill>
          <a:ln/>
        </p:spPr>
      </p:sp>
      <p:sp>
        <p:nvSpPr>
          <p:cNvPr id="4" name="Text 2"/>
          <p:cNvSpPr/>
          <p:nvPr/>
        </p:nvSpPr>
        <p:spPr>
          <a:xfrm>
            <a:off x="1005840" y="14630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FFB100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CONCLUSIÓN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960120" y="2011680"/>
            <a:ext cx="105156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producto funcional</a:t>
            </a:r>
            <a:endParaRPr lang="en-US" sz="3600" dirty="0"/>
          </a:p>
          <a:p>
            <a:pPr indent="0" marL="0">
              <a:buNone/>
            </a:pPr>
            <a:r>
              <a:rPr lang="en-US" sz="3600" b="1" dirty="0">
                <a:solidFill>
                  <a:srgbClr val="F5F5F5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y un método de calidad replicable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005840" y="3840480"/>
            <a:ext cx="102412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B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tests verdes · 100% en módulos principales · CI activo · trazabilidad completa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05840" y="493776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4B3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¡Gracias!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2026-06-11T23:51:56Z</dcterms:created>
  <dcterms:modified xsi:type="dcterms:W3CDTF">2026-06-11T23:51:56Z</dcterms:modified>
</cp:coreProperties>
</file>