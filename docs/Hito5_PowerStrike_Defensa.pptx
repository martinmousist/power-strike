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Equipo. Buenas noches. Somos el Grupo 2 y presentamos la entrega final de Power Strike, un sistema de gestión de gimnasio. Durante el trabajo de campo migramos el sistema a una arquitectura moderna y, sobre todo, construimos un proceso de calidad. La presentación está dividida por temas y cada integrante expone su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Mateo. Antes de entrar en tema, así repartimos la defensa: yo cubro el producto, el testing automatizado y las métricas; Martín explica la arquitectura, la máquina de estados y la integración continua; Fabricio se encarga del Plan SQA, la trazabilidad y el FMEA; y Ernesto cierra con la gestión de defectos y el análisis de usabilidad. La demo y las conclusiones las hacemos entre todos.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Mateo. Power Strike resuelve la operación diaria de un gimnasio: gestiona usuarios con sus validaciones, las actividades que se dictan, y el registro de asistencias. Todo detrás de un login con JWT y control de acceso por rol. Son cinco pantallas, pero el foco del trabajo no fue la cantidad de features sino la calidad con que están construidas y verificadas.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Martín. La aplicación sigue una arquitectura en capas clásica. El frontend es una SPA en Vue 3 que consume una API REST en Spring Boot. Los controllers reciben las peticiones, delegan en los servicios que tienen la lógica de negocio, y estos usan repositorios de Spring Data sobre PostgreSQL. Lo importante de esta separación es que cada capa se puede testear por separado: los servicios con dobles de prueba y los controllers vía HTTP. Eso es lo que hizo posible toda la estrategia de testing que va a contar Mateo.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Fabricio. Todo esto no fue improvisado: lo guía un Plan SQA que venimos actualizando desde el Hito 3. El plan define qué controlamos —trazabilidad, cobertura, complejidad y defectos—, cómo lo medimos —de forma automática en cada push y revisado por hito— y qué umbrales tienen que cumplirse para aprobar un cambio: al menos 60% de cobertura en código nuevo, complejidad ciclomática menor o igual a 10, la suite entera en verde, y cero defectos críticos abiertos al mergear. En las próximas filminas muestro cómo se cumplieron.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Fabricio. Esta es la matriz de trazabilidad de los requerimientos funcionales. Cada uno de los cinco está implementado y, sobre todo, verificado con tests automatizados que referencian su caso de diseño: los CP para usuarios, los AC para actividades y los AT para asistencias. La traza es completa: de cada requerimiento puedo llegar al código y al test que lo prueba, y al revés.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Fabricio. Además de lo funcional, trazamos los requerimientos no funcionales: la autenticación con JWT, la autorización por rol y el manejo coherente de errores HTTP. Marco especialmente el del medio: el control de roles. En el Hito 4 era nuestro defecto crítico abierto, un CLIENT podía acceder a todo. En el Hito 5 lo cerramos con anotaciones de seguridad y un test que prueba que un CLIENT recibe 403 y un ADMIN 200. Ernesto va a dar el detalle cuando hable de defectos.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Mateo. Nuestra estrategia de testing tiene dos niveles. Caja negra: 55 tests sobre los controllers usando MockMvc, que prueban las validaciones y el manejo de errores por HTTP, sin levantar la base, verificando la especificación. Y caja blanca: 22 tests sobre los servicios con Mockito, que cubren las ramas internas y los casos límite. En total 77 tests. Y no los escribimos a ojo: cada caso responde a una técnica formal de diseño —partición de equivalencia, valores límite, tabla de decisión y máquina de estados.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Mateo. Sobre las funcionalidades nuevas aplicamos TDD. El ciclo es: primero escribimos el test, que falla porque la lógica no existe —fase roja—; después implementamos lo mínimo para que pase —fase verde—; y por último refactorizamos con los tests como red de seguridad. Lo interesante es que esto queda registrado en el historial de Git: se ve el commit del test que falla y después el commit del fix. Eso es evidencia objetiva de que aplicamos la metodología.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Martín. Una de las técnicas que más nos sirvió fue modelar la asistencia como una máquina de estados. Un usuario pasa de no tener registro, a tener una asistencia registrada; y si intenta registrar otra el mismo día, el sistema lo rechaza con un 409. Dibujar los estados y las transiciones nos permitió derivar casos de prueba concretos y, de paso, nos hizo descubrir que originalmente se permitían asistencias duplicadas: ese fue uno de los defectos que corregimos.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Martín. Todo este testing no sirve si alguien se olvida de correrlo. Por eso montamos integración continua con GitHub Actions: en cada push se compila el proyecto, se corren los 77 tests y se genera el reporte de cobertura, además de los análisis estáticos con PMD, Checkstyle y ESLint. Si algo se rompe, el pipeline lo marca antes de integrar. Así la calidad deja de depender de que cada uno se acuerde, y la rama principal se mantiene siempre 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Mateo. Vamos a los números del cierre. El sistema tiene unas 1.585 líneas de producción y 839 de tests, una razón de 0,53: más de media línea de test por cada línea de código. En complejidad, PMD no reporta ninguna violación: el método más complejo tiene complejidad ciclomática 3, muy por debajo del umbral de 10. Y el índice de mantenibilidad estimado ronda 85, que en la escala SEI es alta mantenibilidad. O sea: código chico, simple y mantenible.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Mateo. En cobertura distinguimos dos números. En los módulos principales —controllers, servicios y modelos— tenemos 100%, bastante por encima del 60% que pide el plan. El global da 53%, y eso es honesto: lo que queda sin cubrir es la capa de seguridad y el arranque de Spring, que no son parte del testing funcional. Y la suite completa, 77 tests, está toda en verde. Si miramos la evolución, pasamos de 21 tests en el Hito 3 a 77 ahora. Con esto cierro mi parte y le paso a Ernesto.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Ernesto. Buenas. Yo me encargué del testing exploratorio y la gestión de defectos. Detectamos 12 en total: 6 por análisis y TDD, y 6 más probando la aplicación a mano. Lo importante es el criterio: cada defecto se carga como Issue con su severidad, que la define QA, y su prioridad, que la define el dueño del producto. De los 12, ya cerramos 9, incluido el crítico. Quedan 3 abiertos, documentados para próximos avances. Que haya una densidad alta no es mala señal: significa que los buscamos activamente.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Ernesto. Esta filmina es el corazón del Hito 5: los defectos que cerramos, todos con TDD. El más importante, el crítico DEF-EXP-04: ahora la gestión de usuarios exige rol ADMIN y un CLIENT recibe 403. Después: las asistencias duplicadas ahora devuelven 409; un usuario inexistente devuelve 404 en lugar del 500 que daba antes; y el día de la actividad se valida y devuelve 400 si es inválido. En los cuatro casos primero escribimos el test que fallaba y después el arreglo.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Fabricio. Como parte de la documentación de calidad hicimos un análisis FMEA sobre la funcionalidad más sensible, el registro de usuarios. Identificamos los modos de falla posibles, los priorizamos con el Número de Prioridad de Riesgo —que combina gravedad, ocurrencia y detección— y los riesgos más altos los convertimos en acciones concretas: validaciones en el backend y tests que las cubren. Es la forma de no dejar la calidad librada a la intuición.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Ernesto. Por último, evaluamos la usabilidad con las 10 heurísticas de Nielsen sobre las cinco pantallas. Encontramos 2 problemas mayores, 5 menores y 3 cosméticos. Los más relevantes: falta una confirmación antes de eliminar, el mensaje al borrar un usuario con asistencias no es claro, y conviene un buscador de usuario al registrar asistencia. Lo dejamos priorizado. Importante: el problema de control de roles, que también era de usabilidad y seguridad, ya quedó resuelto en este hito.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Equipo (lo hace quien tenga el entorno levantado). Pasamos a la demo. Mostramos el login, la gestión de usuarios, las actividades y el registro de asistencias. Y al final, para evidenciar la corrección del defecto crítico, intentamos acceder a la gestión de usuarios con un rol CLIENT y se ve que el sistema responde 403. Los wireframes y mockups de estas pantallas están en nuestro proyecto de Figma.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Equipo. Para cerrar, la reflexión. Lo que más valoramos haber aprendido es a tratar el testing como parte del desarrollo y no como un agregado final, a justificar los casos con técnicas formales, a leer las métricas con criterio y a apoyarnos en la integración continua. Y si lo volviéramos a hacer: testearíamos desde el día uno, implementaríamos el control de roles mucho antes, reforzaríamos la validación en el frontend y cerraríamos los defectos abiertos antes de la entrega.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Equipo. En conclusión, entregamos un producto funcional pero, más importante, un método de calidad que podemos replicar en cualquier proyecto: 77 tests en verde, 100% de cobertura en los módulos principales, integración continua activa, trazabilidad completa y el defecto crítico cerrado. Muchas gracias, quedamos para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4B3E"/>
          </a:solidFill>
          <a:ln/>
        </p:spPr>
      </p:sp>
      <p:sp>
        <p:nvSpPr>
          <p:cNvPr id="3" name="Shape 1"/>
          <p:cNvSpPr/>
          <p:nvPr/>
        </p:nvSpPr>
        <p:spPr>
          <a:xfrm>
            <a:off x="0" y="6309360"/>
            <a:ext cx="12188952" cy="548640"/>
          </a:xfrm>
          <a:prstGeom prst="rect">
            <a:avLst/>
          </a:prstGeom>
          <a:solidFill>
            <a:srgbClr val="FFB100"/>
          </a:solidFill>
          <a:ln/>
        </p:spPr>
      </p:sp>
      <p:sp>
        <p:nvSpPr>
          <p:cNvPr id="4" name="Text 2"/>
          <p:cNvSpPr/>
          <p:nvPr/>
        </p:nvSpPr>
        <p:spPr>
          <a:xfrm>
            <a:off x="731520" y="1463040"/>
            <a:ext cx="10058400" cy="457200"/>
          </a:xfrm>
          <a:prstGeom prst="rect">
            <a:avLst/>
          </a:prstGeom>
          <a:noFill/>
          <a:ln/>
        </p:spPr>
        <p:txBody>
          <a:bodyPr wrap="square" rtlCol="0" anchor="ctr"/>
          <a:lstStyle/>
          <a:p>
            <a:pPr indent="0" marL="0">
              <a:buNone/>
            </a:pPr>
            <a:r>
              <a:rPr lang="en-US" sz="2000" b="1" spc="200" kern="0" dirty="0">
                <a:solidFill>
                  <a:srgbClr val="FFB100"/>
                </a:solidFill>
                <a:latin typeface="Arial Black" pitchFamily="34" charset="0"/>
                <a:ea typeface="Arial Black" pitchFamily="34" charset="-122"/>
                <a:cs typeface="Arial Black" pitchFamily="34" charset="-120"/>
              </a:rPr>
              <a:t>HITO 5 · ENTREGA FINAL Y DEFENSA</a:t>
            </a:r>
            <a:endParaRPr lang="en-US" sz="2000" dirty="0"/>
          </a:p>
        </p:txBody>
      </p:sp>
      <p:sp>
        <p:nvSpPr>
          <p:cNvPr id="5" name="Text 3"/>
          <p:cNvSpPr/>
          <p:nvPr/>
        </p:nvSpPr>
        <p:spPr>
          <a:xfrm>
            <a:off x="731520" y="1920240"/>
            <a:ext cx="10972800" cy="1280160"/>
          </a:xfrm>
          <a:prstGeom prst="rect">
            <a:avLst/>
          </a:prstGeom>
          <a:noFill/>
          <a:ln/>
        </p:spPr>
        <p:txBody>
          <a:bodyPr wrap="square" rtlCol="0" anchor="ctr"/>
          <a:lstStyle/>
          <a:p>
            <a:pPr indent="0" marL="0">
              <a:buNone/>
            </a:pPr>
            <a:r>
              <a:rPr lang="en-US" sz="8000" b="1" dirty="0">
                <a:solidFill>
                  <a:srgbClr val="F5F5F5"/>
                </a:solidFill>
                <a:latin typeface="Arial Black" pitchFamily="34" charset="0"/>
                <a:ea typeface="Arial Black" pitchFamily="34" charset="-122"/>
                <a:cs typeface="Arial Black" pitchFamily="34" charset="-120"/>
              </a:rPr>
              <a:t>POWER STRIKE</a:t>
            </a:r>
            <a:endParaRPr lang="en-US" sz="8000" dirty="0"/>
          </a:p>
        </p:txBody>
      </p:sp>
      <p:sp>
        <p:nvSpPr>
          <p:cNvPr id="6" name="Text 4"/>
          <p:cNvSpPr/>
          <p:nvPr/>
        </p:nvSpPr>
        <p:spPr>
          <a:xfrm>
            <a:off x="731520" y="3291840"/>
            <a:ext cx="10972800" cy="457200"/>
          </a:xfrm>
          <a:prstGeom prst="rect">
            <a:avLst/>
          </a:prstGeom>
          <a:noFill/>
          <a:ln/>
        </p:spPr>
        <p:txBody>
          <a:bodyPr wrap="square" rtlCol="0" anchor="ctr"/>
          <a:lstStyle/>
          <a:p>
            <a:pPr indent="0" marL="0">
              <a:buNone/>
            </a:pPr>
            <a:r>
              <a:rPr lang="en-US" sz="1800" dirty="0">
                <a:solidFill>
                  <a:srgbClr val="9AA0AE"/>
                </a:solidFill>
                <a:latin typeface="Arial" pitchFamily="34" charset="0"/>
                <a:ea typeface="Arial" pitchFamily="34" charset="-122"/>
                <a:cs typeface="Arial" pitchFamily="34" charset="-120"/>
              </a:rPr>
              <a:t>Sistema de gestión de gimnasio   ·   Trabajo de Campo · Ingeniería de Software II</a:t>
            </a:r>
            <a:endParaRPr lang="en-US" sz="1800" dirty="0"/>
          </a:p>
        </p:txBody>
      </p:sp>
      <p:sp>
        <p:nvSpPr>
          <p:cNvPr id="7" name="Text 5"/>
          <p:cNvSpPr/>
          <p:nvPr/>
        </p:nvSpPr>
        <p:spPr>
          <a:xfrm>
            <a:off x="731520" y="3931920"/>
            <a:ext cx="10972800" cy="457200"/>
          </a:xfrm>
          <a:prstGeom prst="rect">
            <a:avLst/>
          </a:prstGeom>
          <a:noFill/>
          <a:ln/>
        </p:spPr>
        <p:txBody>
          <a:bodyPr wrap="square" rtlCol="0" anchor="ctr"/>
          <a:lstStyle/>
          <a:p>
            <a:pPr indent="0" marL="0">
              <a:buNone/>
            </a:pPr>
            <a:r>
              <a:rPr lang="en-US" sz="1600" b="1" dirty="0">
                <a:solidFill>
                  <a:srgbClr val="F5F5F5"/>
                </a:solidFill>
                <a:latin typeface="Arial" pitchFamily="34" charset="0"/>
                <a:ea typeface="Arial" pitchFamily="34" charset="-122"/>
                <a:cs typeface="Arial" pitchFamily="34" charset="-120"/>
              </a:rPr>
              <a:t>Grupo 2:   Mateo Brizuela · Ernesto Ponce · Martín Mousist · Fabricio Posada</a:t>
            </a:r>
            <a:endParaRPr lang="en-US" sz="1600" dirty="0"/>
          </a:p>
        </p:txBody>
      </p:sp>
      <p:sp>
        <p:nvSpPr>
          <p:cNvPr id="8" name="Text 6"/>
          <p:cNvSpPr/>
          <p:nvPr/>
        </p:nvSpPr>
        <p:spPr>
          <a:xfrm>
            <a:off x="731520" y="4572000"/>
            <a:ext cx="10972800" cy="365760"/>
          </a:xfrm>
          <a:prstGeom prst="rect">
            <a:avLst/>
          </a:prstGeom>
          <a:noFill/>
          <a:ln/>
        </p:spPr>
        <p:txBody>
          <a:bodyPr wrap="square" rtlCol="0" anchor="ctr"/>
          <a:lstStyle/>
          <a:p>
            <a:pPr indent="0" marL="0">
              <a:buNone/>
            </a:pPr>
            <a:r>
              <a:rPr lang="en-US" sz="1300" dirty="0">
                <a:solidFill>
                  <a:srgbClr val="FFB100"/>
                </a:solidFill>
                <a:latin typeface="Arial" pitchFamily="34" charset="0"/>
                <a:ea typeface="Arial" pitchFamily="34" charset="-122"/>
                <a:cs typeface="Arial" pitchFamily="34" charset="-120"/>
              </a:rPr>
              <a:t>Defensa: martes 16/06/2026 · 19:00     ·     github.com/MartinMousist/power-strike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B9BFF"/>
          </a:solidFill>
          <a:ln/>
        </p:spPr>
      </p:sp>
      <p:sp>
        <p:nvSpPr>
          <p:cNvPr id="3" name="Text 1"/>
          <p:cNvSpPr/>
          <p:nvPr/>
        </p:nvSpPr>
        <p:spPr>
          <a:xfrm>
            <a:off x="10698480" y="6400800"/>
            <a:ext cx="1280160" cy="274320"/>
          </a:xfrm>
          <a:prstGeom prst="rect">
            <a:avLst/>
          </a:prstGeom>
          <a:noFill/>
          <a:ln/>
        </p:spPr>
        <p:txBody>
          <a:bodyPr wrap="square" rtlCol="0" anchor="ctr"/>
          <a:lstStyle/>
          <a:p>
            <a:pPr algn="r" indent="0" marL="0">
              <a:buNone/>
            </a:pPr>
            <a:r>
              <a:rPr lang="en-US" sz="900" dirty="0">
                <a:solidFill>
                  <a:srgbClr val="9AA0AE"/>
                </a:solidFill>
                <a:latin typeface="Arial" pitchFamily="34" charset="0"/>
                <a:ea typeface="Arial" pitchFamily="34" charset="-122"/>
                <a:cs typeface="Arial" pitchFamily="34" charset="-120"/>
              </a:rPr>
              <a:t>02 / 20</a:t>
            </a:r>
            <a:endParaRPr lang="en-US" sz="900" dirty="0"/>
          </a:p>
        </p:txBody>
      </p:sp>
      <p:sp>
        <p:nvSpPr>
          <p:cNvPr id="4" name="Text 2"/>
          <p:cNvSpPr/>
          <p:nvPr/>
        </p:nvSpPr>
        <p:spPr>
          <a:xfrm>
            <a:off x="502920" y="411480"/>
            <a:ext cx="10058400" cy="365760"/>
          </a:xfrm>
          <a:prstGeom prst="rect">
            <a:avLst/>
          </a:prstGeom>
          <a:noFill/>
          <a:ln/>
        </p:spPr>
        <p:txBody>
          <a:bodyPr wrap="square" rtlCol="0" anchor="ctr"/>
          <a:lstStyle/>
          <a:p>
            <a:pPr indent="0" marL="0">
              <a:buNone/>
            </a:pPr>
            <a:r>
              <a:rPr lang="en-US" sz="1300" b="1" spc="200" kern="0" dirty="0">
                <a:solidFill>
                  <a:srgbClr val="5B9BFF"/>
                </a:solidFill>
                <a:latin typeface="Arial Black" pitchFamily="34" charset="0"/>
                <a:ea typeface="Arial Black" pitchFamily="34" charset="-122"/>
                <a:cs typeface="Arial Black" pitchFamily="34" charset="-120"/>
              </a:rPr>
              <a:t>AGENDA</a:t>
            </a:r>
            <a:endParaRPr lang="en-US" sz="1300" dirty="0"/>
          </a:p>
        </p:txBody>
      </p:sp>
      <p:sp>
        <p:nvSpPr>
          <p:cNvPr id="5" name="Text 3"/>
          <p:cNvSpPr/>
          <p:nvPr/>
        </p:nvSpPr>
        <p:spPr>
          <a:xfrm>
            <a:off x="502920" y="777240"/>
            <a:ext cx="10972800" cy="822960"/>
          </a:xfrm>
          <a:prstGeom prst="rect">
            <a:avLst/>
          </a:prstGeom>
          <a:noFill/>
          <a:ln/>
        </p:spPr>
        <p:txBody>
          <a:bodyPr wrap="square" rtlCol="0" anchor="ctr"/>
          <a:lstStyle/>
          <a:p>
            <a:pPr indent="0" marL="0">
              <a:buNone/>
            </a:pPr>
            <a:r>
              <a:rPr lang="en-US" sz="3400" b="1" dirty="0">
                <a:solidFill>
                  <a:srgbClr val="F5F5F5"/>
                </a:solidFill>
                <a:latin typeface="Arial Black" pitchFamily="34" charset="0"/>
                <a:ea typeface="Arial Black" pitchFamily="34" charset="-122"/>
                <a:cs typeface="Arial Black" pitchFamily="34" charset="-120"/>
              </a:rPr>
              <a:t>Cómo organizamos la defensa</a:t>
            </a:r>
            <a:endParaRPr lang="en-US" sz="3400" dirty="0"/>
          </a:p>
        </p:txBody>
      </p:sp>
      <p:sp>
        <p:nvSpPr>
          <p:cNvPr id="6" name="Shape 4"/>
          <p:cNvSpPr/>
          <p:nvPr/>
        </p:nvSpPr>
        <p:spPr>
          <a:xfrm>
            <a:off x="502920" y="1828800"/>
            <a:ext cx="2697480" cy="3291840"/>
          </a:xfrm>
          <a:prstGeom prst="roundRect">
            <a:avLst>
              <a:gd name="adj" fmla="val 2712"/>
            </a:avLst>
          </a:prstGeom>
          <a:solidFill>
            <a:srgbClr val="1E2230"/>
          </a:solidFill>
          <a:ln/>
        </p:spPr>
      </p:sp>
      <p:sp>
        <p:nvSpPr>
          <p:cNvPr id="7" name="Shape 5"/>
          <p:cNvSpPr/>
          <p:nvPr/>
        </p:nvSpPr>
        <p:spPr>
          <a:xfrm>
            <a:off x="502920" y="1828800"/>
            <a:ext cx="64008" cy="3291840"/>
          </a:xfrm>
          <a:prstGeom prst="rect">
            <a:avLst/>
          </a:prstGeom>
          <a:solidFill>
            <a:srgbClr val="3DD68C"/>
          </a:solidFill>
          <a:ln/>
        </p:spPr>
      </p:sp>
      <p:sp>
        <p:nvSpPr>
          <p:cNvPr id="8" name="Text 6"/>
          <p:cNvSpPr/>
          <p:nvPr/>
        </p:nvSpPr>
        <p:spPr>
          <a:xfrm>
            <a:off x="704088" y="1993392"/>
            <a:ext cx="23317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Mateo</a:t>
            </a:r>
            <a:endParaRPr lang="en-US" sz="1400" dirty="0"/>
          </a:p>
        </p:txBody>
      </p:sp>
      <p:sp>
        <p:nvSpPr>
          <p:cNvPr id="9" name="Text 7"/>
          <p:cNvSpPr/>
          <p:nvPr/>
        </p:nvSpPr>
        <p:spPr>
          <a:xfrm>
            <a:off x="704088" y="2340864"/>
            <a:ext cx="2331720" cy="276148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Producto, testing automatizado (caja negra/blanca, TDD) y métricas finales.</a:t>
            </a:r>
            <a:endParaRPr lang="en-US" sz="1100" dirty="0"/>
          </a:p>
        </p:txBody>
      </p:sp>
      <p:sp>
        <p:nvSpPr>
          <p:cNvPr id="10" name="Shape 8"/>
          <p:cNvSpPr/>
          <p:nvPr/>
        </p:nvSpPr>
        <p:spPr>
          <a:xfrm>
            <a:off x="3337560" y="1828800"/>
            <a:ext cx="2697480" cy="3291840"/>
          </a:xfrm>
          <a:prstGeom prst="roundRect">
            <a:avLst>
              <a:gd name="adj" fmla="val 2712"/>
            </a:avLst>
          </a:prstGeom>
          <a:solidFill>
            <a:srgbClr val="1E2230"/>
          </a:solidFill>
          <a:ln/>
        </p:spPr>
      </p:sp>
      <p:sp>
        <p:nvSpPr>
          <p:cNvPr id="11" name="Shape 9"/>
          <p:cNvSpPr/>
          <p:nvPr/>
        </p:nvSpPr>
        <p:spPr>
          <a:xfrm>
            <a:off x="3337560" y="1828800"/>
            <a:ext cx="64008" cy="3291840"/>
          </a:xfrm>
          <a:prstGeom prst="rect">
            <a:avLst/>
          </a:prstGeom>
          <a:solidFill>
            <a:srgbClr val="5B9BFF"/>
          </a:solidFill>
          <a:ln/>
        </p:spPr>
      </p:sp>
      <p:sp>
        <p:nvSpPr>
          <p:cNvPr id="12" name="Text 10"/>
          <p:cNvSpPr/>
          <p:nvPr/>
        </p:nvSpPr>
        <p:spPr>
          <a:xfrm>
            <a:off x="3538728" y="1993392"/>
            <a:ext cx="23317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Martín</a:t>
            </a:r>
            <a:endParaRPr lang="en-US" sz="1400" dirty="0"/>
          </a:p>
        </p:txBody>
      </p:sp>
      <p:sp>
        <p:nvSpPr>
          <p:cNvPr id="13" name="Text 11"/>
          <p:cNvSpPr/>
          <p:nvPr/>
        </p:nvSpPr>
        <p:spPr>
          <a:xfrm>
            <a:off x="3538728" y="2340864"/>
            <a:ext cx="2331720" cy="276148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Arquitectura en capas, máquina de estados e integración continua (CI).</a:t>
            </a:r>
            <a:endParaRPr lang="en-US" sz="1100" dirty="0"/>
          </a:p>
        </p:txBody>
      </p:sp>
      <p:sp>
        <p:nvSpPr>
          <p:cNvPr id="14" name="Shape 12"/>
          <p:cNvSpPr/>
          <p:nvPr/>
        </p:nvSpPr>
        <p:spPr>
          <a:xfrm>
            <a:off x="6172200" y="1828800"/>
            <a:ext cx="2697480" cy="3291840"/>
          </a:xfrm>
          <a:prstGeom prst="roundRect">
            <a:avLst>
              <a:gd name="adj" fmla="val 2712"/>
            </a:avLst>
          </a:prstGeom>
          <a:solidFill>
            <a:srgbClr val="1E2230"/>
          </a:solidFill>
          <a:ln/>
        </p:spPr>
      </p:sp>
      <p:sp>
        <p:nvSpPr>
          <p:cNvPr id="15" name="Shape 13"/>
          <p:cNvSpPr/>
          <p:nvPr/>
        </p:nvSpPr>
        <p:spPr>
          <a:xfrm>
            <a:off x="6172200" y="1828800"/>
            <a:ext cx="64008" cy="3291840"/>
          </a:xfrm>
          <a:prstGeom prst="rect">
            <a:avLst/>
          </a:prstGeom>
          <a:solidFill>
            <a:srgbClr val="FFB100"/>
          </a:solidFill>
          <a:ln/>
        </p:spPr>
      </p:sp>
      <p:sp>
        <p:nvSpPr>
          <p:cNvPr id="16" name="Text 14"/>
          <p:cNvSpPr/>
          <p:nvPr/>
        </p:nvSpPr>
        <p:spPr>
          <a:xfrm>
            <a:off x="6373368" y="1993392"/>
            <a:ext cx="23317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Fabricio</a:t>
            </a:r>
            <a:endParaRPr lang="en-US" sz="1400" dirty="0"/>
          </a:p>
        </p:txBody>
      </p:sp>
      <p:sp>
        <p:nvSpPr>
          <p:cNvPr id="17" name="Text 15"/>
          <p:cNvSpPr/>
          <p:nvPr/>
        </p:nvSpPr>
        <p:spPr>
          <a:xfrm>
            <a:off x="6373368" y="2340864"/>
            <a:ext cx="2331720" cy="276148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Plan SQA, trazabilidad (RTM) y análisis de riesgos (FMEA).</a:t>
            </a:r>
            <a:endParaRPr lang="en-US" sz="1100" dirty="0"/>
          </a:p>
        </p:txBody>
      </p:sp>
      <p:sp>
        <p:nvSpPr>
          <p:cNvPr id="18" name="Shape 16"/>
          <p:cNvSpPr/>
          <p:nvPr/>
        </p:nvSpPr>
        <p:spPr>
          <a:xfrm>
            <a:off x="9006840" y="1828800"/>
            <a:ext cx="2697480" cy="3291840"/>
          </a:xfrm>
          <a:prstGeom prst="roundRect">
            <a:avLst>
              <a:gd name="adj" fmla="val 2712"/>
            </a:avLst>
          </a:prstGeom>
          <a:solidFill>
            <a:srgbClr val="1E2230"/>
          </a:solidFill>
          <a:ln/>
        </p:spPr>
      </p:sp>
      <p:sp>
        <p:nvSpPr>
          <p:cNvPr id="19" name="Shape 17"/>
          <p:cNvSpPr/>
          <p:nvPr/>
        </p:nvSpPr>
        <p:spPr>
          <a:xfrm>
            <a:off x="9006840" y="1828800"/>
            <a:ext cx="64008" cy="3291840"/>
          </a:xfrm>
          <a:prstGeom prst="rect">
            <a:avLst/>
          </a:prstGeom>
          <a:solidFill>
            <a:srgbClr val="FF4B3E"/>
          </a:solidFill>
          <a:ln/>
        </p:spPr>
      </p:sp>
      <p:sp>
        <p:nvSpPr>
          <p:cNvPr id="20" name="Text 18"/>
          <p:cNvSpPr/>
          <p:nvPr/>
        </p:nvSpPr>
        <p:spPr>
          <a:xfrm>
            <a:off x="9208008" y="1993392"/>
            <a:ext cx="23317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Ernesto</a:t>
            </a:r>
            <a:endParaRPr lang="en-US" sz="1400" dirty="0"/>
          </a:p>
        </p:txBody>
      </p:sp>
      <p:sp>
        <p:nvSpPr>
          <p:cNvPr id="21" name="Text 19"/>
          <p:cNvSpPr/>
          <p:nvPr/>
        </p:nvSpPr>
        <p:spPr>
          <a:xfrm>
            <a:off x="9208008" y="2340864"/>
            <a:ext cx="2331720" cy="276148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Gestión de defectos, correcciones del Hito 5 y usabilidad (Nielsen).</a:t>
            </a:r>
            <a:endParaRPr lang="en-US" sz="1100" dirty="0"/>
          </a:p>
        </p:txBody>
      </p:sp>
      <p:sp>
        <p:nvSpPr>
          <p:cNvPr id="22" name="Text 20"/>
          <p:cNvSpPr/>
          <p:nvPr/>
        </p:nvSpPr>
        <p:spPr>
          <a:xfrm>
            <a:off x="502920" y="5897880"/>
            <a:ext cx="11155680" cy="365760"/>
          </a:xfrm>
          <a:prstGeom prst="rect">
            <a:avLst/>
          </a:prstGeom>
          <a:noFill/>
          <a:ln/>
        </p:spPr>
        <p:txBody>
          <a:bodyPr wrap="square" rtlCol="0" anchor="ctr"/>
          <a:lstStyle/>
          <a:p>
            <a:pPr indent="0" marL="0">
              <a:buNone/>
            </a:pPr>
            <a:r>
              <a:rPr lang="en-US" sz="1300" i="1" dirty="0">
                <a:solidFill>
                  <a:srgbClr val="9AA0AE"/>
                </a:solidFill>
                <a:latin typeface="Arial" pitchFamily="34" charset="0"/>
                <a:ea typeface="Arial" pitchFamily="34" charset="-122"/>
                <a:cs typeface="Arial" pitchFamily="34" charset="-120"/>
              </a:rPr>
              <a:t>Cierre conjunto: demo en vivo, reflexión y conclusiones.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4B3E"/>
          </a:solidFill>
          <a:ln/>
        </p:spPr>
      </p:sp>
      <p:sp>
        <p:nvSpPr>
          <p:cNvPr id="3" name="Text 1"/>
          <p:cNvSpPr/>
          <p:nvPr/>
        </p:nvSpPr>
        <p:spPr>
          <a:xfrm>
            <a:off x="10698480" y="6400800"/>
            <a:ext cx="1280160" cy="274320"/>
          </a:xfrm>
          <a:prstGeom prst="rect">
            <a:avLst/>
          </a:prstGeom>
          <a:noFill/>
          <a:ln/>
        </p:spPr>
        <p:txBody>
          <a:bodyPr wrap="square" rtlCol="0" anchor="ctr"/>
          <a:lstStyle/>
          <a:p>
            <a:pPr algn="r" indent="0" marL="0">
              <a:buNone/>
            </a:pPr>
            <a:r>
              <a:rPr lang="en-US" sz="900" dirty="0">
                <a:solidFill>
                  <a:srgbClr val="9AA0AE"/>
                </a:solidFill>
                <a:latin typeface="Arial" pitchFamily="34" charset="0"/>
                <a:ea typeface="Arial" pitchFamily="34" charset="-122"/>
                <a:cs typeface="Arial" pitchFamily="34" charset="-120"/>
              </a:rPr>
              <a:t>03 / 20</a:t>
            </a:r>
            <a:endParaRPr lang="en-US" sz="900" dirty="0"/>
          </a:p>
        </p:txBody>
      </p:sp>
      <p:sp>
        <p:nvSpPr>
          <p:cNvPr id="4" name="Text 2"/>
          <p:cNvSpPr/>
          <p:nvPr/>
        </p:nvSpPr>
        <p:spPr>
          <a:xfrm>
            <a:off x="502920" y="411480"/>
            <a:ext cx="10058400" cy="365760"/>
          </a:xfrm>
          <a:prstGeom prst="rect">
            <a:avLst/>
          </a:prstGeom>
          <a:noFill/>
          <a:ln/>
        </p:spPr>
        <p:txBody>
          <a:bodyPr wrap="square" rtlCol="0" anchor="ctr"/>
          <a:lstStyle/>
          <a:p>
            <a:pPr indent="0" marL="0">
              <a:buNone/>
            </a:pPr>
            <a:r>
              <a:rPr lang="en-US" sz="1300" b="1" spc="200" kern="0" dirty="0">
                <a:solidFill>
                  <a:srgbClr val="FF4B3E"/>
                </a:solidFill>
                <a:latin typeface="Arial Black" pitchFamily="34" charset="0"/>
                <a:ea typeface="Arial Black" pitchFamily="34" charset="-122"/>
                <a:cs typeface="Arial Black" pitchFamily="34" charset="-120"/>
              </a:rPr>
              <a:t>EL PRODUCTO</a:t>
            </a:r>
            <a:endParaRPr lang="en-US" sz="1300" dirty="0"/>
          </a:p>
        </p:txBody>
      </p:sp>
      <p:sp>
        <p:nvSpPr>
          <p:cNvPr id="5" name="Text 3"/>
          <p:cNvSpPr/>
          <p:nvPr/>
        </p:nvSpPr>
        <p:spPr>
          <a:xfrm>
            <a:off x="502920" y="777240"/>
            <a:ext cx="10972800" cy="822960"/>
          </a:xfrm>
          <a:prstGeom prst="rect">
            <a:avLst/>
          </a:prstGeom>
          <a:noFill/>
          <a:ln/>
        </p:spPr>
        <p:txBody>
          <a:bodyPr wrap="square" rtlCol="0" anchor="ctr"/>
          <a:lstStyle/>
          <a:p>
            <a:pPr indent="0" marL="0">
              <a:buNone/>
            </a:pPr>
            <a:r>
              <a:rPr lang="en-US" sz="3400" b="1" dirty="0">
                <a:solidFill>
                  <a:srgbClr val="F5F5F5"/>
                </a:solidFill>
                <a:latin typeface="Arial Black" pitchFamily="34" charset="0"/>
                <a:ea typeface="Arial Black" pitchFamily="34" charset="-122"/>
                <a:cs typeface="Arial Black" pitchFamily="34" charset="-120"/>
              </a:rPr>
              <a:t>Qué resuelve Power Strike</a:t>
            </a:r>
            <a:endParaRPr lang="en-US" sz="3400" dirty="0"/>
          </a:p>
        </p:txBody>
      </p:sp>
      <p:sp>
        <p:nvSpPr>
          <p:cNvPr id="6" name="Text 4"/>
          <p:cNvSpPr/>
          <p:nvPr/>
        </p:nvSpPr>
        <p:spPr>
          <a:xfrm>
            <a:off x="502920" y="1691640"/>
            <a:ext cx="10972800" cy="548640"/>
          </a:xfrm>
          <a:prstGeom prst="rect">
            <a:avLst/>
          </a:prstGeom>
          <a:noFill/>
          <a:ln/>
        </p:spPr>
        <p:txBody>
          <a:bodyPr wrap="square" rtlCol="0" anchor="ctr"/>
          <a:lstStyle/>
          <a:p>
            <a:pPr indent="0" marL="0">
              <a:buNone/>
            </a:pPr>
            <a:r>
              <a:rPr lang="en-US" sz="1500" dirty="0">
                <a:solidFill>
                  <a:srgbClr val="9AA0AE"/>
                </a:solidFill>
                <a:latin typeface="Arial" pitchFamily="34" charset="0"/>
                <a:ea typeface="Arial" pitchFamily="34" charset="-122"/>
                <a:cs typeface="Arial" pitchFamily="34" charset="-120"/>
              </a:rPr>
              <a:t>Administra usuarios, actividades y asistencias de un gimnasio, con autenticación por roles y una API REST consumida por una SPA.</a:t>
            </a:r>
            <a:endParaRPr lang="en-US" sz="1500" dirty="0"/>
          </a:p>
        </p:txBody>
      </p:sp>
      <p:sp>
        <p:nvSpPr>
          <p:cNvPr id="7" name="Shape 5"/>
          <p:cNvSpPr/>
          <p:nvPr/>
        </p:nvSpPr>
        <p:spPr>
          <a:xfrm>
            <a:off x="502920" y="2468880"/>
            <a:ext cx="2743200" cy="2377440"/>
          </a:xfrm>
          <a:prstGeom prst="roundRect">
            <a:avLst>
              <a:gd name="adj" fmla="val 3077"/>
            </a:avLst>
          </a:prstGeom>
          <a:solidFill>
            <a:srgbClr val="1E2230"/>
          </a:solidFill>
          <a:ln/>
        </p:spPr>
      </p:sp>
      <p:sp>
        <p:nvSpPr>
          <p:cNvPr id="8" name="Shape 6"/>
          <p:cNvSpPr/>
          <p:nvPr/>
        </p:nvSpPr>
        <p:spPr>
          <a:xfrm>
            <a:off x="502920" y="2468880"/>
            <a:ext cx="64008" cy="2377440"/>
          </a:xfrm>
          <a:prstGeom prst="rect">
            <a:avLst/>
          </a:prstGeom>
          <a:solidFill>
            <a:srgbClr val="5B9BFF"/>
          </a:solidFill>
          <a:ln/>
        </p:spPr>
      </p:sp>
      <p:sp>
        <p:nvSpPr>
          <p:cNvPr id="9" name="Text 7"/>
          <p:cNvSpPr/>
          <p:nvPr/>
        </p:nvSpPr>
        <p:spPr>
          <a:xfrm>
            <a:off x="704088" y="2633472"/>
            <a:ext cx="237744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Usuarios</a:t>
            </a:r>
            <a:endParaRPr lang="en-US" sz="1400" dirty="0"/>
          </a:p>
        </p:txBody>
      </p:sp>
      <p:sp>
        <p:nvSpPr>
          <p:cNvPr id="10" name="Text 8"/>
          <p:cNvSpPr/>
          <p:nvPr/>
        </p:nvSpPr>
        <p:spPr>
          <a:xfrm>
            <a:off x="704088" y="2980944"/>
            <a:ext cx="2377440" cy="184708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Alta con nombre, email y DNI validados. Roles ADMIN / TRAINER / CLIENT.</a:t>
            </a:r>
            <a:endParaRPr lang="en-US" sz="1100" dirty="0"/>
          </a:p>
        </p:txBody>
      </p:sp>
      <p:sp>
        <p:nvSpPr>
          <p:cNvPr id="11" name="Shape 9"/>
          <p:cNvSpPr/>
          <p:nvPr/>
        </p:nvSpPr>
        <p:spPr>
          <a:xfrm>
            <a:off x="3429000" y="2468880"/>
            <a:ext cx="2743200" cy="2377440"/>
          </a:xfrm>
          <a:prstGeom prst="roundRect">
            <a:avLst>
              <a:gd name="adj" fmla="val 3077"/>
            </a:avLst>
          </a:prstGeom>
          <a:solidFill>
            <a:srgbClr val="1E2230"/>
          </a:solidFill>
          <a:ln/>
        </p:spPr>
      </p:sp>
      <p:sp>
        <p:nvSpPr>
          <p:cNvPr id="12" name="Shape 10"/>
          <p:cNvSpPr/>
          <p:nvPr/>
        </p:nvSpPr>
        <p:spPr>
          <a:xfrm>
            <a:off x="3429000" y="2468880"/>
            <a:ext cx="64008" cy="2377440"/>
          </a:xfrm>
          <a:prstGeom prst="rect">
            <a:avLst/>
          </a:prstGeom>
          <a:solidFill>
            <a:srgbClr val="FFB100"/>
          </a:solidFill>
          <a:ln/>
        </p:spPr>
      </p:sp>
      <p:sp>
        <p:nvSpPr>
          <p:cNvPr id="13" name="Text 11"/>
          <p:cNvSpPr/>
          <p:nvPr/>
        </p:nvSpPr>
        <p:spPr>
          <a:xfrm>
            <a:off x="3630168" y="2633472"/>
            <a:ext cx="237744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Actividades</a:t>
            </a:r>
            <a:endParaRPr lang="en-US" sz="1400" dirty="0"/>
          </a:p>
        </p:txBody>
      </p:sp>
      <p:sp>
        <p:nvSpPr>
          <p:cNvPr id="14" name="Text 12"/>
          <p:cNvSpPr/>
          <p:nvPr/>
        </p:nvSpPr>
        <p:spPr>
          <a:xfrm>
            <a:off x="3630168" y="2980944"/>
            <a:ext cx="2377440" cy="184708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Crear, editar y consultar: nombre, día, horario y costo mensual.</a:t>
            </a:r>
            <a:endParaRPr lang="en-US" sz="1100" dirty="0"/>
          </a:p>
        </p:txBody>
      </p:sp>
      <p:sp>
        <p:nvSpPr>
          <p:cNvPr id="15" name="Shape 13"/>
          <p:cNvSpPr/>
          <p:nvPr/>
        </p:nvSpPr>
        <p:spPr>
          <a:xfrm>
            <a:off x="6355080" y="2468880"/>
            <a:ext cx="2743200" cy="2377440"/>
          </a:xfrm>
          <a:prstGeom prst="roundRect">
            <a:avLst>
              <a:gd name="adj" fmla="val 3077"/>
            </a:avLst>
          </a:prstGeom>
          <a:solidFill>
            <a:srgbClr val="1E2230"/>
          </a:solidFill>
          <a:ln/>
        </p:spPr>
      </p:sp>
      <p:sp>
        <p:nvSpPr>
          <p:cNvPr id="16" name="Shape 14"/>
          <p:cNvSpPr/>
          <p:nvPr/>
        </p:nvSpPr>
        <p:spPr>
          <a:xfrm>
            <a:off x="6355080" y="2468880"/>
            <a:ext cx="64008" cy="2377440"/>
          </a:xfrm>
          <a:prstGeom prst="rect">
            <a:avLst/>
          </a:prstGeom>
          <a:solidFill>
            <a:srgbClr val="3DD68C"/>
          </a:solidFill>
          <a:ln/>
        </p:spPr>
      </p:sp>
      <p:sp>
        <p:nvSpPr>
          <p:cNvPr id="17" name="Text 15"/>
          <p:cNvSpPr/>
          <p:nvPr/>
        </p:nvSpPr>
        <p:spPr>
          <a:xfrm>
            <a:off x="6556248" y="2633472"/>
            <a:ext cx="237744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Asistencias</a:t>
            </a:r>
            <a:endParaRPr lang="en-US" sz="1400" dirty="0"/>
          </a:p>
        </p:txBody>
      </p:sp>
      <p:sp>
        <p:nvSpPr>
          <p:cNvPr id="18" name="Text 16"/>
          <p:cNvSpPr/>
          <p:nvPr/>
        </p:nvSpPr>
        <p:spPr>
          <a:xfrm>
            <a:off x="6556248" y="2980944"/>
            <a:ext cx="2377440" cy="184708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Registro e historial de asistencia por usuario.</a:t>
            </a:r>
            <a:endParaRPr lang="en-US" sz="1100" dirty="0"/>
          </a:p>
        </p:txBody>
      </p:sp>
      <p:sp>
        <p:nvSpPr>
          <p:cNvPr id="19" name="Shape 17"/>
          <p:cNvSpPr/>
          <p:nvPr/>
        </p:nvSpPr>
        <p:spPr>
          <a:xfrm>
            <a:off x="9281160" y="2468880"/>
            <a:ext cx="2423160" cy="2377440"/>
          </a:xfrm>
          <a:prstGeom prst="roundRect">
            <a:avLst>
              <a:gd name="adj" fmla="val 3077"/>
            </a:avLst>
          </a:prstGeom>
          <a:solidFill>
            <a:srgbClr val="1E2230"/>
          </a:solidFill>
          <a:ln/>
        </p:spPr>
      </p:sp>
      <p:sp>
        <p:nvSpPr>
          <p:cNvPr id="20" name="Shape 18"/>
          <p:cNvSpPr/>
          <p:nvPr/>
        </p:nvSpPr>
        <p:spPr>
          <a:xfrm>
            <a:off x="9281160" y="2468880"/>
            <a:ext cx="64008" cy="2377440"/>
          </a:xfrm>
          <a:prstGeom prst="rect">
            <a:avLst/>
          </a:prstGeom>
          <a:solidFill>
            <a:srgbClr val="FF4B3E"/>
          </a:solidFill>
          <a:ln/>
        </p:spPr>
      </p:sp>
      <p:sp>
        <p:nvSpPr>
          <p:cNvPr id="21" name="Text 19"/>
          <p:cNvSpPr/>
          <p:nvPr/>
        </p:nvSpPr>
        <p:spPr>
          <a:xfrm>
            <a:off x="9482328" y="2633472"/>
            <a:ext cx="205740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Seguridad</a:t>
            </a:r>
            <a:endParaRPr lang="en-US" sz="1400" dirty="0"/>
          </a:p>
        </p:txBody>
      </p:sp>
      <p:sp>
        <p:nvSpPr>
          <p:cNvPr id="22" name="Text 20"/>
          <p:cNvSpPr/>
          <p:nvPr/>
        </p:nvSpPr>
        <p:spPr>
          <a:xfrm>
            <a:off x="9482328" y="2980944"/>
            <a:ext cx="2057400" cy="184708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Login con JWT y autorización por rol en los endpoints.</a:t>
            </a:r>
            <a:endParaRPr lang="en-US" sz="1100" dirty="0"/>
          </a:p>
        </p:txBody>
      </p:sp>
      <p:sp>
        <p:nvSpPr>
          <p:cNvPr id="23" name="Text 21"/>
          <p:cNvSpPr/>
          <p:nvPr/>
        </p:nvSpPr>
        <p:spPr>
          <a:xfrm>
            <a:off x="502920" y="6400800"/>
            <a:ext cx="5486400" cy="274320"/>
          </a:xfrm>
          <a:prstGeom prst="rect">
            <a:avLst/>
          </a:prstGeom>
          <a:noFill/>
          <a:ln/>
        </p:spPr>
        <p:txBody>
          <a:bodyPr wrap="square" rtlCol="0" anchor="ctr"/>
          <a:lstStyle/>
          <a:p>
            <a:pPr indent="0" marL="0">
              <a:buNone/>
            </a:pPr>
            <a:r>
              <a:rPr lang="en-US" sz="1100" dirty="0">
                <a:solidFill>
                  <a:srgbClr val="9AA0AE"/>
                </a:solidFill>
                <a:latin typeface="Arial" pitchFamily="34" charset="0"/>
                <a:ea typeface="Arial" pitchFamily="34" charset="-122"/>
                <a:cs typeface="Arial" pitchFamily="34" charset="-120"/>
              </a:rPr>
              <a:t>Presenta: Mateo</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B9BFF"/>
          </a:solidFill>
          <a:ln/>
        </p:spPr>
      </p:sp>
      <p:sp>
        <p:nvSpPr>
          <p:cNvPr id="3" name="Text 1"/>
          <p:cNvSpPr/>
          <p:nvPr/>
        </p:nvSpPr>
        <p:spPr>
          <a:xfrm>
            <a:off x="10698480" y="6400800"/>
            <a:ext cx="1280160" cy="274320"/>
          </a:xfrm>
          <a:prstGeom prst="rect">
            <a:avLst/>
          </a:prstGeom>
          <a:noFill/>
          <a:ln/>
        </p:spPr>
        <p:txBody>
          <a:bodyPr wrap="square" rtlCol="0" anchor="ctr"/>
          <a:lstStyle/>
          <a:p>
            <a:pPr algn="r" indent="0" marL="0">
              <a:buNone/>
            </a:pPr>
            <a:r>
              <a:rPr lang="en-US" sz="900" dirty="0">
                <a:solidFill>
                  <a:srgbClr val="9AA0AE"/>
                </a:solidFill>
                <a:latin typeface="Arial" pitchFamily="34" charset="0"/>
                <a:ea typeface="Arial" pitchFamily="34" charset="-122"/>
                <a:cs typeface="Arial" pitchFamily="34" charset="-120"/>
              </a:rPr>
              <a:t>04 / 20</a:t>
            </a:r>
            <a:endParaRPr lang="en-US" sz="900" dirty="0"/>
          </a:p>
        </p:txBody>
      </p:sp>
      <p:sp>
        <p:nvSpPr>
          <p:cNvPr id="4" name="Text 2"/>
          <p:cNvSpPr/>
          <p:nvPr/>
        </p:nvSpPr>
        <p:spPr>
          <a:xfrm>
            <a:off x="502920" y="411480"/>
            <a:ext cx="10058400" cy="365760"/>
          </a:xfrm>
          <a:prstGeom prst="rect">
            <a:avLst/>
          </a:prstGeom>
          <a:noFill/>
          <a:ln/>
        </p:spPr>
        <p:txBody>
          <a:bodyPr wrap="square" rtlCol="0" anchor="ctr"/>
          <a:lstStyle/>
          <a:p>
            <a:pPr indent="0" marL="0">
              <a:buNone/>
            </a:pPr>
            <a:r>
              <a:rPr lang="en-US" sz="1300" b="1" spc="200" kern="0" dirty="0">
                <a:solidFill>
                  <a:srgbClr val="5B9BFF"/>
                </a:solidFill>
                <a:latin typeface="Arial Black" pitchFamily="34" charset="0"/>
                <a:ea typeface="Arial Black" pitchFamily="34" charset="-122"/>
                <a:cs typeface="Arial Black" pitchFamily="34" charset="-120"/>
              </a:rPr>
              <a:t>ARQUITECTURA</a:t>
            </a:r>
            <a:endParaRPr lang="en-US" sz="1300" dirty="0"/>
          </a:p>
        </p:txBody>
      </p:sp>
      <p:sp>
        <p:nvSpPr>
          <p:cNvPr id="5" name="Text 3"/>
          <p:cNvSpPr/>
          <p:nvPr/>
        </p:nvSpPr>
        <p:spPr>
          <a:xfrm>
            <a:off x="502920" y="777240"/>
            <a:ext cx="10972800" cy="822960"/>
          </a:xfrm>
          <a:prstGeom prst="rect">
            <a:avLst/>
          </a:prstGeom>
          <a:noFill/>
          <a:ln/>
        </p:spPr>
        <p:txBody>
          <a:bodyPr wrap="square" rtlCol="0" anchor="ctr"/>
          <a:lstStyle/>
          <a:p>
            <a:pPr indent="0" marL="0">
              <a:buNone/>
            </a:pPr>
            <a:r>
              <a:rPr lang="en-US" sz="3400" b="1" dirty="0">
                <a:solidFill>
                  <a:srgbClr val="F5F5F5"/>
                </a:solidFill>
                <a:latin typeface="Arial Black" pitchFamily="34" charset="0"/>
                <a:ea typeface="Arial Black" pitchFamily="34" charset="-122"/>
                <a:cs typeface="Arial Black" pitchFamily="34" charset="-120"/>
              </a:rPr>
              <a:t>Capas y stack tecnológico</a:t>
            </a:r>
            <a:endParaRPr lang="en-US" sz="3400" dirty="0"/>
          </a:p>
        </p:txBody>
      </p:sp>
      <p:sp>
        <p:nvSpPr>
          <p:cNvPr id="6" name="Shape 4"/>
          <p:cNvSpPr/>
          <p:nvPr/>
        </p:nvSpPr>
        <p:spPr>
          <a:xfrm>
            <a:off x="502920" y="2194560"/>
            <a:ext cx="2331720" cy="2194560"/>
          </a:xfrm>
          <a:prstGeom prst="roundRect">
            <a:avLst>
              <a:gd name="adj" fmla="val 3333"/>
            </a:avLst>
          </a:prstGeom>
          <a:solidFill>
            <a:srgbClr val="1E2230"/>
          </a:solidFill>
          <a:ln/>
        </p:spPr>
      </p:sp>
      <p:sp>
        <p:nvSpPr>
          <p:cNvPr id="7" name="Shape 5"/>
          <p:cNvSpPr/>
          <p:nvPr/>
        </p:nvSpPr>
        <p:spPr>
          <a:xfrm>
            <a:off x="502920" y="2194560"/>
            <a:ext cx="64008" cy="2194560"/>
          </a:xfrm>
          <a:prstGeom prst="rect">
            <a:avLst/>
          </a:prstGeom>
          <a:solidFill>
            <a:srgbClr val="5B9BFF"/>
          </a:solidFill>
          <a:ln/>
        </p:spPr>
      </p:sp>
      <p:sp>
        <p:nvSpPr>
          <p:cNvPr id="8" name="Text 6"/>
          <p:cNvSpPr/>
          <p:nvPr/>
        </p:nvSpPr>
        <p:spPr>
          <a:xfrm>
            <a:off x="704088" y="2359152"/>
            <a:ext cx="196596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Vue 3 SPA</a:t>
            </a:r>
            <a:endParaRPr lang="en-US" sz="1400" dirty="0"/>
          </a:p>
        </p:txBody>
      </p:sp>
      <p:sp>
        <p:nvSpPr>
          <p:cNvPr id="9" name="Text 7"/>
          <p:cNvSpPr/>
          <p:nvPr/>
        </p:nvSpPr>
        <p:spPr>
          <a:xfrm>
            <a:off x="704088" y="2706624"/>
            <a:ext cx="1965960" cy="166420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Pinia · Router · Vite</a:t>
            </a:r>
            <a:endParaRPr lang="en-US" sz="1100" dirty="0"/>
          </a:p>
        </p:txBody>
      </p:sp>
      <p:sp>
        <p:nvSpPr>
          <p:cNvPr id="10" name="Text 8"/>
          <p:cNvSpPr/>
          <p:nvPr/>
        </p:nvSpPr>
        <p:spPr>
          <a:xfrm>
            <a:off x="2788920" y="2834640"/>
            <a:ext cx="457200" cy="731520"/>
          </a:xfrm>
          <a:prstGeom prst="rect">
            <a:avLst/>
          </a:prstGeom>
          <a:noFill/>
          <a:ln/>
        </p:spPr>
        <p:txBody>
          <a:bodyPr wrap="square" rtlCol="0" anchor="ctr"/>
          <a:lstStyle/>
          <a:p>
            <a:pPr algn="ctr" indent="0" marL="0">
              <a:buNone/>
            </a:pPr>
            <a:r>
              <a:rPr lang="en-US" sz="3000" b="1" dirty="0">
                <a:solidFill>
                  <a:srgbClr val="FFB100"/>
                </a:solidFill>
                <a:latin typeface="Arial Black" pitchFamily="34" charset="0"/>
                <a:ea typeface="Arial Black" pitchFamily="34" charset="-122"/>
                <a:cs typeface="Arial Black" pitchFamily="34" charset="-120"/>
              </a:rPr>
              <a:t>→</a:t>
            </a:r>
            <a:endParaRPr lang="en-US" sz="3000" dirty="0"/>
          </a:p>
        </p:txBody>
      </p:sp>
      <p:sp>
        <p:nvSpPr>
          <p:cNvPr id="11" name="Shape 9"/>
          <p:cNvSpPr/>
          <p:nvPr/>
        </p:nvSpPr>
        <p:spPr>
          <a:xfrm>
            <a:off x="3200400" y="2194560"/>
            <a:ext cx="2331720" cy="2194560"/>
          </a:xfrm>
          <a:prstGeom prst="roundRect">
            <a:avLst>
              <a:gd name="adj" fmla="val 3333"/>
            </a:avLst>
          </a:prstGeom>
          <a:solidFill>
            <a:srgbClr val="1E2230"/>
          </a:solidFill>
          <a:ln/>
        </p:spPr>
      </p:sp>
      <p:sp>
        <p:nvSpPr>
          <p:cNvPr id="12" name="Shape 10"/>
          <p:cNvSpPr/>
          <p:nvPr/>
        </p:nvSpPr>
        <p:spPr>
          <a:xfrm>
            <a:off x="3200400" y="2194560"/>
            <a:ext cx="64008" cy="2194560"/>
          </a:xfrm>
          <a:prstGeom prst="rect">
            <a:avLst/>
          </a:prstGeom>
          <a:solidFill>
            <a:srgbClr val="FF4B3E"/>
          </a:solidFill>
          <a:ln/>
        </p:spPr>
      </p:sp>
      <p:sp>
        <p:nvSpPr>
          <p:cNvPr id="13" name="Text 11"/>
          <p:cNvSpPr/>
          <p:nvPr/>
        </p:nvSpPr>
        <p:spPr>
          <a:xfrm>
            <a:off x="3401568" y="2359152"/>
            <a:ext cx="196596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API REST</a:t>
            </a:r>
            <a:endParaRPr lang="en-US" sz="1400" dirty="0"/>
          </a:p>
        </p:txBody>
      </p:sp>
      <p:sp>
        <p:nvSpPr>
          <p:cNvPr id="14" name="Text 12"/>
          <p:cNvSpPr/>
          <p:nvPr/>
        </p:nvSpPr>
        <p:spPr>
          <a:xfrm>
            <a:off x="3401568" y="2706624"/>
            <a:ext cx="1965960" cy="166420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Spring Boot 3.2 · JWT</a:t>
            </a:r>
            <a:endParaRPr lang="en-US" sz="1100" dirty="0"/>
          </a:p>
        </p:txBody>
      </p:sp>
      <p:sp>
        <p:nvSpPr>
          <p:cNvPr id="15" name="Text 13"/>
          <p:cNvSpPr/>
          <p:nvPr/>
        </p:nvSpPr>
        <p:spPr>
          <a:xfrm>
            <a:off x="5486400" y="2834640"/>
            <a:ext cx="457200" cy="731520"/>
          </a:xfrm>
          <a:prstGeom prst="rect">
            <a:avLst/>
          </a:prstGeom>
          <a:noFill/>
          <a:ln/>
        </p:spPr>
        <p:txBody>
          <a:bodyPr wrap="square" rtlCol="0" anchor="ctr"/>
          <a:lstStyle/>
          <a:p>
            <a:pPr algn="ctr" indent="0" marL="0">
              <a:buNone/>
            </a:pPr>
            <a:r>
              <a:rPr lang="en-US" sz="3000" b="1" dirty="0">
                <a:solidFill>
                  <a:srgbClr val="FFB100"/>
                </a:solidFill>
                <a:latin typeface="Arial Black" pitchFamily="34" charset="0"/>
                <a:ea typeface="Arial Black" pitchFamily="34" charset="-122"/>
                <a:cs typeface="Arial Black" pitchFamily="34" charset="-120"/>
              </a:rPr>
              <a:t>→</a:t>
            </a:r>
            <a:endParaRPr lang="en-US" sz="3000" dirty="0"/>
          </a:p>
        </p:txBody>
      </p:sp>
      <p:sp>
        <p:nvSpPr>
          <p:cNvPr id="16" name="Shape 14"/>
          <p:cNvSpPr/>
          <p:nvPr/>
        </p:nvSpPr>
        <p:spPr>
          <a:xfrm>
            <a:off x="5897880" y="2194560"/>
            <a:ext cx="2331720" cy="2194560"/>
          </a:xfrm>
          <a:prstGeom prst="roundRect">
            <a:avLst>
              <a:gd name="adj" fmla="val 3333"/>
            </a:avLst>
          </a:prstGeom>
          <a:solidFill>
            <a:srgbClr val="1E2230"/>
          </a:solidFill>
          <a:ln/>
        </p:spPr>
      </p:sp>
      <p:sp>
        <p:nvSpPr>
          <p:cNvPr id="17" name="Shape 15"/>
          <p:cNvSpPr/>
          <p:nvPr/>
        </p:nvSpPr>
        <p:spPr>
          <a:xfrm>
            <a:off x="5897880" y="2194560"/>
            <a:ext cx="64008" cy="2194560"/>
          </a:xfrm>
          <a:prstGeom prst="rect">
            <a:avLst/>
          </a:prstGeom>
          <a:solidFill>
            <a:srgbClr val="FFB100"/>
          </a:solidFill>
          <a:ln/>
        </p:spPr>
      </p:sp>
      <p:sp>
        <p:nvSpPr>
          <p:cNvPr id="18" name="Text 16"/>
          <p:cNvSpPr/>
          <p:nvPr/>
        </p:nvSpPr>
        <p:spPr>
          <a:xfrm>
            <a:off x="6099048" y="2359152"/>
            <a:ext cx="196596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Servicios</a:t>
            </a:r>
            <a:endParaRPr lang="en-US" sz="1400" dirty="0"/>
          </a:p>
        </p:txBody>
      </p:sp>
      <p:sp>
        <p:nvSpPr>
          <p:cNvPr id="19" name="Text 17"/>
          <p:cNvSpPr/>
          <p:nvPr/>
        </p:nvSpPr>
        <p:spPr>
          <a:xfrm>
            <a:off x="6099048" y="2706624"/>
            <a:ext cx="1965960" cy="166420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Lógica de negocio</a:t>
            </a:r>
            <a:endParaRPr lang="en-US" sz="1100" dirty="0"/>
          </a:p>
        </p:txBody>
      </p:sp>
      <p:sp>
        <p:nvSpPr>
          <p:cNvPr id="20" name="Text 18"/>
          <p:cNvSpPr/>
          <p:nvPr/>
        </p:nvSpPr>
        <p:spPr>
          <a:xfrm>
            <a:off x="8183880" y="2834640"/>
            <a:ext cx="457200" cy="731520"/>
          </a:xfrm>
          <a:prstGeom prst="rect">
            <a:avLst/>
          </a:prstGeom>
          <a:noFill/>
          <a:ln/>
        </p:spPr>
        <p:txBody>
          <a:bodyPr wrap="square" rtlCol="0" anchor="ctr"/>
          <a:lstStyle/>
          <a:p>
            <a:pPr algn="ctr" indent="0" marL="0">
              <a:buNone/>
            </a:pPr>
            <a:r>
              <a:rPr lang="en-US" sz="3000" b="1" dirty="0">
                <a:solidFill>
                  <a:srgbClr val="FFB100"/>
                </a:solidFill>
                <a:latin typeface="Arial Black" pitchFamily="34" charset="0"/>
                <a:ea typeface="Arial Black" pitchFamily="34" charset="-122"/>
                <a:cs typeface="Arial Black" pitchFamily="34" charset="-120"/>
              </a:rPr>
              <a:t>→</a:t>
            </a:r>
            <a:endParaRPr lang="en-US" sz="3000" dirty="0"/>
          </a:p>
        </p:txBody>
      </p:sp>
      <p:sp>
        <p:nvSpPr>
          <p:cNvPr id="21" name="Shape 19"/>
          <p:cNvSpPr/>
          <p:nvPr/>
        </p:nvSpPr>
        <p:spPr>
          <a:xfrm>
            <a:off x="8595360" y="2194560"/>
            <a:ext cx="2331720" cy="2194560"/>
          </a:xfrm>
          <a:prstGeom prst="roundRect">
            <a:avLst>
              <a:gd name="adj" fmla="val 3333"/>
            </a:avLst>
          </a:prstGeom>
          <a:solidFill>
            <a:srgbClr val="1E2230"/>
          </a:solidFill>
          <a:ln/>
        </p:spPr>
      </p:sp>
      <p:sp>
        <p:nvSpPr>
          <p:cNvPr id="22" name="Shape 20"/>
          <p:cNvSpPr/>
          <p:nvPr/>
        </p:nvSpPr>
        <p:spPr>
          <a:xfrm>
            <a:off x="8595360" y="2194560"/>
            <a:ext cx="64008" cy="2194560"/>
          </a:xfrm>
          <a:prstGeom prst="rect">
            <a:avLst/>
          </a:prstGeom>
          <a:solidFill>
            <a:srgbClr val="3DD68C"/>
          </a:solidFill>
          <a:ln/>
        </p:spPr>
      </p:sp>
      <p:sp>
        <p:nvSpPr>
          <p:cNvPr id="23" name="Text 21"/>
          <p:cNvSpPr/>
          <p:nvPr/>
        </p:nvSpPr>
        <p:spPr>
          <a:xfrm>
            <a:off x="8796528" y="2359152"/>
            <a:ext cx="196596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Datos</a:t>
            </a:r>
            <a:endParaRPr lang="en-US" sz="1400" dirty="0"/>
          </a:p>
        </p:txBody>
      </p:sp>
      <p:sp>
        <p:nvSpPr>
          <p:cNvPr id="24" name="Text 22"/>
          <p:cNvSpPr/>
          <p:nvPr/>
        </p:nvSpPr>
        <p:spPr>
          <a:xfrm>
            <a:off x="8796528" y="2706624"/>
            <a:ext cx="1965960" cy="166420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Spring Data · PostgreSQL</a:t>
            </a:r>
            <a:endParaRPr lang="en-US" sz="1100" dirty="0"/>
          </a:p>
        </p:txBody>
      </p:sp>
      <p:sp>
        <p:nvSpPr>
          <p:cNvPr id="25" name="Text 23"/>
          <p:cNvSpPr/>
          <p:nvPr/>
        </p:nvSpPr>
        <p:spPr>
          <a:xfrm>
            <a:off x="502920" y="5897880"/>
            <a:ext cx="11155680" cy="365760"/>
          </a:xfrm>
          <a:prstGeom prst="rect">
            <a:avLst/>
          </a:prstGeom>
          <a:noFill/>
          <a:ln/>
        </p:spPr>
        <p:txBody>
          <a:bodyPr wrap="square" rtlCol="0" anchor="ctr"/>
          <a:lstStyle/>
          <a:p>
            <a:pPr indent="0" marL="0">
              <a:buNone/>
            </a:pPr>
            <a:r>
              <a:rPr lang="en-US" sz="1300" i="1" dirty="0">
                <a:solidFill>
                  <a:srgbClr val="F5F5F5"/>
                </a:solidFill>
                <a:latin typeface="Arial" pitchFamily="34" charset="0"/>
                <a:ea typeface="Arial" pitchFamily="34" charset="-122"/>
                <a:cs typeface="Arial" pitchFamily="34" charset="-120"/>
              </a:rPr>
              <a:t>Arquitectura en capas (controller → service → repository): cada capa se testea de forma aislada.</a:t>
            </a:r>
            <a:endParaRPr lang="en-US" sz="1300" dirty="0"/>
          </a:p>
        </p:txBody>
      </p:sp>
      <p:sp>
        <p:nvSpPr>
          <p:cNvPr id="26" name="Text 24"/>
          <p:cNvSpPr/>
          <p:nvPr/>
        </p:nvSpPr>
        <p:spPr>
          <a:xfrm>
            <a:off x="502920" y="6400800"/>
            <a:ext cx="5486400" cy="274320"/>
          </a:xfrm>
          <a:prstGeom prst="rect">
            <a:avLst/>
          </a:prstGeom>
          <a:noFill/>
          <a:ln/>
        </p:spPr>
        <p:txBody>
          <a:bodyPr wrap="square" rtlCol="0" anchor="ctr"/>
          <a:lstStyle/>
          <a:p>
            <a:pPr indent="0" marL="0">
              <a:buNone/>
            </a:pPr>
            <a:r>
              <a:rPr lang="en-US" sz="1100" dirty="0">
                <a:solidFill>
                  <a:srgbClr val="9AA0AE"/>
                </a:solidFill>
                <a:latin typeface="Arial" pitchFamily="34" charset="0"/>
                <a:ea typeface="Arial" pitchFamily="34" charset="-122"/>
                <a:cs typeface="Arial" pitchFamily="34" charset="-120"/>
              </a:rPr>
              <a:t>Presenta: Martín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B100"/>
          </a:solidFill>
          <a:ln/>
        </p:spPr>
      </p:sp>
      <p:sp>
        <p:nvSpPr>
          <p:cNvPr id="3" name="Text 1"/>
          <p:cNvSpPr/>
          <p:nvPr/>
        </p:nvSpPr>
        <p:spPr>
          <a:xfrm>
            <a:off x="10698480" y="6400800"/>
            <a:ext cx="1280160" cy="274320"/>
          </a:xfrm>
          <a:prstGeom prst="rect">
            <a:avLst/>
          </a:prstGeom>
          <a:noFill/>
          <a:ln/>
        </p:spPr>
        <p:txBody>
          <a:bodyPr wrap="square" rtlCol="0" anchor="ctr"/>
          <a:lstStyle/>
          <a:p>
            <a:pPr algn="r" indent="0" marL="0">
              <a:buNone/>
            </a:pPr>
            <a:r>
              <a:rPr lang="en-US" sz="900" dirty="0">
                <a:solidFill>
                  <a:srgbClr val="9AA0AE"/>
                </a:solidFill>
                <a:latin typeface="Arial" pitchFamily="34" charset="0"/>
                <a:ea typeface="Arial" pitchFamily="34" charset="-122"/>
                <a:cs typeface="Arial" pitchFamily="34" charset="-120"/>
              </a:rPr>
              <a:t>05 / 20</a:t>
            </a:r>
            <a:endParaRPr lang="en-US" sz="900" dirty="0"/>
          </a:p>
        </p:txBody>
      </p:sp>
      <p:sp>
        <p:nvSpPr>
          <p:cNvPr id="4" name="Text 2"/>
          <p:cNvSpPr/>
          <p:nvPr/>
        </p:nvSpPr>
        <p:spPr>
          <a:xfrm>
            <a:off x="502920" y="411480"/>
            <a:ext cx="10058400" cy="365760"/>
          </a:xfrm>
          <a:prstGeom prst="rect">
            <a:avLst/>
          </a:prstGeom>
          <a:noFill/>
          <a:ln/>
        </p:spPr>
        <p:txBody>
          <a:bodyPr wrap="square" rtlCol="0" anchor="ctr"/>
          <a:lstStyle/>
          <a:p>
            <a:pPr indent="0" marL="0">
              <a:buNone/>
            </a:pPr>
            <a:r>
              <a:rPr lang="en-US" sz="1300" b="1" spc="200" kern="0" dirty="0">
                <a:solidFill>
                  <a:srgbClr val="FFB100"/>
                </a:solidFill>
                <a:latin typeface="Arial Black" pitchFamily="34" charset="0"/>
                <a:ea typeface="Arial Black" pitchFamily="34" charset="-122"/>
                <a:cs typeface="Arial Black" pitchFamily="34" charset="-120"/>
              </a:rPr>
              <a:t>PROCESO DE CALIDAD</a:t>
            </a:r>
            <a:endParaRPr lang="en-US" sz="1300" dirty="0"/>
          </a:p>
        </p:txBody>
      </p:sp>
      <p:sp>
        <p:nvSpPr>
          <p:cNvPr id="5" name="Text 3"/>
          <p:cNvSpPr/>
          <p:nvPr/>
        </p:nvSpPr>
        <p:spPr>
          <a:xfrm>
            <a:off x="502920" y="777240"/>
            <a:ext cx="10972800" cy="822960"/>
          </a:xfrm>
          <a:prstGeom prst="rect">
            <a:avLst/>
          </a:prstGeom>
          <a:noFill/>
          <a:ln/>
        </p:spPr>
        <p:txBody>
          <a:bodyPr wrap="square" rtlCol="0" anchor="ctr"/>
          <a:lstStyle/>
          <a:p>
            <a:pPr indent="0" marL="0">
              <a:buNone/>
            </a:pPr>
            <a:r>
              <a:rPr lang="en-US" sz="3400" b="1" dirty="0">
                <a:solidFill>
                  <a:srgbClr val="F5F5F5"/>
                </a:solidFill>
                <a:latin typeface="Arial Black" pitchFamily="34" charset="0"/>
                <a:ea typeface="Arial Black" pitchFamily="34" charset="-122"/>
                <a:cs typeface="Arial Black" pitchFamily="34" charset="-120"/>
              </a:rPr>
              <a:t>Plan SQA</a:t>
            </a:r>
            <a:endParaRPr lang="en-US" sz="3400" dirty="0"/>
          </a:p>
        </p:txBody>
      </p:sp>
      <p:sp>
        <p:nvSpPr>
          <p:cNvPr id="6" name="Shape 4"/>
          <p:cNvSpPr/>
          <p:nvPr/>
        </p:nvSpPr>
        <p:spPr>
          <a:xfrm>
            <a:off x="502920" y="1828800"/>
            <a:ext cx="3611880" cy="3200400"/>
          </a:xfrm>
          <a:prstGeom prst="roundRect">
            <a:avLst>
              <a:gd name="adj" fmla="val 2286"/>
            </a:avLst>
          </a:prstGeom>
          <a:solidFill>
            <a:srgbClr val="1E2230"/>
          </a:solidFill>
          <a:ln/>
        </p:spPr>
      </p:sp>
      <p:sp>
        <p:nvSpPr>
          <p:cNvPr id="7" name="Shape 5"/>
          <p:cNvSpPr/>
          <p:nvPr/>
        </p:nvSpPr>
        <p:spPr>
          <a:xfrm>
            <a:off x="502920" y="1828800"/>
            <a:ext cx="64008" cy="3200400"/>
          </a:xfrm>
          <a:prstGeom prst="rect">
            <a:avLst/>
          </a:prstGeom>
          <a:solidFill>
            <a:srgbClr val="FFB100"/>
          </a:solidFill>
          <a:ln/>
        </p:spPr>
      </p:sp>
      <p:sp>
        <p:nvSpPr>
          <p:cNvPr id="8" name="Text 6"/>
          <p:cNvSpPr/>
          <p:nvPr/>
        </p:nvSpPr>
        <p:spPr>
          <a:xfrm>
            <a:off x="704088" y="1993392"/>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Qué controlamos</a:t>
            </a:r>
            <a:endParaRPr lang="en-US" sz="1400" dirty="0"/>
          </a:p>
        </p:txBody>
      </p:sp>
      <p:sp>
        <p:nvSpPr>
          <p:cNvPr id="9" name="Text 7"/>
          <p:cNvSpPr/>
          <p:nvPr/>
        </p:nvSpPr>
        <p:spPr>
          <a:xfrm>
            <a:off x="704088" y="2340864"/>
            <a:ext cx="3246120" cy="267004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Trazabilidad requerimiento→código→test, cobertura, complejidad y mantenibilidad, y gestión de defectos como Issues.</a:t>
            </a:r>
            <a:endParaRPr lang="en-US" sz="1100" dirty="0"/>
          </a:p>
        </p:txBody>
      </p:sp>
      <p:sp>
        <p:nvSpPr>
          <p:cNvPr id="10" name="Shape 8"/>
          <p:cNvSpPr/>
          <p:nvPr/>
        </p:nvSpPr>
        <p:spPr>
          <a:xfrm>
            <a:off x="4297680" y="1828800"/>
            <a:ext cx="3611880" cy="3200400"/>
          </a:xfrm>
          <a:prstGeom prst="roundRect">
            <a:avLst>
              <a:gd name="adj" fmla="val 2286"/>
            </a:avLst>
          </a:prstGeom>
          <a:solidFill>
            <a:srgbClr val="1E2230"/>
          </a:solidFill>
          <a:ln/>
        </p:spPr>
      </p:sp>
      <p:sp>
        <p:nvSpPr>
          <p:cNvPr id="11" name="Shape 9"/>
          <p:cNvSpPr/>
          <p:nvPr/>
        </p:nvSpPr>
        <p:spPr>
          <a:xfrm>
            <a:off x="4297680" y="1828800"/>
            <a:ext cx="64008" cy="3200400"/>
          </a:xfrm>
          <a:prstGeom prst="rect">
            <a:avLst/>
          </a:prstGeom>
          <a:solidFill>
            <a:srgbClr val="5B9BFF"/>
          </a:solidFill>
          <a:ln/>
        </p:spPr>
      </p:sp>
      <p:sp>
        <p:nvSpPr>
          <p:cNvPr id="12" name="Text 10"/>
          <p:cNvSpPr/>
          <p:nvPr/>
        </p:nvSpPr>
        <p:spPr>
          <a:xfrm>
            <a:off x="4498848" y="1993392"/>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Cómo medimos</a:t>
            </a:r>
            <a:endParaRPr lang="en-US" sz="1400" dirty="0"/>
          </a:p>
        </p:txBody>
      </p:sp>
      <p:sp>
        <p:nvSpPr>
          <p:cNvPr id="13" name="Text 11"/>
          <p:cNvSpPr/>
          <p:nvPr/>
        </p:nvSpPr>
        <p:spPr>
          <a:xfrm>
            <a:off x="4498848" y="2340864"/>
            <a:ext cx="3246120" cy="267004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En cada push: tests + cobertura + linters (CI). Por hito: revisión de métricas y actualización del plan.</a:t>
            </a:r>
            <a:endParaRPr lang="en-US" sz="1100" dirty="0"/>
          </a:p>
        </p:txBody>
      </p:sp>
      <p:sp>
        <p:nvSpPr>
          <p:cNvPr id="14" name="Shape 12"/>
          <p:cNvSpPr/>
          <p:nvPr/>
        </p:nvSpPr>
        <p:spPr>
          <a:xfrm>
            <a:off x="8092440" y="1828800"/>
            <a:ext cx="3611880" cy="3200400"/>
          </a:xfrm>
          <a:prstGeom prst="roundRect">
            <a:avLst>
              <a:gd name="adj" fmla="val 2286"/>
            </a:avLst>
          </a:prstGeom>
          <a:solidFill>
            <a:srgbClr val="1E2230"/>
          </a:solidFill>
          <a:ln/>
        </p:spPr>
      </p:sp>
      <p:sp>
        <p:nvSpPr>
          <p:cNvPr id="15" name="Shape 13"/>
          <p:cNvSpPr/>
          <p:nvPr/>
        </p:nvSpPr>
        <p:spPr>
          <a:xfrm>
            <a:off x="8092440" y="1828800"/>
            <a:ext cx="64008" cy="3200400"/>
          </a:xfrm>
          <a:prstGeom prst="rect">
            <a:avLst/>
          </a:prstGeom>
          <a:solidFill>
            <a:srgbClr val="3DD68C"/>
          </a:solidFill>
          <a:ln/>
        </p:spPr>
      </p:sp>
      <p:sp>
        <p:nvSpPr>
          <p:cNvPr id="16" name="Text 14"/>
          <p:cNvSpPr/>
          <p:nvPr/>
        </p:nvSpPr>
        <p:spPr>
          <a:xfrm>
            <a:off x="8293608" y="1993392"/>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Umbrales</a:t>
            </a:r>
            <a:endParaRPr lang="en-US" sz="1400" dirty="0"/>
          </a:p>
        </p:txBody>
      </p:sp>
      <p:sp>
        <p:nvSpPr>
          <p:cNvPr id="17" name="Text 15"/>
          <p:cNvSpPr/>
          <p:nvPr/>
        </p:nvSpPr>
        <p:spPr>
          <a:xfrm>
            <a:off x="8293608" y="2340864"/>
            <a:ext cx="3246120" cy="267004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Cobertura ≥ 60% en módulos nuevos · CC ≤ 10 · 100% tests en verde · 0 críticos abiertos al mergear.</a:t>
            </a:r>
            <a:endParaRPr lang="en-US" sz="1100" dirty="0"/>
          </a:p>
        </p:txBody>
      </p:sp>
      <p:sp>
        <p:nvSpPr>
          <p:cNvPr id="18" name="Text 16"/>
          <p:cNvSpPr/>
          <p:nvPr/>
        </p:nvSpPr>
        <p:spPr>
          <a:xfrm>
            <a:off x="502920" y="6400800"/>
            <a:ext cx="5486400" cy="274320"/>
          </a:xfrm>
          <a:prstGeom prst="rect">
            <a:avLst/>
          </a:prstGeom>
          <a:noFill/>
          <a:ln/>
        </p:spPr>
        <p:txBody>
          <a:bodyPr wrap="square" rtlCol="0" anchor="ctr"/>
          <a:lstStyle/>
          <a:p>
            <a:pPr indent="0" marL="0">
              <a:buNone/>
            </a:pPr>
            <a:r>
              <a:rPr lang="en-US" sz="1100" dirty="0">
                <a:solidFill>
                  <a:srgbClr val="9AA0AE"/>
                </a:solidFill>
                <a:latin typeface="Arial" pitchFamily="34" charset="0"/>
                <a:ea typeface="Arial" pitchFamily="34" charset="-122"/>
                <a:cs typeface="Arial" pitchFamily="34" charset="-120"/>
              </a:rPr>
              <a:t>Presenta: Fabricio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B100"/>
          </a:solidFill>
          <a:ln/>
        </p:spPr>
      </p:sp>
      <p:sp>
        <p:nvSpPr>
          <p:cNvPr id="3" name="Text 1"/>
          <p:cNvSpPr/>
          <p:nvPr/>
        </p:nvSpPr>
        <p:spPr>
          <a:xfrm>
            <a:off x="10698480" y="6400800"/>
            <a:ext cx="1280160" cy="274320"/>
          </a:xfrm>
          <a:prstGeom prst="rect">
            <a:avLst/>
          </a:prstGeom>
          <a:noFill/>
          <a:ln/>
        </p:spPr>
        <p:txBody>
          <a:bodyPr wrap="square" rtlCol="0" anchor="ctr"/>
          <a:lstStyle/>
          <a:p>
            <a:pPr algn="r" indent="0" marL="0">
              <a:buNone/>
            </a:pPr>
            <a:r>
              <a:rPr lang="en-US" sz="900" dirty="0">
                <a:solidFill>
                  <a:srgbClr val="9AA0AE"/>
                </a:solidFill>
                <a:latin typeface="Arial" pitchFamily="34" charset="0"/>
                <a:ea typeface="Arial" pitchFamily="34" charset="-122"/>
                <a:cs typeface="Arial" pitchFamily="34" charset="-120"/>
              </a:rPr>
              <a:t>06 / 20</a:t>
            </a:r>
            <a:endParaRPr lang="en-US" sz="900" dirty="0"/>
          </a:p>
        </p:txBody>
      </p:sp>
      <p:sp>
        <p:nvSpPr>
          <p:cNvPr id="4" name="Text 2"/>
          <p:cNvSpPr/>
          <p:nvPr/>
        </p:nvSpPr>
        <p:spPr>
          <a:xfrm>
            <a:off x="502920" y="411480"/>
            <a:ext cx="10058400" cy="365760"/>
          </a:xfrm>
          <a:prstGeom prst="rect">
            <a:avLst/>
          </a:prstGeom>
          <a:noFill/>
          <a:ln/>
        </p:spPr>
        <p:txBody>
          <a:bodyPr wrap="square" rtlCol="0" anchor="ctr"/>
          <a:lstStyle/>
          <a:p>
            <a:pPr indent="0" marL="0">
              <a:buNone/>
            </a:pPr>
            <a:r>
              <a:rPr lang="en-US" sz="1300" b="1" spc="200" kern="0" dirty="0">
                <a:solidFill>
                  <a:srgbClr val="FFB100"/>
                </a:solidFill>
                <a:latin typeface="Arial Black" pitchFamily="34" charset="0"/>
                <a:ea typeface="Arial Black" pitchFamily="34" charset="-122"/>
                <a:cs typeface="Arial Black" pitchFamily="34" charset="-120"/>
              </a:rPr>
              <a:t>TRAZABILIDAD</a:t>
            </a:r>
            <a:endParaRPr lang="en-US" sz="1300" dirty="0"/>
          </a:p>
        </p:txBody>
      </p:sp>
      <p:sp>
        <p:nvSpPr>
          <p:cNvPr id="5" name="Text 3"/>
          <p:cNvSpPr/>
          <p:nvPr/>
        </p:nvSpPr>
        <p:spPr>
          <a:xfrm>
            <a:off x="502920" y="777240"/>
            <a:ext cx="10972800" cy="822960"/>
          </a:xfrm>
          <a:prstGeom prst="rect">
            <a:avLst/>
          </a:prstGeom>
          <a:noFill/>
          <a:ln/>
        </p:spPr>
        <p:txBody>
          <a:bodyPr wrap="square" rtlCol="0" anchor="ctr"/>
          <a:lstStyle/>
          <a:p>
            <a:pPr indent="0" marL="0">
              <a:buNone/>
            </a:pPr>
            <a:r>
              <a:rPr lang="en-US" sz="3400" b="1" dirty="0">
                <a:solidFill>
                  <a:srgbClr val="F5F5F5"/>
                </a:solidFill>
                <a:latin typeface="Arial Black" pitchFamily="34" charset="0"/>
                <a:ea typeface="Arial Black" pitchFamily="34" charset="-122"/>
                <a:cs typeface="Arial Black" pitchFamily="34" charset="-120"/>
              </a:rPr>
              <a:t>RTM · Requerimientos funcionales</a:t>
            </a:r>
            <a:endParaRPr lang="en-US" sz="3400" dirty="0"/>
          </a:p>
        </p:txBody>
      </p:sp>
      <p:sp>
        <p:nvSpPr>
          <p:cNvPr id="6" name="Shape 4"/>
          <p:cNvSpPr/>
          <p:nvPr/>
        </p:nvSpPr>
        <p:spPr>
          <a:xfrm>
            <a:off x="502920" y="1783080"/>
            <a:ext cx="11201400" cy="713232"/>
          </a:xfrm>
          <a:prstGeom prst="roundRect">
            <a:avLst>
              <a:gd name="adj" fmla="val 7692"/>
            </a:avLst>
          </a:prstGeom>
          <a:solidFill>
            <a:srgbClr val="1E2230"/>
          </a:solidFill>
          <a:ln/>
        </p:spPr>
      </p:sp>
      <p:sp>
        <p:nvSpPr>
          <p:cNvPr id="7" name="Text 5"/>
          <p:cNvSpPr/>
          <p:nvPr/>
        </p:nvSpPr>
        <p:spPr>
          <a:xfrm>
            <a:off x="685800" y="1783080"/>
            <a:ext cx="1645920" cy="713232"/>
          </a:xfrm>
          <a:prstGeom prst="rect">
            <a:avLst/>
          </a:prstGeom>
          <a:noFill/>
          <a:ln/>
        </p:spPr>
        <p:txBody>
          <a:bodyPr wrap="square" rtlCol="0" anchor="ctr"/>
          <a:lstStyle/>
          <a:p>
            <a:pPr indent="0" marL="0">
              <a:buNone/>
            </a:pPr>
            <a:r>
              <a:rPr lang="en-US" sz="1500" b="1" dirty="0">
                <a:solidFill>
                  <a:srgbClr val="FFB100"/>
                </a:solidFill>
                <a:latin typeface="Arial Black" pitchFamily="34" charset="0"/>
                <a:ea typeface="Arial Black" pitchFamily="34" charset="-122"/>
                <a:cs typeface="Arial Black" pitchFamily="34" charset="-120"/>
              </a:rPr>
              <a:t>REQ-F01</a:t>
            </a:r>
            <a:endParaRPr lang="en-US" sz="1500" dirty="0"/>
          </a:p>
        </p:txBody>
      </p:sp>
      <p:sp>
        <p:nvSpPr>
          <p:cNvPr id="8" name="Text 6"/>
          <p:cNvSpPr/>
          <p:nvPr/>
        </p:nvSpPr>
        <p:spPr>
          <a:xfrm>
            <a:off x="2468880" y="1783080"/>
            <a:ext cx="3840480" cy="713232"/>
          </a:xfrm>
          <a:prstGeom prst="rect">
            <a:avLst/>
          </a:prstGeom>
          <a:noFill/>
          <a:ln/>
        </p:spPr>
        <p:txBody>
          <a:bodyPr wrap="square" rtlCol="0" anchor="ctr"/>
          <a:lstStyle/>
          <a:p>
            <a:pPr indent="0" marL="0">
              <a:buNone/>
            </a:pPr>
            <a:r>
              <a:rPr lang="en-US" sz="1400" dirty="0">
                <a:solidFill>
                  <a:srgbClr val="F5F5F5"/>
                </a:solidFill>
                <a:latin typeface="Arial" pitchFamily="34" charset="0"/>
                <a:ea typeface="Arial" pitchFamily="34" charset="-122"/>
                <a:cs typeface="Arial" pitchFamily="34" charset="-120"/>
              </a:rPr>
              <a:t>Registrar usuarios</a:t>
            </a:r>
            <a:endParaRPr lang="en-US" sz="1400" dirty="0"/>
          </a:p>
        </p:txBody>
      </p:sp>
      <p:sp>
        <p:nvSpPr>
          <p:cNvPr id="9" name="Text 7"/>
          <p:cNvSpPr/>
          <p:nvPr/>
        </p:nvSpPr>
        <p:spPr>
          <a:xfrm>
            <a:off x="6400800" y="1783080"/>
            <a:ext cx="4572000" cy="713232"/>
          </a:xfrm>
          <a:prstGeom prst="rect">
            <a:avLst/>
          </a:prstGeom>
          <a:noFill/>
          <a:ln/>
        </p:spPr>
        <p:txBody>
          <a:bodyPr wrap="square" rtlCol="0" anchor="ctr"/>
          <a:lstStyle/>
          <a:p>
            <a:pPr indent="0" marL="0">
              <a:buNone/>
            </a:pPr>
            <a:r>
              <a:rPr lang="en-US" sz="1200" dirty="0">
                <a:solidFill>
                  <a:srgbClr val="9AA0AE"/>
                </a:solidFill>
                <a:latin typeface="Arial" pitchFamily="34" charset="0"/>
                <a:ea typeface="Arial" pitchFamily="34" charset="-122"/>
                <a:cs typeface="Arial" pitchFamily="34" charset="-120"/>
              </a:rPr>
              <a:t>UserController + tests CP</a:t>
            </a:r>
            <a:endParaRPr lang="en-US" sz="1200" dirty="0"/>
          </a:p>
        </p:txBody>
      </p:sp>
      <p:sp>
        <p:nvSpPr>
          <p:cNvPr id="10" name="Text 8"/>
          <p:cNvSpPr/>
          <p:nvPr/>
        </p:nvSpPr>
        <p:spPr>
          <a:xfrm>
            <a:off x="11064240" y="1783080"/>
            <a:ext cx="548640" cy="713232"/>
          </a:xfrm>
          <a:prstGeom prst="rect">
            <a:avLst/>
          </a:prstGeom>
          <a:noFill/>
          <a:ln/>
        </p:spPr>
        <p:txBody>
          <a:bodyPr wrap="square" rtlCol="0" anchor="ctr"/>
          <a:lstStyle/>
          <a:p>
            <a:pPr algn="ctr" indent="0" marL="0">
              <a:buNone/>
            </a:pPr>
            <a:r>
              <a:rPr lang="en-US" sz="1800" b="1" dirty="0">
                <a:solidFill>
                  <a:srgbClr val="3DD68C"/>
                </a:solidFill>
                <a:latin typeface="Arial Black" pitchFamily="34" charset="0"/>
                <a:ea typeface="Arial Black" pitchFamily="34" charset="-122"/>
                <a:cs typeface="Arial Black" pitchFamily="34" charset="-120"/>
              </a:rPr>
              <a:t>✓</a:t>
            </a:r>
            <a:endParaRPr lang="en-US" sz="1800" dirty="0"/>
          </a:p>
        </p:txBody>
      </p:sp>
      <p:sp>
        <p:nvSpPr>
          <p:cNvPr id="11" name="Shape 9"/>
          <p:cNvSpPr/>
          <p:nvPr/>
        </p:nvSpPr>
        <p:spPr>
          <a:xfrm>
            <a:off x="502920" y="2624328"/>
            <a:ext cx="11201400" cy="713232"/>
          </a:xfrm>
          <a:prstGeom prst="roundRect">
            <a:avLst>
              <a:gd name="adj" fmla="val 7692"/>
            </a:avLst>
          </a:prstGeom>
          <a:solidFill>
            <a:srgbClr val="1E2230"/>
          </a:solidFill>
          <a:ln/>
        </p:spPr>
      </p:sp>
      <p:sp>
        <p:nvSpPr>
          <p:cNvPr id="12" name="Text 10"/>
          <p:cNvSpPr/>
          <p:nvPr/>
        </p:nvSpPr>
        <p:spPr>
          <a:xfrm>
            <a:off x="685800" y="2624328"/>
            <a:ext cx="1645920" cy="713232"/>
          </a:xfrm>
          <a:prstGeom prst="rect">
            <a:avLst/>
          </a:prstGeom>
          <a:noFill/>
          <a:ln/>
        </p:spPr>
        <p:txBody>
          <a:bodyPr wrap="square" rtlCol="0" anchor="ctr"/>
          <a:lstStyle/>
          <a:p>
            <a:pPr indent="0" marL="0">
              <a:buNone/>
            </a:pPr>
            <a:r>
              <a:rPr lang="en-US" sz="1500" b="1" dirty="0">
                <a:solidFill>
                  <a:srgbClr val="FFB100"/>
                </a:solidFill>
                <a:latin typeface="Arial Black" pitchFamily="34" charset="0"/>
                <a:ea typeface="Arial Black" pitchFamily="34" charset="-122"/>
                <a:cs typeface="Arial Black" pitchFamily="34" charset="-120"/>
              </a:rPr>
              <a:t>REQ-F02</a:t>
            </a:r>
            <a:endParaRPr lang="en-US" sz="1500" dirty="0"/>
          </a:p>
        </p:txBody>
      </p:sp>
      <p:sp>
        <p:nvSpPr>
          <p:cNvPr id="13" name="Text 11"/>
          <p:cNvSpPr/>
          <p:nvPr/>
        </p:nvSpPr>
        <p:spPr>
          <a:xfrm>
            <a:off x="2468880" y="2624328"/>
            <a:ext cx="3840480" cy="713232"/>
          </a:xfrm>
          <a:prstGeom prst="rect">
            <a:avLst/>
          </a:prstGeom>
          <a:noFill/>
          <a:ln/>
        </p:spPr>
        <p:txBody>
          <a:bodyPr wrap="square" rtlCol="0" anchor="ctr"/>
          <a:lstStyle/>
          <a:p>
            <a:pPr indent="0" marL="0">
              <a:buNone/>
            </a:pPr>
            <a:r>
              <a:rPr lang="en-US" sz="1400" dirty="0">
                <a:solidFill>
                  <a:srgbClr val="F5F5F5"/>
                </a:solidFill>
                <a:latin typeface="Arial" pitchFamily="34" charset="0"/>
                <a:ea typeface="Arial" pitchFamily="34" charset="-122"/>
                <a:cs typeface="Arial" pitchFamily="34" charset="-120"/>
              </a:rPr>
              <a:t>Listado de usuarios</a:t>
            </a:r>
            <a:endParaRPr lang="en-US" sz="1400" dirty="0"/>
          </a:p>
        </p:txBody>
      </p:sp>
      <p:sp>
        <p:nvSpPr>
          <p:cNvPr id="14" name="Text 12"/>
          <p:cNvSpPr/>
          <p:nvPr/>
        </p:nvSpPr>
        <p:spPr>
          <a:xfrm>
            <a:off x="6400800" y="2624328"/>
            <a:ext cx="4572000" cy="713232"/>
          </a:xfrm>
          <a:prstGeom prst="rect">
            <a:avLst/>
          </a:prstGeom>
          <a:noFill/>
          <a:ln/>
        </p:spPr>
        <p:txBody>
          <a:bodyPr wrap="square" rtlCol="0" anchor="ctr"/>
          <a:lstStyle/>
          <a:p>
            <a:pPr indent="0" marL="0">
              <a:buNone/>
            </a:pPr>
            <a:r>
              <a:rPr lang="en-US" sz="1200" dirty="0">
                <a:solidFill>
                  <a:srgbClr val="9AA0AE"/>
                </a:solidFill>
                <a:latin typeface="Arial" pitchFamily="34" charset="0"/>
                <a:ea typeface="Arial" pitchFamily="34" charset="-122"/>
                <a:cs typeface="Arial" pitchFamily="34" charset="-120"/>
              </a:rPr>
              <a:t>UserController.getAll</a:t>
            </a:r>
            <a:endParaRPr lang="en-US" sz="1200" dirty="0"/>
          </a:p>
        </p:txBody>
      </p:sp>
      <p:sp>
        <p:nvSpPr>
          <p:cNvPr id="15" name="Text 13"/>
          <p:cNvSpPr/>
          <p:nvPr/>
        </p:nvSpPr>
        <p:spPr>
          <a:xfrm>
            <a:off x="11064240" y="2624328"/>
            <a:ext cx="548640" cy="713232"/>
          </a:xfrm>
          <a:prstGeom prst="rect">
            <a:avLst/>
          </a:prstGeom>
          <a:noFill/>
          <a:ln/>
        </p:spPr>
        <p:txBody>
          <a:bodyPr wrap="square" rtlCol="0" anchor="ctr"/>
          <a:lstStyle/>
          <a:p>
            <a:pPr algn="ctr" indent="0" marL="0">
              <a:buNone/>
            </a:pPr>
            <a:r>
              <a:rPr lang="en-US" sz="1800" b="1" dirty="0">
                <a:solidFill>
                  <a:srgbClr val="3DD68C"/>
                </a:solidFill>
                <a:latin typeface="Arial Black" pitchFamily="34" charset="0"/>
                <a:ea typeface="Arial Black" pitchFamily="34" charset="-122"/>
                <a:cs typeface="Arial Black" pitchFamily="34" charset="-120"/>
              </a:rPr>
              <a:t>✓</a:t>
            </a:r>
            <a:endParaRPr lang="en-US" sz="1800" dirty="0"/>
          </a:p>
        </p:txBody>
      </p:sp>
      <p:sp>
        <p:nvSpPr>
          <p:cNvPr id="16" name="Shape 14"/>
          <p:cNvSpPr/>
          <p:nvPr/>
        </p:nvSpPr>
        <p:spPr>
          <a:xfrm>
            <a:off x="502920" y="3465576"/>
            <a:ext cx="11201400" cy="713232"/>
          </a:xfrm>
          <a:prstGeom prst="roundRect">
            <a:avLst>
              <a:gd name="adj" fmla="val 7692"/>
            </a:avLst>
          </a:prstGeom>
          <a:solidFill>
            <a:srgbClr val="1E2230"/>
          </a:solidFill>
          <a:ln/>
        </p:spPr>
      </p:sp>
      <p:sp>
        <p:nvSpPr>
          <p:cNvPr id="17" name="Text 15"/>
          <p:cNvSpPr/>
          <p:nvPr/>
        </p:nvSpPr>
        <p:spPr>
          <a:xfrm>
            <a:off x="685800" y="3465576"/>
            <a:ext cx="1645920" cy="713232"/>
          </a:xfrm>
          <a:prstGeom prst="rect">
            <a:avLst/>
          </a:prstGeom>
          <a:noFill/>
          <a:ln/>
        </p:spPr>
        <p:txBody>
          <a:bodyPr wrap="square" rtlCol="0" anchor="ctr"/>
          <a:lstStyle/>
          <a:p>
            <a:pPr indent="0" marL="0">
              <a:buNone/>
            </a:pPr>
            <a:r>
              <a:rPr lang="en-US" sz="1500" b="1" dirty="0">
                <a:solidFill>
                  <a:srgbClr val="FFB100"/>
                </a:solidFill>
                <a:latin typeface="Arial Black" pitchFamily="34" charset="0"/>
                <a:ea typeface="Arial Black" pitchFamily="34" charset="-122"/>
                <a:cs typeface="Arial Black" pitchFamily="34" charset="-120"/>
              </a:rPr>
              <a:t>REQ-F03</a:t>
            </a:r>
            <a:endParaRPr lang="en-US" sz="1500" dirty="0"/>
          </a:p>
        </p:txBody>
      </p:sp>
      <p:sp>
        <p:nvSpPr>
          <p:cNvPr id="18" name="Text 16"/>
          <p:cNvSpPr/>
          <p:nvPr/>
        </p:nvSpPr>
        <p:spPr>
          <a:xfrm>
            <a:off x="2468880" y="3465576"/>
            <a:ext cx="3840480" cy="713232"/>
          </a:xfrm>
          <a:prstGeom prst="rect">
            <a:avLst/>
          </a:prstGeom>
          <a:noFill/>
          <a:ln/>
        </p:spPr>
        <p:txBody>
          <a:bodyPr wrap="square" rtlCol="0" anchor="ctr"/>
          <a:lstStyle/>
          <a:p>
            <a:pPr indent="0" marL="0">
              <a:buNone/>
            </a:pPr>
            <a:r>
              <a:rPr lang="en-US" sz="1400" dirty="0">
                <a:solidFill>
                  <a:srgbClr val="F5F5F5"/>
                </a:solidFill>
                <a:latin typeface="Arial" pitchFamily="34" charset="0"/>
                <a:ea typeface="Arial" pitchFamily="34" charset="-122"/>
                <a:cs typeface="Arial" pitchFamily="34" charset="-120"/>
              </a:rPr>
              <a:t>Gestionar actividades</a:t>
            </a:r>
            <a:endParaRPr lang="en-US" sz="1400" dirty="0"/>
          </a:p>
        </p:txBody>
      </p:sp>
      <p:sp>
        <p:nvSpPr>
          <p:cNvPr id="19" name="Text 17"/>
          <p:cNvSpPr/>
          <p:nvPr/>
        </p:nvSpPr>
        <p:spPr>
          <a:xfrm>
            <a:off x="6400800" y="3465576"/>
            <a:ext cx="4572000" cy="713232"/>
          </a:xfrm>
          <a:prstGeom prst="rect">
            <a:avLst/>
          </a:prstGeom>
          <a:noFill/>
          <a:ln/>
        </p:spPr>
        <p:txBody>
          <a:bodyPr wrap="square" rtlCol="0" anchor="ctr"/>
          <a:lstStyle/>
          <a:p>
            <a:pPr indent="0" marL="0">
              <a:buNone/>
            </a:pPr>
            <a:r>
              <a:rPr lang="en-US" sz="1200" dirty="0">
                <a:solidFill>
                  <a:srgbClr val="9AA0AE"/>
                </a:solidFill>
                <a:latin typeface="Arial" pitchFamily="34" charset="0"/>
                <a:ea typeface="Arial" pitchFamily="34" charset="-122"/>
                <a:cs typeface="Arial" pitchFamily="34" charset="-120"/>
              </a:rPr>
              <a:t>ActivityController + AC-01..11</a:t>
            </a:r>
            <a:endParaRPr lang="en-US" sz="1200" dirty="0"/>
          </a:p>
        </p:txBody>
      </p:sp>
      <p:sp>
        <p:nvSpPr>
          <p:cNvPr id="20" name="Text 18"/>
          <p:cNvSpPr/>
          <p:nvPr/>
        </p:nvSpPr>
        <p:spPr>
          <a:xfrm>
            <a:off x="11064240" y="3465576"/>
            <a:ext cx="548640" cy="713232"/>
          </a:xfrm>
          <a:prstGeom prst="rect">
            <a:avLst/>
          </a:prstGeom>
          <a:noFill/>
          <a:ln/>
        </p:spPr>
        <p:txBody>
          <a:bodyPr wrap="square" rtlCol="0" anchor="ctr"/>
          <a:lstStyle/>
          <a:p>
            <a:pPr algn="ctr" indent="0" marL="0">
              <a:buNone/>
            </a:pPr>
            <a:r>
              <a:rPr lang="en-US" sz="1800" b="1" dirty="0">
                <a:solidFill>
                  <a:srgbClr val="3DD68C"/>
                </a:solidFill>
                <a:latin typeface="Arial Black" pitchFamily="34" charset="0"/>
                <a:ea typeface="Arial Black" pitchFamily="34" charset="-122"/>
                <a:cs typeface="Arial Black" pitchFamily="34" charset="-120"/>
              </a:rPr>
              <a:t>✓</a:t>
            </a:r>
            <a:endParaRPr lang="en-US" sz="1800" dirty="0"/>
          </a:p>
        </p:txBody>
      </p:sp>
      <p:sp>
        <p:nvSpPr>
          <p:cNvPr id="21" name="Shape 19"/>
          <p:cNvSpPr/>
          <p:nvPr/>
        </p:nvSpPr>
        <p:spPr>
          <a:xfrm>
            <a:off x="502920" y="4306824"/>
            <a:ext cx="11201400" cy="713232"/>
          </a:xfrm>
          <a:prstGeom prst="roundRect">
            <a:avLst>
              <a:gd name="adj" fmla="val 7692"/>
            </a:avLst>
          </a:prstGeom>
          <a:solidFill>
            <a:srgbClr val="1E2230"/>
          </a:solidFill>
          <a:ln/>
        </p:spPr>
      </p:sp>
      <p:sp>
        <p:nvSpPr>
          <p:cNvPr id="22" name="Text 20"/>
          <p:cNvSpPr/>
          <p:nvPr/>
        </p:nvSpPr>
        <p:spPr>
          <a:xfrm>
            <a:off x="685800" y="4306824"/>
            <a:ext cx="1645920" cy="713232"/>
          </a:xfrm>
          <a:prstGeom prst="rect">
            <a:avLst/>
          </a:prstGeom>
          <a:noFill/>
          <a:ln/>
        </p:spPr>
        <p:txBody>
          <a:bodyPr wrap="square" rtlCol="0" anchor="ctr"/>
          <a:lstStyle/>
          <a:p>
            <a:pPr indent="0" marL="0">
              <a:buNone/>
            </a:pPr>
            <a:r>
              <a:rPr lang="en-US" sz="1500" b="1" dirty="0">
                <a:solidFill>
                  <a:srgbClr val="FFB100"/>
                </a:solidFill>
                <a:latin typeface="Arial Black" pitchFamily="34" charset="0"/>
                <a:ea typeface="Arial Black" pitchFamily="34" charset="-122"/>
                <a:cs typeface="Arial Black" pitchFamily="34" charset="-120"/>
              </a:rPr>
              <a:t>REQ-F04</a:t>
            </a:r>
            <a:endParaRPr lang="en-US" sz="1500" dirty="0"/>
          </a:p>
        </p:txBody>
      </p:sp>
      <p:sp>
        <p:nvSpPr>
          <p:cNvPr id="23" name="Text 21"/>
          <p:cNvSpPr/>
          <p:nvPr/>
        </p:nvSpPr>
        <p:spPr>
          <a:xfrm>
            <a:off x="2468880" y="4306824"/>
            <a:ext cx="3840480" cy="713232"/>
          </a:xfrm>
          <a:prstGeom prst="rect">
            <a:avLst/>
          </a:prstGeom>
          <a:noFill/>
          <a:ln/>
        </p:spPr>
        <p:txBody>
          <a:bodyPr wrap="square" rtlCol="0" anchor="ctr"/>
          <a:lstStyle/>
          <a:p>
            <a:pPr indent="0" marL="0">
              <a:buNone/>
            </a:pPr>
            <a:r>
              <a:rPr lang="en-US" sz="1400" dirty="0">
                <a:solidFill>
                  <a:srgbClr val="F5F5F5"/>
                </a:solidFill>
                <a:latin typeface="Arial" pitchFamily="34" charset="0"/>
                <a:ea typeface="Arial" pitchFamily="34" charset="-122"/>
                <a:cs typeface="Arial" pitchFamily="34" charset="-120"/>
              </a:rPr>
              <a:t>Mostrar actividades</a:t>
            </a:r>
            <a:endParaRPr lang="en-US" sz="1400" dirty="0"/>
          </a:p>
        </p:txBody>
      </p:sp>
      <p:sp>
        <p:nvSpPr>
          <p:cNvPr id="24" name="Text 22"/>
          <p:cNvSpPr/>
          <p:nvPr/>
        </p:nvSpPr>
        <p:spPr>
          <a:xfrm>
            <a:off x="6400800" y="4306824"/>
            <a:ext cx="4572000" cy="713232"/>
          </a:xfrm>
          <a:prstGeom prst="rect">
            <a:avLst/>
          </a:prstGeom>
          <a:noFill/>
          <a:ln/>
        </p:spPr>
        <p:txBody>
          <a:bodyPr wrap="square" rtlCol="0" anchor="ctr"/>
          <a:lstStyle/>
          <a:p>
            <a:pPr indent="0" marL="0">
              <a:buNone/>
            </a:pPr>
            <a:r>
              <a:rPr lang="en-US" sz="1200" dirty="0">
                <a:solidFill>
                  <a:srgbClr val="9AA0AE"/>
                </a:solidFill>
                <a:latin typeface="Arial" pitchFamily="34" charset="0"/>
                <a:ea typeface="Arial" pitchFamily="34" charset="-122"/>
                <a:cs typeface="Arial" pitchFamily="34" charset="-120"/>
              </a:rPr>
              <a:t>getAllActivities</a:t>
            </a:r>
            <a:endParaRPr lang="en-US" sz="1200" dirty="0"/>
          </a:p>
        </p:txBody>
      </p:sp>
      <p:sp>
        <p:nvSpPr>
          <p:cNvPr id="25" name="Text 23"/>
          <p:cNvSpPr/>
          <p:nvPr/>
        </p:nvSpPr>
        <p:spPr>
          <a:xfrm>
            <a:off x="11064240" y="4306824"/>
            <a:ext cx="548640" cy="713232"/>
          </a:xfrm>
          <a:prstGeom prst="rect">
            <a:avLst/>
          </a:prstGeom>
          <a:noFill/>
          <a:ln/>
        </p:spPr>
        <p:txBody>
          <a:bodyPr wrap="square" rtlCol="0" anchor="ctr"/>
          <a:lstStyle/>
          <a:p>
            <a:pPr algn="ctr" indent="0" marL="0">
              <a:buNone/>
            </a:pPr>
            <a:r>
              <a:rPr lang="en-US" sz="1800" b="1" dirty="0">
                <a:solidFill>
                  <a:srgbClr val="3DD68C"/>
                </a:solidFill>
                <a:latin typeface="Arial Black" pitchFamily="34" charset="0"/>
                <a:ea typeface="Arial Black" pitchFamily="34" charset="-122"/>
                <a:cs typeface="Arial Black" pitchFamily="34" charset="-120"/>
              </a:rPr>
              <a:t>✓</a:t>
            </a:r>
            <a:endParaRPr lang="en-US" sz="1800" dirty="0"/>
          </a:p>
        </p:txBody>
      </p:sp>
      <p:sp>
        <p:nvSpPr>
          <p:cNvPr id="26" name="Shape 24"/>
          <p:cNvSpPr/>
          <p:nvPr/>
        </p:nvSpPr>
        <p:spPr>
          <a:xfrm>
            <a:off x="502920" y="5148072"/>
            <a:ext cx="11201400" cy="713232"/>
          </a:xfrm>
          <a:prstGeom prst="roundRect">
            <a:avLst>
              <a:gd name="adj" fmla="val 7692"/>
            </a:avLst>
          </a:prstGeom>
          <a:solidFill>
            <a:srgbClr val="1E2230"/>
          </a:solidFill>
          <a:ln/>
        </p:spPr>
      </p:sp>
      <p:sp>
        <p:nvSpPr>
          <p:cNvPr id="27" name="Text 25"/>
          <p:cNvSpPr/>
          <p:nvPr/>
        </p:nvSpPr>
        <p:spPr>
          <a:xfrm>
            <a:off x="685800" y="5148072"/>
            <a:ext cx="1645920" cy="713232"/>
          </a:xfrm>
          <a:prstGeom prst="rect">
            <a:avLst/>
          </a:prstGeom>
          <a:noFill/>
          <a:ln/>
        </p:spPr>
        <p:txBody>
          <a:bodyPr wrap="square" rtlCol="0" anchor="ctr"/>
          <a:lstStyle/>
          <a:p>
            <a:pPr indent="0" marL="0">
              <a:buNone/>
            </a:pPr>
            <a:r>
              <a:rPr lang="en-US" sz="1500" b="1" dirty="0">
                <a:solidFill>
                  <a:srgbClr val="FFB100"/>
                </a:solidFill>
                <a:latin typeface="Arial Black" pitchFamily="34" charset="0"/>
                <a:ea typeface="Arial Black" pitchFamily="34" charset="-122"/>
                <a:cs typeface="Arial Black" pitchFamily="34" charset="-120"/>
              </a:rPr>
              <a:t>REQ-F05</a:t>
            </a:r>
            <a:endParaRPr lang="en-US" sz="1500" dirty="0"/>
          </a:p>
        </p:txBody>
      </p:sp>
      <p:sp>
        <p:nvSpPr>
          <p:cNvPr id="28" name="Text 26"/>
          <p:cNvSpPr/>
          <p:nvPr/>
        </p:nvSpPr>
        <p:spPr>
          <a:xfrm>
            <a:off x="2468880" y="5148072"/>
            <a:ext cx="3840480" cy="713232"/>
          </a:xfrm>
          <a:prstGeom prst="rect">
            <a:avLst/>
          </a:prstGeom>
          <a:noFill/>
          <a:ln/>
        </p:spPr>
        <p:txBody>
          <a:bodyPr wrap="square" rtlCol="0" anchor="ctr"/>
          <a:lstStyle/>
          <a:p>
            <a:pPr indent="0" marL="0">
              <a:buNone/>
            </a:pPr>
            <a:r>
              <a:rPr lang="en-US" sz="1400" dirty="0">
                <a:solidFill>
                  <a:srgbClr val="F5F5F5"/>
                </a:solidFill>
                <a:latin typeface="Arial" pitchFamily="34" charset="0"/>
                <a:ea typeface="Arial" pitchFamily="34" charset="-122"/>
                <a:cs typeface="Arial" pitchFamily="34" charset="-120"/>
              </a:rPr>
              <a:t>Asistencias</a:t>
            </a:r>
            <a:endParaRPr lang="en-US" sz="1400" dirty="0"/>
          </a:p>
        </p:txBody>
      </p:sp>
      <p:sp>
        <p:nvSpPr>
          <p:cNvPr id="29" name="Text 27"/>
          <p:cNvSpPr/>
          <p:nvPr/>
        </p:nvSpPr>
        <p:spPr>
          <a:xfrm>
            <a:off x="6400800" y="5148072"/>
            <a:ext cx="4572000" cy="713232"/>
          </a:xfrm>
          <a:prstGeom prst="rect">
            <a:avLst/>
          </a:prstGeom>
          <a:noFill/>
          <a:ln/>
        </p:spPr>
        <p:txBody>
          <a:bodyPr wrap="square" rtlCol="0" anchor="ctr"/>
          <a:lstStyle/>
          <a:p>
            <a:pPr indent="0" marL="0">
              <a:buNone/>
            </a:pPr>
            <a:r>
              <a:rPr lang="en-US" sz="1200" dirty="0">
                <a:solidFill>
                  <a:srgbClr val="9AA0AE"/>
                </a:solidFill>
                <a:latin typeface="Arial" pitchFamily="34" charset="0"/>
                <a:ea typeface="Arial" pitchFamily="34" charset="-122"/>
                <a:cs typeface="Arial" pitchFamily="34" charset="-120"/>
              </a:rPr>
              <a:t>AttendanceController + AT-01..06</a:t>
            </a:r>
            <a:endParaRPr lang="en-US" sz="1200" dirty="0"/>
          </a:p>
        </p:txBody>
      </p:sp>
      <p:sp>
        <p:nvSpPr>
          <p:cNvPr id="30" name="Text 28"/>
          <p:cNvSpPr/>
          <p:nvPr/>
        </p:nvSpPr>
        <p:spPr>
          <a:xfrm>
            <a:off x="11064240" y="5148072"/>
            <a:ext cx="548640" cy="713232"/>
          </a:xfrm>
          <a:prstGeom prst="rect">
            <a:avLst/>
          </a:prstGeom>
          <a:noFill/>
          <a:ln/>
        </p:spPr>
        <p:txBody>
          <a:bodyPr wrap="square" rtlCol="0" anchor="ctr"/>
          <a:lstStyle/>
          <a:p>
            <a:pPr algn="ctr" indent="0" marL="0">
              <a:buNone/>
            </a:pPr>
            <a:r>
              <a:rPr lang="en-US" sz="1800" b="1" dirty="0">
                <a:solidFill>
                  <a:srgbClr val="3DD68C"/>
                </a:solidFill>
                <a:latin typeface="Arial Black" pitchFamily="34" charset="0"/>
                <a:ea typeface="Arial Black" pitchFamily="34" charset="-122"/>
                <a:cs typeface="Arial Black" pitchFamily="34" charset="-120"/>
              </a:rPr>
              <a:t>✓</a:t>
            </a:r>
            <a:endParaRPr lang="en-US" sz="1800" dirty="0"/>
          </a:p>
        </p:txBody>
      </p:sp>
      <p:sp>
        <p:nvSpPr>
          <p:cNvPr id="31" name="Text 29"/>
          <p:cNvSpPr/>
          <p:nvPr/>
        </p:nvSpPr>
        <p:spPr>
          <a:xfrm>
            <a:off x="502920" y="6400800"/>
            <a:ext cx="5486400" cy="274320"/>
          </a:xfrm>
          <a:prstGeom prst="rect">
            <a:avLst/>
          </a:prstGeom>
          <a:noFill/>
          <a:ln/>
        </p:spPr>
        <p:txBody>
          <a:bodyPr wrap="square" rtlCol="0" anchor="ctr"/>
          <a:lstStyle/>
          <a:p>
            <a:pPr indent="0" marL="0">
              <a:buNone/>
            </a:pPr>
            <a:r>
              <a:rPr lang="en-US" sz="1100" dirty="0">
                <a:solidFill>
                  <a:srgbClr val="9AA0AE"/>
                </a:solidFill>
                <a:latin typeface="Arial" pitchFamily="34" charset="0"/>
                <a:ea typeface="Arial" pitchFamily="34" charset="-122"/>
                <a:cs typeface="Arial" pitchFamily="34" charset="-120"/>
              </a:rPr>
              <a:t>Presenta: Fabricio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B100"/>
          </a:solidFill>
          <a:ln/>
        </p:spPr>
      </p:sp>
      <p:sp>
        <p:nvSpPr>
          <p:cNvPr id="3" name="Text 1"/>
          <p:cNvSpPr/>
          <p:nvPr/>
        </p:nvSpPr>
        <p:spPr>
          <a:xfrm>
            <a:off x="10698480" y="6400800"/>
            <a:ext cx="1280160" cy="274320"/>
          </a:xfrm>
          <a:prstGeom prst="rect">
            <a:avLst/>
          </a:prstGeom>
          <a:noFill/>
          <a:ln/>
        </p:spPr>
        <p:txBody>
          <a:bodyPr wrap="square" rtlCol="0" anchor="ctr"/>
          <a:lstStyle/>
          <a:p>
            <a:pPr algn="r" indent="0" marL="0">
              <a:buNone/>
            </a:pPr>
            <a:r>
              <a:rPr lang="en-US" sz="900" dirty="0">
                <a:solidFill>
                  <a:srgbClr val="9AA0AE"/>
                </a:solidFill>
                <a:latin typeface="Arial" pitchFamily="34" charset="0"/>
                <a:ea typeface="Arial" pitchFamily="34" charset="-122"/>
                <a:cs typeface="Arial" pitchFamily="34" charset="-120"/>
              </a:rPr>
              <a:t>07 / 20</a:t>
            </a:r>
            <a:endParaRPr lang="en-US" sz="900" dirty="0"/>
          </a:p>
        </p:txBody>
      </p:sp>
      <p:sp>
        <p:nvSpPr>
          <p:cNvPr id="4" name="Text 2"/>
          <p:cNvSpPr/>
          <p:nvPr/>
        </p:nvSpPr>
        <p:spPr>
          <a:xfrm>
            <a:off x="502920" y="411480"/>
            <a:ext cx="10058400" cy="365760"/>
          </a:xfrm>
          <a:prstGeom prst="rect">
            <a:avLst/>
          </a:prstGeom>
          <a:noFill/>
          <a:ln/>
        </p:spPr>
        <p:txBody>
          <a:bodyPr wrap="square" rtlCol="0" anchor="ctr"/>
          <a:lstStyle/>
          <a:p>
            <a:pPr indent="0" marL="0">
              <a:buNone/>
            </a:pPr>
            <a:r>
              <a:rPr lang="en-US" sz="1300" b="1" spc="200" kern="0" dirty="0">
                <a:solidFill>
                  <a:srgbClr val="FFB100"/>
                </a:solidFill>
                <a:latin typeface="Arial Black" pitchFamily="34" charset="0"/>
                <a:ea typeface="Arial Black" pitchFamily="34" charset="-122"/>
                <a:cs typeface="Arial Black" pitchFamily="34" charset="-120"/>
              </a:rPr>
              <a:t>TRAZABILIDAD</a:t>
            </a:r>
            <a:endParaRPr lang="en-US" sz="1300" dirty="0"/>
          </a:p>
        </p:txBody>
      </p:sp>
      <p:sp>
        <p:nvSpPr>
          <p:cNvPr id="5" name="Text 3"/>
          <p:cNvSpPr/>
          <p:nvPr/>
        </p:nvSpPr>
        <p:spPr>
          <a:xfrm>
            <a:off x="502920" y="777240"/>
            <a:ext cx="10972800" cy="822960"/>
          </a:xfrm>
          <a:prstGeom prst="rect">
            <a:avLst/>
          </a:prstGeom>
          <a:noFill/>
          <a:ln/>
        </p:spPr>
        <p:txBody>
          <a:bodyPr wrap="square" rtlCol="0" anchor="ctr"/>
          <a:lstStyle/>
          <a:p>
            <a:pPr indent="0" marL="0">
              <a:buNone/>
            </a:pPr>
            <a:r>
              <a:rPr lang="en-US" sz="3400" b="1" dirty="0">
                <a:solidFill>
                  <a:srgbClr val="F5F5F5"/>
                </a:solidFill>
                <a:latin typeface="Arial Black" pitchFamily="34" charset="0"/>
                <a:ea typeface="Arial Black" pitchFamily="34" charset="-122"/>
                <a:cs typeface="Arial Black" pitchFamily="34" charset="-120"/>
              </a:rPr>
              <a:t>RTM · No funcionales y seguridad</a:t>
            </a:r>
            <a:endParaRPr lang="en-US" sz="3400" dirty="0"/>
          </a:p>
        </p:txBody>
      </p:sp>
      <p:sp>
        <p:nvSpPr>
          <p:cNvPr id="6" name="Shape 4"/>
          <p:cNvSpPr/>
          <p:nvPr/>
        </p:nvSpPr>
        <p:spPr>
          <a:xfrm>
            <a:off x="502920" y="1828800"/>
            <a:ext cx="3611880" cy="3108960"/>
          </a:xfrm>
          <a:prstGeom prst="roundRect">
            <a:avLst>
              <a:gd name="adj" fmla="val 2353"/>
            </a:avLst>
          </a:prstGeom>
          <a:solidFill>
            <a:srgbClr val="1E2230"/>
          </a:solidFill>
          <a:ln/>
        </p:spPr>
      </p:sp>
      <p:sp>
        <p:nvSpPr>
          <p:cNvPr id="7" name="Shape 5"/>
          <p:cNvSpPr/>
          <p:nvPr/>
        </p:nvSpPr>
        <p:spPr>
          <a:xfrm>
            <a:off x="502920" y="1828800"/>
            <a:ext cx="64008" cy="3108960"/>
          </a:xfrm>
          <a:prstGeom prst="rect">
            <a:avLst/>
          </a:prstGeom>
          <a:solidFill>
            <a:srgbClr val="5B9BFF"/>
          </a:solidFill>
          <a:ln/>
        </p:spPr>
      </p:sp>
      <p:sp>
        <p:nvSpPr>
          <p:cNvPr id="8" name="Text 6"/>
          <p:cNvSpPr/>
          <p:nvPr/>
        </p:nvSpPr>
        <p:spPr>
          <a:xfrm>
            <a:off x="704088" y="1993392"/>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REQ-NF01 · JWT</a:t>
            </a:r>
            <a:endParaRPr lang="en-US" sz="1400" dirty="0"/>
          </a:p>
        </p:txBody>
      </p:sp>
      <p:sp>
        <p:nvSpPr>
          <p:cNvPr id="9" name="Text 7"/>
          <p:cNvSpPr/>
          <p:nvPr/>
        </p:nvSpPr>
        <p:spPr>
          <a:xfrm>
            <a:off x="704088" y="2340864"/>
            <a:ext cx="3246120" cy="257860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Autenticación con token. AuthController + JwtUtil + filtro. Test de login.</a:t>
            </a:r>
            <a:endParaRPr lang="en-US" sz="1100" dirty="0"/>
          </a:p>
        </p:txBody>
      </p:sp>
      <p:sp>
        <p:nvSpPr>
          <p:cNvPr id="10" name="Shape 8"/>
          <p:cNvSpPr/>
          <p:nvPr/>
        </p:nvSpPr>
        <p:spPr>
          <a:xfrm>
            <a:off x="4297680" y="1828800"/>
            <a:ext cx="3611880" cy="3108960"/>
          </a:xfrm>
          <a:prstGeom prst="roundRect">
            <a:avLst>
              <a:gd name="adj" fmla="val 2353"/>
            </a:avLst>
          </a:prstGeom>
          <a:solidFill>
            <a:srgbClr val="1E2230"/>
          </a:solidFill>
          <a:ln/>
        </p:spPr>
      </p:sp>
      <p:sp>
        <p:nvSpPr>
          <p:cNvPr id="11" name="Shape 9"/>
          <p:cNvSpPr/>
          <p:nvPr/>
        </p:nvSpPr>
        <p:spPr>
          <a:xfrm>
            <a:off x="4297680" y="1828800"/>
            <a:ext cx="64008" cy="3108960"/>
          </a:xfrm>
          <a:prstGeom prst="rect">
            <a:avLst/>
          </a:prstGeom>
          <a:solidFill>
            <a:srgbClr val="3DD68C"/>
          </a:solidFill>
          <a:ln/>
        </p:spPr>
      </p:sp>
      <p:sp>
        <p:nvSpPr>
          <p:cNvPr id="12" name="Text 10"/>
          <p:cNvSpPr/>
          <p:nvPr/>
        </p:nvSpPr>
        <p:spPr>
          <a:xfrm>
            <a:off x="4498848" y="1993392"/>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REQ-NF02 · Roles</a:t>
            </a:r>
            <a:endParaRPr lang="en-US" sz="1400" dirty="0"/>
          </a:p>
        </p:txBody>
      </p:sp>
      <p:sp>
        <p:nvSpPr>
          <p:cNvPr id="13" name="Text 11"/>
          <p:cNvSpPr/>
          <p:nvPr/>
        </p:nvSpPr>
        <p:spPr>
          <a:xfrm>
            <a:off x="4498848" y="2340864"/>
            <a:ext cx="3246120" cy="257860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Autorización por rol con @PreAuthorize. CLIENT→403, ADMIN→200. Verificado por test de seguridad.</a:t>
            </a:r>
            <a:endParaRPr lang="en-US" sz="1100" dirty="0"/>
          </a:p>
        </p:txBody>
      </p:sp>
      <p:sp>
        <p:nvSpPr>
          <p:cNvPr id="14" name="Shape 12"/>
          <p:cNvSpPr/>
          <p:nvPr/>
        </p:nvSpPr>
        <p:spPr>
          <a:xfrm>
            <a:off x="8092440" y="1828800"/>
            <a:ext cx="3611880" cy="3108960"/>
          </a:xfrm>
          <a:prstGeom prst="roundRect">
            <a:avLst>
              <a:gd name="adj" fmla="val 2353"/>
            </a:avLst>
          </a:prstGeom>
          <a:solidFill>
            <a:srgbClr val="1E2230"/>
          </a:solidFill>
          <a:ln/>
        </p:spPr>
      </p:sp>
      <p:sp>
        <p:nvSpPr>
          <p:cNvPr id="15" name="Shape 13"/>
          <p:cNvSpPr/>
          <p:nvPr/>
        </p:nvSpPr>
        <p:spPr>
          <a:xfrm>
            <a:off x="8092440" y="1828800"/>
            <a:ext cx="64008" cy="3108960"/>
          </a:xfrm>
          <a:prstGeom prst="rect">
            <a:avLst/>
          </a:prstGeom>
          <a:solidFill>
            <a:srgbClr val="FF4B3E"/>
          </a:solidFill>
          <a:ln/>
        </p:spPr>
      </p:sp>
      <p:sp>
        <p:nvSpPr>
          <p:cNvPr id="16" name="Text 14"/>
          <p:cNvSpPr/>
          <p:nvPr/>
        </p:nvSpPr>
        <p:spPr>
          <a:xfrm>
            <a:off x="8293608" y="1993392"/>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REQ-NF03 · Errores</a:t>
            </a:r>
            <a:endParaRPr lang="en-US" sz="1400" dirty="0"/>
          </a:p>
        </p:txBody>
      </p:sp>
      <p:sp>
        <p:nvSpPr>
          <p:cNvPr id="17" name="Text 15"/>
          <p:cNvSpPr/>
          <p:nvPr/>
        </p:nvSpPr>
        <p:spPr>
          <a:xfrm>
            <a:off x="8293608" y="2340864"/>
            <a:ext cx="3246120" cy="257860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GlobalExceptionHandler: 400 / 409 / 404 / 403 coherentes. Cubierto por tests EX.</a:t>
            </a:r>
            <a:endParaRPr lang="en-US" sz="1100" dirty="0"/>
          </a:p>
        </p:txBody>
      </p:sp>
      <p:sp>
        <p:nvSpPr>
          <p:cNvPr id="18" name="Text 16"/>
          <p:cNvSpPr/>
          <p:nvPr/>
        </p:nvSpPr>
        <p:spPr>
          <a:xfrm>
            <a:off x="502920" y="5897880"/>
            <a:ext cx="11155680" cy="365760"/>
          </a:xfrm>
          <a:prstGeom prst="rect">
            <a:avLst/>
          </a:prstGeom>
          <a:noFill/>
          <a:ln/>
        </p:spPr>
        <p:txBody>
          <a:bodyPr wrap="square" rtlCol="0" anchor="ctr"/>
          <a:lstStyle/>
          <a:p>
            <a:pPr indent="0" marL="0">
              <a:buNone/>
            </a:pPr>
            <a:r>
              <a:rPr lang="en-US" sz="1300" i="1" dirty="0">
                <a:solidFill>
                  <a:srgbClr val="3DD68C"/>
                </a:solidFill>
                <a:latin typeface="Arial" pitchFamily="34" charset="0"/>
                <a:ea typeface="Arial" pitchFamily="34" charset="-122"/>
                <a:cs typeface="Arial" pitchFamily="34" charset="-120"/>
              </a:rPr>
              <a:t>El control de roles (DEF-EXP-04) era el hueco crítico del Hito 4: se cerró en el Hito 5.</a:t>
            </a:r>
            <a:endParaRPr lang="en-US" sz="1300" dirty="0"/>
          </a:p>
        </p:txBody>
      </p:sp>
      <p:sp>
        <p:nvSpPr>
          <p:cNvPr id="19" name="Text 17"/>
          <p:cNvSpPr/>
          <p:nvPr/>
        </p:nvSpPr>
        <p:spPr>
          <a:xfrm>
            <a:off x="502920" y="6400800"/>
            <a:ext cx="5486400" cy="274320"/>
          </a:xfrm>
          <a:prstGeom prst="rect">
            <a:avLst/>
          </a:prstGeom>
          <a:noFill/>
          <a:ln/>
        </p:spPr>
        <p:txBody>
          <a:bodyPr wrap="square" rtlCol="0" anchor="ctr"/>
          <a:lstStyle/>
          <a:p>
            <a:pPr indent="0" marL="0">
              <a:buNone/>
            </a:pPr>
            <a:r>
              <a:rPr lang="en-US" sz="1100" dirty="0">
                <a:solidFill>
                  <a:srgbClr val="9AA0AE"/>
                </a:solidFill>
                <a:latin typeface="Arial" pitchFamily="34" charset="0"/>
                <a:ea typeface="Arial" pitchFamily="34" charset="-122"/>
                <a:cs typeface="Arial" pitchFamily="34" charset="-120"/>
              </a:rPr>
              <a:t>Presenta: Fabricio</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4B3E"/>
          </a:solidFill>
          <a:ln/>
        </p:spPr>
      </p:sp>
      <p:sp>
        <p:nvSpPr>
          <p:cNvPr id="3" name="Text 1"/>
          <p:cNvSpPr/>
          <p:nvPr/>
        </p:nvSpPr>
        <p:spPr>
          <a:xfrm>
            <a:off x="10698480" y="6400800"/>
            <a:ext cx="1280160" cy="274320"/>
          </a:xfrm>
          <a:prstGeom prst="rect">
            <a:avLst/>
          </a:prstGeom>
          <a:noFill/>
          <a:ln/>
        </p:spPr>
        <p:txBody>
          <a:bodyPr wrap="square" rtlCol="0" anchor="ctr"/>
          <a:lstStyle/>
          <a:p>
            <a:pPr algn="r" indent="0" marL="0">
              <a:buNone/>
            </a:pPr>
            <a:r>
              <a:rPr lang="en-US" sz="900" dirty="0">
                <a:solidFill>
                  <a:srgbClr val="9AA0AE"/>
                </a:solidFill>
                <a:latin typeface="Arial" pitchFamily="34" charset="0"/>
                <a:ea typeface="Arial" pitchFamily="34" charset="-122"/>
                <a:cs typeface="Arial" pitchFamily="34" charset="-120"/>
              </a:rPr>
              <a:t>08 / 20</a:t>
            </a:r>
            <a:endParaRPr lang="en-US" sz="900" dirty="0"/>
          </a:p>
        </p:txBody>
      </p:sp>
      <p:sp>
        <p:nvSpPr>
          <p:cNvPr id="4" name="Text 2"/>
          <p:cNvSpPr/>
          <p:nvPr/>
        </p:nvSpPr>
        <p:spPr>
          <a:xfrm>
            <a:off x="502920" y="411480"/>
            <a:ext cx="10058400" cy="365760"/>
          </a:xfrm>
          <a:prstGeom prst="rect">
            <a:avLst/>
          </a:prstGeom>
          <a:noFill/>
          <a:ln/>
        </p:spPr>
        <p:txBody>
          <a:bodyPr wrap="square" rtlCol="0" anchor="ctr"/>
          <a:lstStyle/>
          <a:p>
            <a:pPr indent="0" marL="0">
              <a:buNone/>
            </a:pPr>
            <a:r>
              <a:rPr lang="en-US" sz="1300" b="1" spc="200" kern="0" dirty="0">
                <a:solidFill>
                  <a:srgbClr val="FF4B3E"/>
                </a:solidFill>
                <a:latin typeface="Arial Black" pitchFamily="34" charset="0"/>
                <a:ea typeface="Arial Black" pitchFamily="34" charset="-122"/>
                <a:cs typeface="Arial Black" pitchFamily="34" charset="-120"/>
              </a:rPr>
              <a:t>ASEGURAMIENTO DE CALIDAD</a:t>
            </a:r>
            <a:endParaRPr lang="en-US" sz="1300" dirty="0"/>
          </a:p>
        </p:txBody>
      </p:sp>
      <p:sp>
        <p:nvSpPr>
          <p:cNvPr id="5" name="Text 3"/>
          <p:cNvSpPr/>
          <p:nvPr/>
        </p:nvSpPr>
        <p:spPr>
          <a:xfrm>
            <a:off x="502920" y="777240"/>
            <a:ext cx="10972800" cy="822960"/>
          </a:xfrm>
          <a:prstGeom prst="rect">
            <a:avLst/>
          </a:prstGeom>
          <a:noFill/>
          <a:ln/>
        </p:spPr>
        <p:txBody>
          <a:bodyPr wrap="square" rtlCol="0" anchor="ctr"/>
          <a:lstStyle/>
          <a:p>
            <a:pPr indent="0" marL="0">
              <a:buNone/>
            </a:pPr>
            <a:r>
              <a:rPr lang="en-US" sz="3400" b="1" dirty="0">
                <a:solidFill>
                  <a:srgbClr val="F5F5F5"/>
                </a:solidFill>
                <a:latin typeface="Arial Black" pitchFamily="34" charset="0"/>
                <a:ea typeface="Arial Black" pitchFamily="34" charset="-122"/>
                <a:cs typeface="Arial Black" pitchFamily="34" charset="-120"/>
              </a:rPr>
              <a:t>Testing automatizado</a:t>
            </a:r>
            <a:endParaRPr lang="en-US" sz="3400" dirty="0"/>
          </a:p>
        </p:txBody>
      </p:sp>
      <p:sp>
        <p:nvSpPr>
          <p:cNvPr id="6" name="Shape 4"/>
          <p:cNvSpPr/>
          <p:nvPr/>
        </p:nvSpPr>
        <p:spPr>
          <a:xfrm>
            <a:off x="502920" y="1920240"/>
            <a:ext cx="5394960" cy="2651760"/>
          </a:xfrm>
          <a:prstGeom prst="roundRect">
            <a:avLst>
              <a:gd name="adj" fmla="val 2759"/>
            </a:avLst>
          </a:prstGeom>
          <a:solidFill>
            <a:srgbClr val="1E2230"/>
          </a:solidFill>
          <a:ln/>
        </p:spPr>
      </p:sp>
      <p:sp>
        <p:nvSpPr>
          <p:cNvPr id="7" name="Shape 5"/>
          <p:cNvSpPr/>
          <p:nvPr/>
        </p:nvSpPr>
        <p:spPr>
          <a:xfrm>
            <a:off x="502920" y="1920240"/>
            <a:ext cx="64008" cy="2651760"/>
          </a:xfrm>
          <a:prstGeom prst="rect">
            <a:avLst/>
          </a:prstGeom>
          <a:solidFill>
            <a:srgbClr val="FF4B3E"/>
          </a:solidFill>
          <a:ln/>
        </p:spPr>
      </p:sp>
      <p:sp>
        <p:nvSpPr>
          <p:cNvPr id="8" name="Text 6"/>
          <p:cNvSpPr/>
          <p:nvPr/>
        </p:nvSpPr>
        <p:spPr>
          <a:xfrm>
            <a:off x="704088" y="2084832"/>
            <a:ext cx="5029200" cy="640080"/>
          </a:xfrm>
          <a:prstGeom prst="rect">
            <a:avLst/>
          </a:prstGeom>
          <a:noFill/>
          <a:ln/>
        </p:spPr>
        <p:txBody>
          <a:bodyPr wrap="square" rtlCol="0" anchor="ctr"/>
          <a:lstStyle/>
          <a:p>
            <a:pPr indent="0" marL="0">
              <a:buNone/>
            </a:pPr>
            <a:r>
              <a:rPr lang="en-US" sz="3000" b="1" dirty="0">
                <a:solidFill>
                  <a:srgbClr val="FF4B3E"/>
                </a:solidFill>
                <a:latin typeface="Arial Black" pitchFamily="34" charset="0"/>
                <a:ea typeface="Arial Black" pitchFamily="34" charset="-122"/>
                <a:cs typeface="Arial Black" pitchFamily="34" charset="-120"/>
              </a:rPr>
              <a:t>55 · caja negra</a:t>
            </a:r>
            <a:endParaRPr lang="en-US" sz="3000" dirty="0"/>
          </a:p>
        </p:txBody>
      </p:sp>
      <p:sp>
        <p:nvSpPr>
          <p:cNvPr id="9" name="Text 7"/>
          <p:cNvSpPr/>
          <p:nvPr/>
        </p:nvSpPr>
        <p:spPr>
          <a:xfrm>
            <a:off x="704088" y="2743200"/>
            <a:ext cx="502920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Controllers vía MockMvc</a:t>
            </a:r>
            <a:endParaRPr lang="en-US" sz="1400" dirty="0"/>
          </a:p>
        </p:txBody>
      </p:sp>
      <p:sp>
        <p:nvSpPr>
          <p:cNvPr id="10" name="Text 8"/>
          <p:cNvSpPr/>
          <p:nvPr/>
        </p:nvSpPr>
        <p:spPr>
          <a:xfrm>
            <a:off x="704088" y="3090672"/>
            <a:ext cx="5029200" cy="1463040"/>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Validaciones y errores probados por HTTP, sin levantar la base. Verifican la especificación.</a:t>
            </a:r>
            <a:endParaRPr lang="en-US" sz="1100" dirty="0"/>
          </a:p>
        </p:txBody>
      </p:sp>
      <p:sp>
        <p:nvSpPr>
          <p:cNvPr id="11" name="Shape 9"/>
          <p:cNvSpPr/>
          <p:nvPr/>
        </p:nvSpPr>
        <p:spPr>
          <a:xfrm>
            <a:off x="6126480" y="1920240"/>
            <a:ext cx="5577840" cy="2651760"/>
          </a:xfrm>
          <a:prstGeom prst="roundRect">
            <a:avLst>
              <a:gd name="adj" fmla="val 2759"/>
            </a:avLst>
          </a:prstGeom>
          <a:solidFill>
            <a:srgbClr val="1E2230"/>
          </a:solidFill>
          <a:ln/>
        </p:spPr>
      </p:sp>
      <p:sp>
        <p:nvSpPr>
          <p:cNvPr id="12" name="Shape 10"/>
          <p:cNvSpPr/>
          <p:nvPr/>
        </p:nvSpPr>
        <p:spPr>
          <a:xfrm>
            <a:off x="6126480" y="1920240"/>
            <a:ext cx="64008" cy="2651760"/>
          </a:xfrm>
          <a:prstGeom prst="rect">
            <a:avLst/>
          </a:prstGeom>
          <a:solidFill>
            <a:srgbClr val="5B9BFF"/>
          </a:solidFill>
          <a:ln/>
        </p:spPr>
      </p:sp>
      <p:sp>
        <p:nvSpPr>
          <p:cNvPr id="13" name="Text 11"/>
          <p:cNvSpPr/>
          <p:nvPr/>
        </p:nvSpPr>
        <p:spPr>
          <a:xfrm>
            <a:off x="6327648" y="2084832"/>
            <a:ext cx="5212080" cy="640080"/>
          </a:xfrm>
          <a:prstGeom prst="rect">
            <a:avLst/>
          </a:prstGeom>
          <a:noFill/>
          <a:ln/>
        </p:spPr>
        <p:txBody>
          <a:bodyPr wrap="square" rtlCol="0" anchor="ctr"/>
          <a:lstStyle/>
          <a:p>
            <a:pPr indent="0" marL="0">
              <a:buNone/>
            </a:pPr>
            <a:r>
              <a:rPr lang="en-US" sz="3000" b="1" dirty="0">
                <a:solidFill>
                  <a:srgbClr val="5B9BFF"/>
                </a:solidFill>
                <a:latin typeface="Arial Black" pitchFamily="34" charset="0"/>
                <a:ea typeface="Arial Black" pitchFamily="34" charset="-122"/>
                <a:cs typeface="Arial Black" pitchFamily="34" charset="-120"/>
              </a:rPr>
              <a:t>22 · caja blanca</a:t>
            </a:r>
            <a:endParaRPr lang="en-US" sz="3000" dirty="0"/>
          </a:p>
        </p:txBody>
      </p:sp>
      <p:sp>
        <p:nvSpPr>
          <p:cNvPr id="14" name="Text 12"/>
          <p:cNvSpPr/>
          <p:nvPr/>
        </p:nvSpPr>
        <p:spPr>
          <a:xfrm>
            <a:off x="6327648" y="2743200"/>
            <a:ext cx="521208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Services con Mockito</a:t>
            </a:r>
            <a:endParaRPr lang="en-US" sz="1400" dirty="0"/>
          </a:p>
        </p:txBody>
      </p:sp>
      <p:sp>
        <p:nvSpPr>
          <p:cNvPr id="15" name="Text 13"/>
          <p:cNvSpPr/>
          <p:nvPr/>
        </p:nvSpPr>
        <p:spPr>
          <a:xfrm>
            <a:off x="6327648" y="3090672"/>
            <a:ext cx="5212080" cy="1463040"/>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Lógica de negocio con dobles de prueba. Cubren ramas y casos límite.</a:t>
            </a:r>
            <a:endParaRPr lang="en-US" sz="1100" dirty="0"/>
          </a:p>
        </p:txBody>
      </p:sp>
      <p:sp>
        <p:nvSpPr>
          <p:cNvPr id="16" name="Text 14"/>
          <p:cNvSpPr/>
          <p:nvPr/>
        </p:nvSpPr>
        <p:spPr>
          <a:xfrm>
            <a:off x="502920" y="5897880"/>
            <a:ext cx="11155680" cy="365760"/>
          </a:xfrm>
          <a:prstGeom prst="rect">
            <a:avLst/>
          </a:prstGeom>
          <a:noFill/>
          <a:ln/>
        </p:spPr>
        <p:txBody>
          <a:bodyPr wrap="square" rtlCol="0" anchor="ctr"/>
          <a:lstStyle/>
          <a:p>
            <a:pPr indent="0" marL="0">
              <a:buNone/>
            </a:pPr>
            <a:r>
              <a:rPr lang="en-US" sz="1300" i="1" dirty="0">
                <a:solidFill>
                  <a:srgbClr val="F5F5F5"/>
                </a:solidFill>
                <a:latin typeface="Arial" pitchFamily="34" charset="0"/>
                <a:ea typeface="Arial" pitchFamily="34" charset="-122"/>
                <a:cs typeface="Arial" pitchFamily="34" charset="-120"/>
              </a:rPr>
              <a:t>Técnicas: partición de equivalencia · valores límite · tabla de decisión · máquina de estados.</a:t>
            </a:r>
            <a:endParaRPr lang="en-US" sz="1300" dirty="0"/>
          </a:p>
        </p:txBody>
      </p:sp>
      <p:sp>
        <p:nvSpPr>
          <p:cNvPr id="17" name="Text 15"/>
          <p:cNvSpPr/>
          <p:nvPr/>
        </p:nvSpPr>
        <p:spPr>
          <a:xfrm>
            <a:off x="502920" y="6400800"/>
            <a:ext cx="5486400" cy="274320"/>
          </a:xfrm>
          <a:prstGeom prst="rect">
            <a:avLst/>
          </a:prstGeom>
          <a:noFill/>
          <a:ln/>
        </p:spPr>
        <p:txBody>
          <a:bodyPr wrap="square" rtlCol="0" anchor="ctr"/>
          <a:lstStyle/>
          <a:p>
            <a:pPr indent="0" marL="0">
              <a:buNone/>
            </a:pPr>
            <a:r>
              <a:rPr lang="en-US" sz="1100" dirty="0">
                <a:solidFill>
                  <a:srgbClr val="9AA0AE"/>
                </a:solidFill>
                <a:latin typeface="Arial" pitchFamily="34" charset="0"/>
                <a:ea typeface="Arial" pitchFamily="34" charset="-122"/>
                <a:cs typeface="Arial" pitchFamily="34" charset="-120"/>
              </a:rPr>
              <a:t>Presenta: Mateo</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4B3E"/>
          </a:solidFill>
          <a:ln/>
        </p:spPr>
      </p:sp>
      <p:sp>
        <p:nvSpPr>
          <p:cNvPr id="3" name="Text 1"/>
          <p:cNvSpPr/>
          <p:nvPr/>
        </p:nvSpPr>
        <p:spPr>
          <a:xfrm>
            <a:off x="10698480" y="6400800"/>
            <a:ext cx="1280160" cy="274320"/>
          </a:xfrm>
          <a:prstGeom prst="rect">
            <a:avLst/>
          </a:prstGeom>
          <a:noFill/>
          <a:ln/>
        </p:spPr>
        <p:txBody>
          <a:bodyPr wrap="square" rtlCol="0" anchor="ctr"/>
          <a:lstStyle/>
          <a:p>
            <a:pPr algn="r" indent="0" marL="0">
              <a:buNone/>
            </a:pPr>
            <a:r>
              <a:rPr lang="en-US" sz="900" dirty="0">
                <a:solidFill>
                  <a:srgbClr val="9AA0AE"/>
                </a:solidFill>
                <a:latin typeface="Arial" pitchFamily="34" charset="0"/>
                <a:ea typeface="Arial" pitchFamily="34" charset="-122"/>
                <a:cs typeface="Arial" pitchFamily="34" charset="-120"/>
              </a:rPr>
              <a:t>09 / 20</a:t>
            </a:r>
            <a:endParaRPr lang="en-US" sz="900" dirty="0"/>
          </a:p>
        </p:txBody>
      </p:sp>
      <p:sp>
        <p:nvSpPr>
          <p:cNvPr id="4" name="Text 2"/>
          <p:cNvSpPr/>
          <p:nvPr/>
        </p:nvSpPr>
        <p:spPr>
          <a:xfrm>
            <a:off x="502920" y="411480"/>
            <a:ext cx="10058400" cy="365760"/>
          </a:xfrm>
          <a:prstGeom prst="rect">
            <a:avLst/>
          </a:prstGeom>
          <a:noFill/>
          <a:ln/>
        </p:spPr>
        <p:txBody>
          <a:bodyPr wrap="square" rtlCol="0" anchor="ctr"/>
          <a:lstStyle/>
          <a:p>
            <a:pPr indent="0" marL="0">
              <a:buNone/>
            </a:pPr>
            <a:r>
              <a:rPr lang="en-US" sz="1300" b="1" spc="200" kern="0" dirty="0">
                <a:solidFill>
                  <a:srgbClr val="FF4B3E"/>
                </a:solidFill>
                <a:latin typeface="Arial Black" pitchFamily="34" charset="0"/>
                <a:ea typeface="Arial Black" pitchFamily="34" charset="-122"/>
                <a:cs typeface="Arial Black" pitchFamily="34" charset="-120"/>
              </a:rPr>
              <a:t>METODOLOGÍA</a:t>
            </a:r>
            <a:endParaRPr lang="en-US" sz="1300" dirty="0"/>
          </a:p>
        </p:txBody>
      </p:sp>
      <p:sp>
        <p:nvSpPr>
          <p:cNvPr id="5" name="Text 3"/>
          <p:cNvSpPr/>
          <p:nvPr/>
        </p:nvSpPr>
        <p:spPr>
          <a:xfrm>
            <a:off x="502920" y="777240"/>
            <a:ext cx="10972800" cy="822960"/>
          </a:xfrm>
          <a:prstGeom prst="rect">
            <a:avLst/>
          </a:prstGeom>
          <a:noFill/>
          <a:ln/>
        </p:spPr>
        <p:txBody>
          <a:bodyPr wrap="square" rtlCol="0" anchor="ctr"/>
          <a:lstStyle/>
          <a:p>
            <a:pPr indent="0" marL="0">
              <a:buNone/>
            </a:pPr>
            <a:r>
              <a:rPr lang="en-US" sz="3400" b="1" dirty="0">
                <a:solidFill>
                  <a:srgbClr val="F5F5F5"/>
                </a:solidFill>
                <a:latin typeface="Arial Black" pitchFamily="34" charset="0"/>
                <a:ea typeface="Arial Black" pitchFamily="34" charset="-122"/>
                <a:cs typeface="Arial Black" pitchFamily="34" charset="-120"/>
              </a:rPr>
              <a:t>TDD · ciclo Red-Green-Refactor</a:t>
            </a:r>
            <a:endParaRPr lang="en-US" sz="3400" dirty="0"/>
          </a:p>
        </p:txBody>
      </p:sp>
      <p:sp>
        <p:nvSpPr>
          <p:cNvPr id="6" name="Shape 4"/>
          <p:cNvSpPr/>
          <p:nvPr/>
        </p:nvSpPr>
        <p:spPr>
          <a:xfrm>
            <a:off x="502920" y="2011680"/>
            <a:ext cx="3611880" cy="2743200"/>
          </a:xfrm>
          <a:prstGeom prst="roundRect">
            <a:avLst>
              <a:gd name="adj" fmla="val 2667"/>
            </a:avLst>
          </a:prstGeom>
          <a:solidFill>
            <a:srgbClr val="1E2230"/>
          </a:solidFill>
          <a:ln/>
        </p:spPr>
      </p:sp>
      <p:sp>
        <p:nvSpPr>
          <p:cNvPr id="7" name="Shape 5"/>
          <p:cNvSpPr/>
          <p:nvPr/>
        </p:nvSpPr>
        <p:spPr>
          <a:xfrm>
            <a:off x="502920" y="2011680"/>
            <a:ext cx="64008" cy="2743200"/>
          </a:xfrm>
          <a:prstGeom prst="rect">
            <a:avLst/>
          </a:prstGeom>
          <a:solidFill>
            <a:srgbClr val="FF4B3E"/>
          </a:solidFill>
          <a:ln/>
        </p:spPr>
      </p:sp>
      <p:sp>
        <p:nvSpPr>
          <p:cNvPr id="8" name="Text 6"/>
          <p:cNvSpPr/>
          <p:nvPr/>
        </p:nvSpPr>
        <p:spPr>
          <a:xfrm>
            <a:off x="704088" y="2176272"/>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1 · RED</a:t>
            </a:r>
            <a:endParaRPr lang="en-US" sz="1400" dirty="0"/>
          </a:p>
        </p:txBody>
      </p:sp>
      <p:sp>
        <p:nvSpPr>
          <p:cNvPr id="9" name="Text 7"/>
          <p:cNvSpPr/>
          <p:nvPr/>
        </p:nvSpPr>
        <p:spPr>
          <a:xfrm>
            <a:off x="704088" y="2523744"/>
            <a:ext cx="3246120" cy="221284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Escribimos primero el test del caso de uso. Falla, porque la funcionalidad o la validación todavía no existe.</a:t>
            </a:r>
            <a:endParaRPr lang="en-US" sz="1100" dirty="0"/>
          </a:p>
        </p:txBody>
      </p:sp>
      <p:sp>
        <p:nvSpPr>
          <p:cNvPr id="10" name="Shape 8"/>
          <p:cNvSpPr/>
          <p:nvPr/>
        </p:nvSpPr>
        <p:spPr>
          <a:xfrm>
            <a:off x="4297680" y="2011680"/>
            <a:ext cx="3611880" cy="2743200"/>
          </a:xfrm>
          <a:prstGeom prst="roundRect">
            <a:avLst>
              <a:gd name="adj" fmla="val 2667"/>
            </a:avLst>
          </a:prstGeom>
          <a:solidFill>
            <a:srgbClr val="1E2230"/>
          </a:solidFill>
          <a:ln/>
        </p:spPr>
      </p:sp>
      <p:sp>
        <p:nvSpPr>
          <p:cNvPr id="11" name="Shape 9"/>
          <p:cNvSpPr/>
          <p:nvPr/>
        </p:nvSpPr>
        <p:spPr>
          <a:xfrm>
            <a:off x="4297680" y="2011680"/>
            <a:ext cx="64008" cy="2743200"/>
          </a:xfrm>
          <a:prstGeom prst="rect">
            <a:avLst/>
          </a:prstGeom>
          <a:solidFill>
            <a:srgbClr val="3DD68C"/>
          </a:solidFill>
          <a:ln/>
        </p:spPr>
      </p:sp>
      <p:sp>
        <p:nvSpPr>
          <p:cNvPr id="12" name="Text 10"/>
          <p:cNvSpPr/>
          <p:nvPr/>
        </p:nvSpPr>
        <p:spPr>
          <a:xfrm>
            <a:off x="4498848" y="2176272"/>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2 · GREEN</a:t>
            </a:r>
            <a:endParaRPr lang="en-US" sz="1400" dirty="0"/>
          </a:p>
        </p:txBody>
      </p:sp>
      <p:sp>
        <p:nvSpPr>
          <p:cNvPr id="13" name="Text 11"/>
          <p:cNvSpPr/>
          <p:nvPr/>
        </p:nvSpPr>
        <p:spPr>
          <a:xfrm>
            <a:off x="4498848" y="2523744"/>
            <a:ext cx="3246120" cy="221284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Implementamos lo mínimo para que el test pase. La barra se pone verde.</a:t>
            </a:r>
            <a:endParaRPr lang="en-US" sz="1100" dirty="0"/>
          </a:p>
        </p:txBody>
      </p:sp>
      <p:sp>
        <p:nvSpPr>
          <p:cNvPr id="14" name="Shape 12"/>
          <p:cNvSpPr/>
          <p:nvPr/>
        </p:nvSpPr>
        <p:spPr>
          <a:xfrm>
            <a:off x="8092440" y="2011680"/>
            <a:ext cx="3611880" cy="2743200"/>
          </a:xfrm>
          <a:prstGeom prst="roundRect">
            <a:avLst>
              <a:gd name="adj" fmla="val 2667"/>
            </a:avLst>
          </a:prstGeom>
          <a:solidFill>
            <a:srgbClr val="1E2230"/>
          </a:solidFill>
          <a:ln/>
        </p:spPr>
      </p:sp>
      <p:sp>
        <p:nvSpPr>
          <p:cNvPr id="15" name="Shape 13"/>
          <p:cNvSpPr/>
          <p:nvPr/>
        </p:nvSpPr>
        <p:spPr>
          <a:xfrm>
            <a:off x="8092440" y="2011680"/>
            <a:ext cx="64008" cy="2743200"/>
          </a:xfrm>
          <a:prstGeom prst="rect">
            <a:avLst/>
          </a:prstGeom>
          <a:solidFill>
            <a:srgbClr val="5B9BFF"/>
          </a:solidFill>
          <a:ln/>
        </p:spPr>
      </p:sp>
      <p:sp>
        <p:nvSpPr>
          <p:cNvPr id="16" name="Text 14"/>
          <p:cNvSpPr/>
          <p:nvPr/>
        </p:nvSpPr>
        <p:spPr>
          <a:xfrm>
            <a:off x="8293608" y="2176272"/>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3 · REFACTOR</a:t>
            </a:r>
            <a:endParaRPr lang="en-US" sz="1400" dirty="0"/>
          </a:p>
        </p:txBody>
      </p:sp>
      <p:sp>
        <p:nvSpPr>
          <p:cNvPr id="17" name="Text 15"/>
          <p:cNvSpPr/>
          <p:nvPr/>
        </p:nvSpPr>
        <p:spPr>
          <a:xfrm>
            <a:off x="8293608" y="2523744"/>
            <a:ext cx="3246120" cy="221284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Limpiamos el código con la red de seguridad de los tests ya en verde.</a:t>
            </a:r>
            <a:endParaRPr lang="en-US" sz="1100" dirty="0"/>
          </a:p>
        </p:txBody>
      </p:sp>
      <p:sp>
        <p:nvSpPr>
          <p:cNvPr id="18" name="Text 16"/>
          <p:cNvSpPr/>
          <p:nvPr/>
        </p:nvSpPr>
        <p:spPr>
          <a:xfrm>
            <a:off x="502920" y="5897880"/>
            <a:ext cx="11155680" cy="365760"/>
          </a:xfrm>
          <a:prstGeom prst="rect">
            <a:avLst/>
          </a:prstGeom>
          <a:noFill/>
          <a:ln/>
        </p:spPr>
        <p:txBody>
          <a:bodyPr wrap="square" rtlCol="0" anchor="ctr"/>
          <a:lstStyle/>
          <a:p>
            <a:pPr indent="0" marL="0">
              <a:buNone/>
            </a:pPr>
            <a:r>
              <a:rPr lang="en-US" sz="1300" i="1" dirty="0">
                <a:solidFill>
                  <a:srgbClr val="9AA0AE"/>
                </a:solidFill>
                <a:latin typeface="Arial" pitchFamily="34" charset="0"/>
                <a:ea typeface="Arial" pitchFamily="34" charset="-122"/>
                <a:cs typeface="Arial" pitchFamily="34" charset="-120"/>
              </a:rPr>
              <a:t>El ciclo queda visible en el historial de commits: primero el test que falla, después el fix.</a:t>
            </a:r>
            <a:endParaRPr lang="en-US" sz="1300" dirty="0"/>
          </a:p>
        </p:txBody>
      </p:sp>
      <p:sp>
        <p:nvSpPr>
          <p:cNvPr id="19" name="Text 17"/>
          <p:cNvSpPr/>
          <p:nvPr/>
        </p:nvSpPr>
        <p:spPr>
          <a:xfrm>
            <a:off x="502920" y="6400800"/>
            <a:ext cx="5486400" cy="274320"/>
          </a:xfrm>
          <a:prstGeom prst="rect">
            <a:avLst/>
          </a:prstGeom>
          <a:noFill/>
          <a:ln/>
        </p:spPr>
        <p:txBody>
          <a:bodyPr wrap="square" rtlCol="0" anchor="ctr"/>
          <a:lstStyle/>
          <a:p>
            <a:pPr indent="0" marL="0">
              <a:buNone/>
            </a:pPr>
            <a:r>
              <a:rPr lang="en-US" sz="1100" dirty="0">
                <a:solidFill>
                  <a:srgbClr val="9AA0AE"/>
                </a:solidFill>
                <a:latin typeface="Arial" pitchFamily="34" charset="0"/>
                <a:ea typeface="Arial" pitchFamily="34" charset="-122"/>
                <a:cs typeface="Arial" pitchFamily="34" charset="-120"/>
              </a:rPr>
              <a:t>Presenta: Mateo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B9BFF"/>
          </a:solidFill>
          <a:ln/>
        </p:spPr>
      </p:sp>
      <p:sp>
        <p:nvSpPr>
          <p:cNvPr id="3" name="Text 1"/>
          <p:cNvSpPr/>
          <p:nvPr/>
        </p:nvSpPr>
        <p:spPr>
          <a:xfrm>
            <a:off x="10698480" y="6400800"/>
            <a:ext cx="1280160" cy="274320"/>
          </a:xfrm>
          <a:prstGeom prst="rect">
            <a:avLst/>
          </a:prstGeom>
          <a:noFill/>
          <a:ln/>
        </p:spPr>
        <p:txBody>
          <a:bodyPr wrap="square" rtlCol="0" anchor="ctr"/>
          <a:lstStyle/>
          <a:p>
            <a:pPr algn="r" indent="0" marL="0">
              <a:buNone/>
            </a:pPr>
            <a:r>
              <a:rPr lang="en-US" sz="900" dirty="0">
                <a:solidFill>
                  <a:srgbClr val="9AA0AE"/>
                </a:solidFill>
                <a:latin typeface="Arial" pitchFamily="34" charset="0"/>
                <a:ea typeface="Arial" pitchFamily="34" charset="-122"/>
                <a:cs typeface="Arial" pitchFamily="34" charset="-120"/>
              </a:rPr>
              <a:t>10 / 20</a:t>
            </a:r>
            <a:endParaRPr lang="en-US" sz="900" dirty="0"/>
          </a:p>
        </p:txBody>
      </p:sp>
      <p:sp>
        <p:nvSpPr>
          <p:cNvPr id="4" name="Text 2"/>
          <p:cNvSpPr/>
          <p:nvPr/>
        </p:nvSpPr>
        <p:spPr>
          <a:xfrm>
            <a:off x="502920" y="411480"/>
            <a:ext cx="10058400" cy="365760"/>
          </a:xfrm>
          <a:prstGeom prst="rect">
            <a:avLst/>
          </a:prstGeom>
          <a:noFill/>
          <a:ln/>
        </p:spPr>
        <p:txBody>
          <a:bodyPr wrap="square" rtlCol="0" anchor="ctr"/>
          <a:lstStyle/>
          <a:p>
            <a:pPr indent="0" marL="0">
              <a:buNone/>
            </a:pPr>
            <a:r>
              <a:rPr lang="en-US" sz="1300" b="1" spc="200" kern="0" dirty="0">
                <a:solidFill>
                  <a:srgbClr val="5B9BFF"/>
                </a:solidFill>
                <a:latin typeface="Arial Black" pitchFamily="34" charset="0"/>
                <a:ea typeface="Arial Black" pitchFamily="34" charset="-122"/>
                <a:cs typeface="Arial Black" pitchFamily="34" charset="-120"/>
              </a:rPr>
              <a:t>DISEÑO DE PRUEBAS</a:t>
            </a:r>
            <a:endParaRPr lang="en-US" sz="1300" dirty="0"/>
          </a:p>
        </p:txBody>
      </p:sp>
      <p:sp>
        <p:nvSpPr>
          <p:cNvPr id="5" name="Text 3"/>
          <p:cNvSpPr/>
          <p:nvPr/>
        </p:nvSpPr>
        <p:spPr>
          <a:xfrm>
            <a:off x="502920" y="777240"/>
            <a:ext cx="10972800" cy="822960"/>
          </a:xfrm>
          <a:prstGeom prst="rect">
            <a:avLst/>
          </a:prstGeom>
          <a:noFill/>
          <a:ln/>
        </p:spPr>
        <p:txBody>
          <a:bodyPr wrap="square" rtlCol="0" anchor="ctr"/>
          <a:lstStyle/>
          <a:p>
            <a:pPr indent="0" marL="0">
              <a:buNone/>
            </a:pPr>
            <a:r>
              <a:rPr lang="en-US" sz="3400" b="1" dirty="0">
                <a:solidFill>
                  <a:srgbClr val="F5F5F5"/>
                </a:solidFill>
                <a:latin typeface="Arial Black" pitchFamily="34" charset="0"/>
                <a:ea typeface="Arial Black" pitchFamily="34" charset="-122"/>
                <a:cs typeface="Arial Black" pitchFamily="34" charset="-120"/>
              </a:rPr>
              <a:t>Máquina de estados · Asistencia</a:t>
            </a:r>
            <a:endParaRPr lang="en-US" sz="3400" dirty="0"/>
          </a:p>
        </p:txBody>
      </p:sp>
      <p:sp>
        <p:nvSpPr>
          <p:cNvPr id="6" name="Shape 4"/>
          <p:cNvSpPr/>
          <p:nvPr/>
        </p:nvSpPr>
        <p:spPr>
          <a:xfrm>
            <a:off x="822960" y="2468880"/>
            <a:ext cx="3108960" cy="1188720"/>
          </a:xfrm>
          <a:prstGeom prst="roundRect">
            <a:avLst>
              <a:gd name="adj" fmla="val 7692"/>
            </a:avLst>
          </a:prstGeom>
          <a:solidFill>
            <a:srgbClr val="1E2230"/>
          </a:solidFill>
          <a:ln w="25400">
            <a:solidFill>
              <a:srgbClr val="9AA0AE"/>
            </a:solidFill>
            <a:prstDash val="solid"/>
          </a:ln>
        </p:spPr>
      </p:sp>
      <p:sp>
        <p:nvSpPr>
          <p:cNvPr id="7" name="Text 5"/>
          <p:cNvSpPr/>
          <p:nvPr/>
        </p:nvSpPr>
        <p:spPr>
          <a:xfrm>
            <a:off x="822960" y="2468880"/>
            <a:ext cx="3108960" cy="1188720"/>
          </a:xfrm>
          <a:prstGeom prst="rect">
            <a:avLst/>
          </a:prstGeom>
          <a:noFill/>
          <a:ln/>
        </p:spPr>
        <p:txBody>
          <a:bodyPr wrap="square" rtlCol="0" anchor="ctr"/>
          <a:lstStyle/>
          <a:p>
            <a:pPr algn="ctr" indent="0" marL="0">
              <a:buNone/>
            </a:pPr>
            <a:r>
              <a:rPr lang="en-US" sz="1600" b="1" dirty="0">
                <a:solidFill>
                  <a:srgbClr val="9AA0AE"/>
                </a:solidFill>
                <a:latin typeface="Arial Black" pitchFamily="34" charset="0"/>
                <a:ea typeface="Arial Black" pitchFamily="34" charset="-122"/>
                <a:cs typeface="Arial Black" pitchFamily="34" charset="-120"/>
              </a:rPr>
              <a:t>SIN REGISTRO</a:t>
            </a:r>
            <a:endParaRPr lang="en-US" sz="1600" dirty="0"/>
          </a:p>
        </p:txBody>
      </p:sp>
      <p:sp>
        <p:nvSpPr>
          <p:cNvPr id="8" name="Text 6"/>
          <p:cNvSpPr/>
          <p:nvPr/>
        </p:nvSpPr>
        <p:spPr>
          <a:xfrm>
            <a:off x="3977640" y="2743200"/>
            <a:ext cx="640080" cy="640080"/>
          </a:xfrm>
          <a:prstGeom prst="rect">
            <a:avLst/>
          </a:prstGeom>
          <a:noFill/>
          <a:ln/>
        </p:spPr>
        <p:txBody>
          <a:bodyPr wrap="square" rtlCol="0" anchor="ctr"/>
          <a:lstStyle/>
          <a:p>
            <a:pPr algn="ctr" indent="0" marL="0">
              <a:buNone/>
            </a:pPr>
            <a:r>
              <a:rPr lang="en-US" sz="2800" b="1" dirty="0">
                <a:solidFill>
                  <a:srgbClr val="FFB100"/>
                </a:solidFill>
                <a:latin typeface="Arial Black" pitchFamily="34" charset="0"/>
                <a:ea typeface="Arial Black" pitchFamily="34" charset="-122"/>
                <a:cs typeface="Arial Black" pitchFamily="34" charset="-120"/>
              </a:rPr>
              <a:t>→</a:t>
            </a:r>
            <a:endParaRPr lang="en-US" sz="2800" dirty="0"/>
          </a:p>
        </p:txBody>
      </p:sp>
      <p:sp>
        <p:nvSpPr>
          <p:cNvPr id="9" name="Shape 7"/>
          <p:cNvSpPr/>
          <p:nvPr/>
        </p:nvSpPr>
        <p:spPr>
          <a:xfrm>
            <a:off x="4663440" y="2468880"/>
            <a:ext cx="3108960" cy="1188720"/>
          </a:xfrm>
          <a:prstGeom prst="roundRect">
            <a:avLst>
              <a:gd name="adj" fmla="val 7692"/>
            </a:avLst>
          </a:prstGeom>
          <a:solidFill>
            <a:srgbClr val="1E2230"/>
          </a:solidFill>
          <a:ln w="25400">
            <a:solidFill>
              <a:srgbClr val="3DD68C"/>
            </a:solidFill>
            <a:prstDash val="solid"/>
          </a:ln>
        </p:spPr>
      </p:sp>
      <p:sp>
        <p:nvSpPr>
          <p:cNvPr id="10" name="Text 8"/>
          <p:cNvSpPr/>
          <p:nvPr/>
        </p:nvSpPr>
        <p:spPr>
          <a:xfrm>
            <a:off x="4663440" y="2468880"/>
            <a:ext cx="3108960" cy="1188720"/>
          </a:xfrm>
          <a:prstGeom prst="rect">
            <a:avLst/>
          </a:prstGeom>
          <a:noFill/>
          <a:ln/>
        </p:spPr>
        <p:txBody>
          <a:bodyPr wrap="square" rtlCol="0" anchor="ctr"/>
          <a:lstStyle/>
          <a:p>
            <a:pPr algn="ctr" indent="0" marL="0">
              <a:buNone/>
            </a:pPr>
            <a:r>
              <a:rPr lang="en-US" sz="1600" b="1" dirty="0">
                <a:solidFill>
                  <a:srgbClr val="3DD68C"/>
                </a:solidFill>
                <a:latin typeface="Arial Black" pitchFamily="34" charset="0"/>
                <a:ea typeface="Arial Black" pitchFamily="34" charset="-122"/>
                <a:cs typeface="Arial Black" pitchFamily="34" charset="-120"/>
              </a:rPr>
              <a:t>REGISTRADA</a:t>
            </a:r>
            <a:endParaRPr lang="en-US" sz="1600" dirty="0"/>
          </a:p>
        </p:txBody>
      </p:sp>
      <p:sp>
        <p:nvSpPr>
          <p:cNvPr id="11" name="Text 9"/>
          <p:cNvSpPr/>
          <p:nvPr/>
        </p:nvSpPr>
        <p:spPr>
          <a:xfrm>
            <a:off x="7818120" y="2743200"/>
            <a:ext cx="640080" cy="640080"/>
          </a:xfrm>
          <a:prstGeom prst="rect">
            <a:avLst/>
          </a:prstGeom>
          <a:noFill/>
          <a:ln/>
        </p:spPr>
        <p:txBody>
          <a:bodyPr wrap="square" rtlCol="0" anchor="ctr"/>
          <a:lstStyle/>
          <a:p>
            <a:pPr algn="ctr" indent="0" marL="0">
              <a:buNone/>
            </a:pPr>
            <a:r>
              <a:rPr lang="en-US" sz="2800" b="1" dirty="0">
                <a:solidFill>
                  <a:srgbClr val="FFB100"/>
                </a:solidFill>
                <a:latin typeface="Arial Black" pitchFamily="34" charset="0"/>
                <a:ea typeface="Arial Black" pitchFamily="34" charset="-122"/>
                <a:cs typeface="Arial Black" pitchFamily="34" charset="-120"/>
              </a:rPr>
              <a:t>→</a:t>
            </a:r>
            <a:endParaRPr lang="en-US" sz="2800" dirty="0"/>
          </a:p>
        </p:txBody>
      </p:sp>
      <p:sp>
        <p:nvSpPr>
          <p:cNvPr id="12" name="Shape 10"/>
          <p:cNvSpPr/>
          <p:nvPr/>
        </p:nvSpPr>
        <p:spPr>
          <a:xfrm>
            <a:off x="8503920" y="2468880"/>
            <a:ext cx="3108960" cy="1188720"/>
          </a:xfrm>
          <a:prstGeom prst="roundRect">
            <a:avLst>
              <a:gd name="adj" fmla="val 7692"/>
            </a:avLst>
          </a:prstGeom>
          <a:solidFill>
            <a:srgbClr val="1E2230"/>
          </a:solidFill>
          <a:ln w="25400">
            <a:solidFill>
              <a:srgbClr val="FF4B3E"/>
            </a:solidFill>
            <a:prstDash val="solid"/>
          </a:ln>
        </p:spPr>
      </p:sp>
      <p:sp>
        <p:nvSpPr>
          <p:cNvPr id="13" name="Text 11"/>
          <p:cNvSpPr/>
          <p:nvPr/>
        </p:nvSpPr>
        <p:spPr>
          <a:xfrm>
            <a:off x="8503920" y="2468880"/>
            <a:ext cx="3108960" cy="1188720"/>
          </a:xfrm>
          <a:prstGeom prst="rect">
            <a:avLst/>
          </a:prstGeom>
          <a:noFill/>
          <a:ln/>
        </p:spPr>
        <p:txBody>
          <a:bodyPr wrap="square" rtlCol="0" anchor="ctr"/>
          <a:lstStyle/>
          <a:p>
            <a:pPr algn="ctr" indent="0" marL="0">
              <a:buNone/>
            </a:pPr>
            <a:r>
              <a:rPr lang="en-US" sz="1600" b="1" dirty="0">
                <a:solidFill>
                  <a:srgbClr val="FF4B3E"/>
                </a:solidFill>
                <a:latin typeface="Arial Black" pitchFamily="34" charset="0"/>
                <a:ea typeface="Arial Black" pitchFamily="34" charset="-122"/>
                <a:cs typeface="Arial Black" pitchFamily="34" charset="-120"/>
              </a:rPr>
              <a:t>DUPLICADA → 409</a:t>
            </a:r>
            <a:endParaRPr lang="en-US" sz="1600" dirty="0"/>
          </a:p>
        </p:txBody>
      </p:sp>
      <p:sp>
        <p:nvSpPr>
          <p:cNvPr id="14" name="Text 12"/>
          <p:cNvSpPr/>
          <p:nvPr/>
        </p:nvSpPr>
        <p:spPr>
          <a:xfrm>
            <a:off x="502920" y="5897880"/>
            <a:ext cx="11155680" cy="365760"/>
          </a:xfrm>
          <a:prstGeom prst="rect">
            <a:avLst/>
          </a:prstGeom>
          <a:noFill/>
          <a:ln/>
        </p:spPr>
        <p:txBody>
          <a:bodyPr wrap="square" rtlCol="0" anchor="ctr"/>
          <a:lstStyle/>
          <a:p>
            <a:pPr indent="0" marL="0">
              <a:buNone/>
            </a:pPr>
            <a:r>
              <a:rPr lang="en-US" sz="1300" i="1" dirty="0">
                <a:solidFill>
                  <a:srgbClr val="F5F5F5"/>
                </a:solidFill>
                <a:latin typeface="Arial" pitchFamily="34" charset="0"/>
                <a:ea typeface="Arial" pitchFamily="34" charset="-122"/>
                <a:cs typeface="Arial" pitchFamily="34" charset="-120"/>
              </a:rPr>
              <a:t>Modelamos la asistencia como estados y derivamos casos: primer registro OK, segundo registro del día → 409.</a:t>
            </a:r>
            <a:endParaRPr lang="en-US" sz="1300" dirty="0"/>
          </a:p>
        </p:txBody>
      </p:sp>
      <p:sp>
        <p:nvSpPr>
          <p:cNvPr id="15" name="Text 13"/>
          <p:cNvSpPr/>
          <p:nvPr/>
        </p:nvSpPr>
        <p:spPr>
          <a:xfrm>
            <a:off x="502920" y="6400800"/>
            <a:ext cx="5486400" cy="274320"/>
          </a:xfrm>
          <a:prstGeom prst="rect">
            <a:avLst/>
          </a:prstGeom>
          <a:noFill/>
          <a:ln/>
        </p:spPr>
        <p:txBody>
          <a:bodyPr wrap="square" rtlCol="0" anchor="ctr"/>
          <a:lstStyle/>
          <a:p>
            <a:pPr indent="0" marL="0">
              <a:buNone/>
            </a:pPr>
            <a:r>
              <a:rPr lang="en-US" sz="1100" dirty="0">
                <a:solidFill>
                  <a:srgbClr val="9AA0AE"/>
                </a:solidFill>
                <a:latin typeface="Arial" pitchFamily="34" charset="0"/>
                <a:ea typeface="Arial" pitchFamily="34" charset="-122"/>
                <a:cs typeface="Arial" pitchFamily="34" charset="-120"/>
              </a:rPr>
              <a:t>Presenta: Martín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3DD68C"/>
          </a:solidFill>
          <a:ln/>
        </p:spPr>
      </p:sp>
      <p:sp>
        <p:nvSpPr>
          <p:cNvPr id="3" name="Text 1"/>
          <p:cNvSpPr/>
          <p:nvPr/>
        </p:nvSpPr>
        <p:spPr>
          <a:xfrm>
            <a:off x="10698480" y="6400800"/>
            <a:ext cx="1280160" cy="274320"/>
          </a:xfrm>
          <a:prstGeom prst="rect">
            <a:avLst/>
          </a:prstGeom>
          <a:noFill/>
          <a:ln/>
        </p:spPr>
        <p:txBody>
          <a:bodyPr wrap="square" rtlCol="0" anchor="ctr"/>
          <a:lstStyle/>
          <a:p>
            <a:pPr algn="r" indent="0" marL="0">
              <a:buNone/>
            </a:pPr>
            <a:r>
              <a:rPr lang="en-US" sz="900" dirty="0">
                <a:solidFill>
                  <a:srgbClr val="9AA0AE"/>
                </a:solidFill>
                <a:latin typeface="Arial" pitchFamily="34" charset="0"/>
                <a:ea typeface="Arial" pitchFamily="34" charset="-122"/>
                <a:cs typeface="Arial" pitchFamily="34" charset="-120"/>
              </a:rPr>
              <a:t>11 / 20</a:t>
            </a:r>
            <a:endParaRPr lang="en-US" sz="900" dirty="0"/>
          </a:p>
        </p:txBody>
      </p:sp>
      <p:sp>
        <p:nvSpPr>
          <p:cNvPr id="4" name="Text 2"/>
          <p:cNvSpPr/>
          <p:nvPr/>
        </p:nvSpPr>
        <p:spPr>
          <a:xfrm>
            <a:off x="502920" y="411480"/>
            <a:ext cx="10058400" cy="365760"/>
          </a:xfrm>
          <a:prstGeom prst="rect">
            <a:avLst/>
          </a:prstGeom>
          <a:noFill/>
          <a:ln/>
        </p:spPr>
        <p:txBody>
          <a:bodyPr wrap="square" rtlCol="0" anchor="ctr"/>
          <a:lstStyle/>
          <a:p>
            <a:pPr indent="0" marL="0">
              <a:buNone/>
            </a:pPr>
            <a:r>
              <a:rPr lang="en-US" sz="1300" b="1" spc="200" kern="0" dirty="0">
                <a:solidFill>
                  <a:srgbClr val="3DD68C"/>
                </a:solidFill>
                <a:latin typeface="Arial Black" pitchFamily="34" charset="0"/>
                <a:ea typeface="Arial Black" pitchFamily="34" charset="-122"/>
                <a:cs typeface="Arial Black" pitchFamily="34" charset="-120"/>
              </a:rPr>
              <a:t>AUTOMATIZACIÓN</a:t>
            </a:r>
            <a:endParaRPr lang="en-US" sz="1300" dirty="0"/>
          </a:p>
        </p:txBody>
      </p:sp>
      <p:sp>
        <p:nvSpPr>
          <p:cNvPr id="5" name="Text 3"/>
          <p:cNvSpPr/>
          <p:nvPr/>
        </p:nvSpPr>
        <p:spPr>
          <a:xfrm>
            <a:off x="502920" y="777240"/>
            <a:ext cx="10972800" cy="822960"/>
          </a:xfrm>
          <a:prstGeom prst="rect">
            <a:avLst/>
          </a:prstGeom>
          <a:noFill/>
          <a:ln/>
        </p:spPr>
        <p:txBody>
          <a:bodyPr wrap="square" rtlCol="0" anchor="ctr"/>
          <a:lstStyle/>
          <a:p>
            <a:pPr indent="0" marL="0">
              <a:buNone/>
            </a:pPr>
            <a:r>
              <a:rPr lang="en-US" sz="3400" b="1" dirty="0">
                <a:solidFill>
                  <a:srgbClr val="F5F5F5"/>
                </a:solidFill>
                <a:latin typeface="Arial Black" pitchFamily="34" charset="0"/>
                <a:ea typeface="Arial Black" pitchFamily="34" charset="-122"/>
                <a:cs typeface="Arial Black" pitchFamily="34" charset="-120"/>
              </a:rPr>
              <a:t>Integración continua</a:t>
            </a:r>
            <a:endParaRPr lang="en-US" sz="3400" dirty="0"/>
          </a:p>
        </p:txBody>
      </p:sp>
      <p:sp>
        <p:nvSpPr>
          <p:cNvPr id="6" name="Shape 4"/>
          <p:cNvSpPr/>
          <p:nvPr/>
        </p:nvSpPr>
        <p:spPr>
          <a:xfrm>
            <a:off x="502920" y="1920240"/>
            <a:ext cx="3611880" cy="2926080"/>
          </a:xfrm>
          <a:prstGeom prst="roundRect">
            <a:avLst>
              <a:gd name="adj" fmla="val 2500"/>
            </a:avLst>
          </a:prstGeom>
          <a:solidFill>
            <a:srgbClr val="1E2230"/>
          </a:solidFill>
          <a:ln/>
        </p:spPr>
      </p:sp>
      <p:sp>
        <p:nvSpPr>
          <p:cNvPr id="7" name="Shape 5"/>
          <p:cNvSpPr/>
          <p:nvPr/>
        </p:nvSpPr>
        <p:spPr>
          <a:xfrm>
            <a:off x="502920" y="1920240"/>
            <a:ext cx="64008" cy="2926080"/>
          </a:xfrm>
          <a:prstGeom prst="rect">
            <a:avLst/>
          </a:prstGeom>
          <a:solidFill>
            <a:srgbClr val="3DD68C"/>
          </a:solidFill>
          <a:ln/>
        </p:spPr>
      </p:sp>
      <p:sp>
        <p:nvSpPr>
          <p:cNvPr id="8" name="Text 6"/>
          <p:cNvSpPr/>
          <p:nvPr/>
        </p:nvSpPr>
        <p:spPr>
          <a:xfrm>
            <a:off x="704088" y="2084832"/>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En cada push</a:t>
            </a:r>
            <a:endParaRPr lang="en-US" sz="1400" dirty="0"/>
          </a:p>
        </p:txBody>
      </p:sp>
      <p:sp>
        <p:nvSpPr>
          <p:cNvPr id="9" name="Text 7"/>
          <p:cNvSpPr/>
          <p:nvPr/>
        </p:nvSpPr>
        <p:spPr>
          <a:xfrm>
            <a:off x="704088" y="2432304"/>
            <a:ext cx="3246120" cy="239572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GitHub Actions compila, corre los 77 tests y genera el reporte de cobertura JaCoCo.</a:t>
            </a:r>
            <a:endParaRPr lang="en-US" sz="1100" dirty="0"/>
          </a:p>
        </p:txBody>
      </p:sp>
      <p:sp>
        <p:nvSpPr>
          <p:cNvPr id="10" name="Shape 8"/>
          <p:cNvSpPr/>
          <p:nvPr/>
        </p:nvSpPr>
        <p:spPr>
          <a:xfrm>
            <a:off x="4297680" y="1920240"/>
            <a:ext cx="3611880" cy="2926080"/>
          </a:xfrm>
          <a:prstGeom prst="roundRect">
            <a:avLst>
              <a:gd name="adj" fmla="val 2500"/>
            </a:avLst>
          </a:prstGeom>
          <a:solidFill>
            <a:srgbClr val="1E2230"/>
          </a:solidFill>
          <a:ln/>
        </p:spPr>
      </p:sp>
      <p:sp>
        <p:nvSpPr>
          <p:cNvPr id="11" name="Shape 9"/>
          <p:cNvSpPr/>
          <p:nvPr/>
        </p:nvSpPr>
        <p:spPr>
          <a:xfrm>
            <a:off x="4297680" y="1920240"/>
            <a:ext cx="64008" cy="2926080"/>
          </a:xfrm>
          <a:prstGeom prst="rect">
            <a:avLst/>
          </a:prstGeom>
          <a:solidFill>
            <a:srgbClr val="5B9BFF"/>
          </a:solidFill>
          <a:ln/>
        </p:spPr>
      </p:sp>
      <p:sp>
        <p:nvSpPr>
          <p:cNvPr id="12" name="Text 10"/>
          <p:cNvSpPr/>
          <p:nvPr/>
        </p:nvSpPr>
        <p:spPr>
          <a:xfrm>
            <a:off x="4498848" y="2084832"/>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Feedback inmediato</a:t>
            </a:r>
            <a:endParaRPr lang="en-US" sz="1400" dirty="0"/>
          </a:p>
        </p:txBody>
      </p:sp>
      <p:sp>
        <p:nvSpPr>
          <p:cNvPr id="13" name="Text 11"/>
          <p:cNvSpPr/>
          <p:nvPr/>
        </p:nvSpPr>
        <p:spPr>
          <a:xfrm>
            <a:off x="4498848" y="2432304"/>
            <a:ext cx="3246120" cy="239572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Si un test falla, el pipeline avisa antes de mergear. La rama main siempre queda verde.</a:t>
            </a:r>
            <a:endParaRPr lang="en-US" sz="1100" dirty="0"/>
          </a:p>
        </p:txBody>
      </p:sp>
      <p:sp>
        <p:nvSpPr>
          <p:cNvPr id="14" name="Shape 12"/>
          <p:cNvSpPr/>
          <p:nvPr/>
        </p:nvSpPr>
        <p:spPr>
          <a:xfrm>
            <a:off x="8092440" y="1920240"/>
            <a:ext cx="3611880" cy="2926080"/>
          </a:xfrm>
          <a:prstGeom prst="roundRect">
            <a:avLst>
              <a:gd name="adj" fmla="val 2500"/>
            </a:avLst>
          </a:prstGeom>
          <a:solidFill>
            <a:srgbClr val="1E2230"/>
          </a:solidFill>
          <a:ln/>
        </p:spPr>
      </p:sp>
      <p:sp>
        <p:nvSpPr>
          <p:cNvPr id="15" name="Shape 13"/>
          <p:cNvSpPr/>
          <p:nvPr/>
        </p:nvSpPr>
        <p:spPr>
          <a:xfrm>
            <a:off x="8092440" y="1920240"/>
            <a:ext cx="64008" cy="2926080"/>
          </a:xfrm>
          <a:prstGeom prst="rect">
            <a:avLst/>
          </a:prstGeom>
          <a:solidFill>
            <a:srgbClr val="FFB100"/>
          </a:solidFill>
          <a:ln/>
        </p:spPr>
      </p:sp>
      <p:sp>
        <p:nvSpPr>
          <p:cNvPr id="16" name="Text 14"/>
          <p:cNvSpPr/>
          <p:nvPr/>
        </p:nvSpPr>
        <p:spPr>
          <a:xfrm>
            <a:off x="8293608" y="2084832"/>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Análisis estático</a:t>
            </a:r>
            <a:endParaRPr lang="en-US" sz="1400" dirty="0"/>
          </a:p>
        </p:txBody>
      </p:sp>
      <p:sp>
        <p:nvSpPr>
          <p:cNvPr id="17" name="Text 15"/>
          <p:cNvSpPr/>
          <p:nvPr/>
        </p:nvSpPr>
        <p:spPr>
          <a:xfrm>
            <a:off x="8293608" y="2432304"/>
            <a:ext cx="3246120" cy="239572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Checkstyle y PMD sobre el código Java; ESLint en el frontend.</a:t>
            </a:r>
            <a:endParaRPr lang="en-US" sz="1100" dirty="0"/>
          </a:p>
        </p:txBody>
      </p:sp>
      <p:sp>
        <p:nvSpPr>
          <p:cNvPr id="18" name="Text 16"/>
          <p:cNvSpPr/>
          <p:nvPr/>
        </p:nvSpPr>
        <p:spPr>
          <a:xfrm>
            <a:off x="502920" y="5897880"/>
            <a:ext cx="11155680" cy="365760"/>
          </a:xfrm>
          <a:prstGeom prst="rect">
            <a:avLst/>
          </a:prstGeom>
          <a:noFill/>
          <a:ln/>
        </p:spPr>
        <p:txBody>
          <a:bodyPr wrap="square" rtlCol="0" anchor="ctr"/>
          <a:lstStyle/>
          <a:p>
            <a:pPr indent="0" marL="0">
              <a:buNone/>
            </a:pPr>
            <a:r>
              <a:rPr lang="en-US" sz="1300" i="1" dirty="0">
                <a:solidFill>
                  <a:srgbClr val="9AA0AE"/>
                </a:solidFill>
                <a:latin typeface="Arial" pitchFamily="34" charset="0"/>
                <a:ea typeface="Arial" pitchFamily="34" charset="-122"/>
                <a:cs typeface="Arial" pitchFamily="34" charset="-120"/>
              </a:rPr>
              <a:t>La calidad deja de depender de la disciplina individual: la verifica la máquina en cada cambio.</a:t>
            </a:r>
            <a:endParaRPr lang="en-US" sz="1300" dirty="0"/>
          </a:p>
        </p:txBody>
      </p:sp>
      <p:sp>
        <p:nvSpPr>
          <p:cNvPr id="19" name="Text 17"/>
          <p:cNvSpPr/>
          <p:nvPr/>
        </p:nvSpPr>
        <p:spPr>
          <a:xfrm>
            <a:off x="502920" y="6400800"/>
            <a:ext cx="5486400" cy="274320"/>
          </a:xfrm>
          <a:prstGeom prst="rect">
            <a:avLst/>
          </a:prstGeom>
          <a:noFill/>
          <a:ln/>
        </p:spPr>
        <p:txBody>
          <a:bodyPr wrap="square" rtlCol="0" anchor="ctr"/>
          <a:lstStyle/>
          <a:p>
            <a:pPr indent="0" marL="0">
              <a:buNone/>
            </a:pPr>
            <a:r>
              <a:rPr lang="en-US" sz="1100" dirty="0">
                <a:solidFill>
                  <a:srgbClr val="9AA0AE"/>
                </a:solidFill>
                <a:latin typeface="Arial" pitchFamily="34" charset="0"/>
                <a:ea typeface="Arial" pitchFamily="34" charset="-122"/>
                <a:cs typeface="Arial" pitchFamily="34" charset="-120"/>
              </a:rPr>
              <a:t>Presenta: Martín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B100"/>
          </a:solidFill>
          <a:ln/>
        </p:spPr>
      </p:sp>
      <p:sp>
        <p:nvSpPr>
          <p:cNvPr id="3" name="Text 1"/>
          <p:cNvSpPr/>
          <p:nvPr/>
        </p:nvSpPr>
        <p:spPr>
          <a:xfrm>
            <a:off x="10698480" y="6400800"/>
            <a:ext cx="1280160" cy="274320"/>
          </a:xfrm>
          <a:prstGeom prst="rect">
            <a:avLst/>
          </a:prstGeom>
          <a:noFill/>
          <a:ln/>
        </p:spPr>
        <p:txBody>
          <a:bodyPr wrap="square" rtlCol="0" anchor="ctr"/>
          <a:lstStyle/>
          <a:p>
            <a:pPr algn="r" indent="0" marL="0">
              <a:buNone/>
            </a:pPr>
            <a:r>
              <a:rPr lang="en-US" sz="900" dirty="0">
                <a:solidFill>
                  <a:srgbClr val="9AA0AE"/>
                </a:solidFill>
                <a:latin typeface="Arial" pitchFamily="34" charset="0"/>
                <a:ea typeface="Arial" pitchFamily="34" charset="-122"/>
                <a:cs typeface="Arial" pitchFamily="34" charset="-120"/>
              </a:rPr>
              <a:t>12 / 20</a:t>
            </a:r>
            <a:endParaRPr lang="en-US" sz="900" dirty="0"/>
          </a:p>
        </p:txBody>
      </p:sp>
      <p:sp>
        <p:nvSpPr>
          <p:cNvPr id="4" name="Text 2"/>
          <p:cNvSpPr/>
          <p:nvPr/>
        </p:nvSpPr>
        <p:spPr>
          <a:xfrm>
            <a:off x="502920" y="411480"/>
            <a:ext cx="10058400" cy="365760"/>
          </a:xfrm>
          <a:prstGeom prst="rect">
            <a:avLst/>
          </a:prstGeom>
          <a:noFill/>
          <a:ln/>
        </p:spPr>
        <p:txBody>
          <a:bodyPr wrap="square" rtlCol="0" anchor="ctr"/>
          <a:lstStyle/>
          <a:p>
            <a:pPr indent="0" marL="0">
              <a:buNone/>
            </a:pPr>
            <a:r>
              <a:rPr lang="en-US" sz="1300" b="1" spc="200" kern="0" dirty="0">
                <a:solidFill>
                  <a:srgbClr val="FFB100"/>
                </a:solidFill>
                <a:latin typeface="Arial Black" pitchFamily="34" charset="0"/>
                <a:ea typeface="Arial Black" pitchFamily="34" charset="-122"/>
                <a:cs typeface="Arial Black" pitchFamily="34" charset="-120"/>
              </a:rPr>
              <a:t>MÉTRICAS FINALES</a:t>
            </a:r>
            <a:endParaRPr lang="en-US" sz="1300" dirty="0"/>
          </a:p>
        </p:txBody>
      </p:sp>
      <p:sp>
        <p:nvSpPr>
          <p:cNvPr id="5" name="Text 3"/>
          <p:cNvSpPr/>
          <p:nvPr/>
        </p:nvSpPr>
        <p:spPr>
          <a:xfrm>
            <a:off x="502920" y="777240"/>
            <a:ext cx="10972800" cy="822960"/>
          </a:xfrm>
          <a:prstGeom prst="rect">
            <a:avLst/>
          </a:prstGeom>
          <a:noFill/>
          <a:ln/>
        </p:spPr>
        <p:txBody>
          <a:bodyPr wrap="square" rtlCol="0" anchor="ctr"/>
          <a:lstStyle/>
          <a:p>
            <a:pPr indent="0" marL="0">
              <a:buNone/>
            </a:pPr>
            <a:r>
              <a:rPr lang="en-US" sz="3400" b="1" dirty="0">
                <a:solidFill>
                  <a:srgbClr val="F5F5F5"/>
                </a:solidFill>
                <a:latin typeface="Arial Black" pitchFamily="34" charset="0"/>
                <a:ea typeface="Arial Black" pitchFamily="34" charset="-122"/>
                <a:cs typeface="Arial Black" pitchFamily="34" charset="-120"/>
              </a:rPr>
              <a:t>Tamaño y complejidad</a:t>
            </a:r>
            <a:endParaRPr lang="en-US" sz="3400" dirty="0"/>
          </a:p>
        </p:txBody>
      </p:sp>
      <p:sp>
        <p:nvSpPr>
          <p:cNvPr id="6" name="Shape 4"/>
          <p:cNvSpPr/>
          <p:nvPr/>
        </p:nvSpPr>
        <p:spPr>
          <a:xfrm>
            <a:off x="502920" y="1920240"/>
            <a:ext cx="3611880" cy="2651760"/>
          </a:xfrm>
          <a:prstGeom prst="roundRect">
            <a:avLst>
              <a:gd name="adj" fmla="val 2759"/>
            </a:avLst>
          </a:prstGeom>
          <a:solidFill>
            <a:srgbClr val="1E2230"/>
          </a:solidFill>
          <a:ln/>
        </p:spPr>
      </p:sp>
      <p:sp>
        <p:nvSpPr>
          <p:cNvPr id="7" name="Shape 5"/>
          <p:cNvSpPr/>
          <p:nvPr/>
        </p:nvSpPr>
        <p:spPr>
          <a:xfrm>
            <a:off x="502920" y="1920240"/>
            <a:ext cx="64008" cy="2651760"/>
          </a:xfrm>
          <a:prstGeom prst="rect">
            <a:avLst/>
          </a:prstGeom>
          <a:solidFill>
            <a:srgbClr val="5B9BFF"/>
          </a:solidFill>
          <a:ln/>
        </p:spPr>
      </p:sp>
      <p:sp>
        <p:nvSpPr>
          <p:cNvPr id="8" name="Text 6"/>
          <p:cNvSpPr/>
          <p:nvPr/>
        </p:nvSpPr>
        <p:spPr>
          <a:xfrm>
            <a:off x="704088" y="2084832"/>
            <a:ext cx="3246120" cy="640080"/>
          </a:xfrm>
          <a:prstGeom prst="rect">
            <a:avLst/>
          </a:prstGeom>
          <a:noFill/>
          <a:ln/>
        </p:spPr>
        <p:txBody>
          <a:bodyPr wrap="square" rtlCol="0" anchor="ctr"/>
          <a:lstStyle/>
          <a:p>
            <a:pPr indent="0" marL="0">
              <a:buNone/>
            </a:pPr>
            <a:r>
              <a:rPr lang="en-US" sz="3000" b="1" dirty="0">
                <a:solidFill>
                  <a:srgbClr val="5B9BFF"/>
                </a:solidFill>
                <a:latin typeface="Arial Black" pitchFamily="34" charset="0"/>
                <a:ea typeface="Arial Black" pitchFamily="34" charset="-122"/>
                <a:cs typeface="Arial Black" pitchFamily="34" charset="-120"/>
              </a:rPr>
              <a:t>1.585</a:t>
            </a:r>
            <a:endParaRPr lang="en-US" sz="3000" dirty="0"/>
          </a:p>
        </p:txBody>
      </p:sp>
      <p:sp>
        <p:nvSpPr>
          <p:cNvPr id="9" name="Text 7"/>
          <p:cNvSpPr/>
          <p:nvPr/>
        </p:nvSpPr>
        <p:spPr>
          <a:xfrm>
            <a:off x="704088" y="2743200"/>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líneas de producción</a:t>
            </a:r>
            <a:endParaRPr lang="en-US" sz="1400" dirty="0"/>
          </a:p>
        </p:txBody>
      </p:sp>
      <p:sp>
        <p:nvSpPr>
          <p:cNvPr id="10" name="Text 8"/>
          <p:cNvSpPr/>
          <p:nvPr/>
        </p:nvSpPr>
        <p:spPr>
          <a:xfrm>
            <a:off x="704088" y="3090672"/>
            <a:ext cx="3246120" cy="1463040"/>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Backend 704 + Frontend 881. Tests: 839 (razón 0,53).</a:t>
            </a:r>
            <a:endParaRPr lang="en-US" sz="1100" dirty="0"/>
          </a:p>
        </p:txBody>
      </p:sp>
      <p:sp>
        <p:nvSpPr>
          <p:cNvPr id="11" name="Shape 9"/>
          <p:cNvSpPr/>
          <p:nvPr/>
        </p:nvSpPr>
        <p:spPr>
          <a:xfrm>
            <a:off x="4297680" y="1920240"/>
            <a:ext cx="3611880" cy="2651760"/>
          </a:xfrm>
          <a:prstGeom prst="roundRect">
            <a:avLst>
              <a:gd name="adj" fmla="val 2759"/>
            </a:avLst>
          </a:prstGeom>
          <a:solidFill>
            <a:srgbClr val="1E2230"/>
          </a:solidFill>
          <a:ln/>
        </p:spPr>
      </p:sp>
      <p:sp>
        <p:nvSpPr>
          <p:cNvPr id="12" name="Shape 10"/>
          <p:cNvSpPr/>
          <p:nvPr/>
        </p:nvSpPr>
        <p:spPr>
          <a:xfrm>
            <a:off x="4297680" y="1920240"/>
            <a:ext cx="64008" cy="2651760"/>
          </a:xfrm>
          <a:prstGeom prst="rect">
            <a:avLst/>
          </a:prstGeom>
          <a:solidFill>
            <a:srgbClr val="3DD68C"/>
          </a:solidFill>
          <a:ln/>
        </p:spPr>
      </p:sp>
      <p:sp>
        <p:nvSpPr>
          <p:cNvPr id="13" name="Text 11"/>
          <p:cNvSpPr/>
          <p:nvPr/>
        </p:nvSpPr>
        <p:spPr>
          <a:xfrm>
            <a:off x="4498848" y="2084832"/>
            <a:ext cx="3246120" cy="640080"/>
          </a:xfrm>
          <a:prstGeom prst="rect">
            <a:avLst/>
          </a:prstGeom>
          <a:noFill/>
          <a:ln/>
        </p:spPr>
        <p:txBody>
          <a:bodyPr wrap="square" rtlCol="0" anchor="ctr"/>
          <a:lstStyle/>
          <a:p>
            <a:pPr indent="0" marL="0">
              <a:buNone/>
            </a:pPr>
            <a:r>
              <a:rPr lang="en-US" sz="3000" b="1" dirty="0">
                <a:solidFill>
                  <a:srgbClr val="3DD68C"/>
                </a:solidFill>
                <a:latin typeface="Arial Black" pitchFamily="34" charset="0"/>
                <a:ea typeface="Arial Black" pitchFamily="34" charset="-122"/>
                <a:cs typeface="Arial Black" pitchFamily="34" charset="-120"/>
              </a:rPr>
              <a:t>CC ≤ 10</a:t>
            </a:r>
            <a:endParaRPr lang="en-US" sz="3000" dirty="0"/>
          </a:p>
        </p:txBody>
      </p:sp>
      <p:sp>
        <p:nvSpPr>
          <p:cNvPr id="14" name="Text 12"/>
          <p:cNvSpPr/>
          <p:nvPr/>
        </p:nvSpPr>
        <p:spPr>
          <a:xfrm>
            <a:off x="4498848" y="2743200"/>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complejidad ciclomática</a:t>
            </a:r>
            <a:endParaRPr lang="en-US" sz="1400" dirty="0"/>
          </a:p>
        </p:txBody>
      </p:sp>
      <p:sp>
        <p:nvSpPr>
          <p:cNvPr id="15" name="Text 13"/>
          <p:cNvSpPr/>
          <p:nvPr/>
        </p:nvSpPr>
        <p:spPr>
          <a:xfrm>
            <a:off x="4498848" y="3090672"/>
            <a:ext cx="3246120" cy="1463040"/>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0 violaciones en PMD. Método más complejo: CC = 3.</a:t>
            </a:r>
            <a:endParaRPr lang="en-US" sz="1100" dirty="0"/>
          </a:p>
        </p:txBody>
      </p:sp>
      <p:sp>
        <p:nvSpPr>
          <p:cNvPr id="16" name="Shape 14"/>
          <p:cNvSpPr/>
          <p:nvPr/>
        </p:nvSpPr>
        <p:spPr>
          <a:xfrm>
            <a:off x="8092440" y="1920240"/>
            <a:ext cx="3611880" cy="2651760"/>
          </a:xfrm>
          <a:prstGeom prst="roundRect">
            <a:avLst>
              <a:gd name="adj" fmla="val 2759"/>
            </a:avLst>
          </a:prstGeom>
          <a:solidFill>
            <a:srgbClr val="1E2230"/>
          </a:solidFill>
          <a:ln/>
        </p:spPr>
      </p:sp>
      <p:sp>
        <p:nvSpPr>
          <p:cNvPr id="17" name="Shape 15"/>
          <p:cNvSpPr/>
          <p:nvPr/>
        </p:nvSpPr>
        <p:spPr>
          <a:xfrm>
            <a:off x="8092440" y="1920240"/>
            <a:ext cx="64008" cy="2651760"/>
          </a:xfrm>
          <a:prstGeom prst="rect">
            <a:avLst/>
          </a:prstGeom>
          <a:solidFill>
            <a:srgbClr val="FFB100"/>
          </a:solidFill>
          <a:ln/>
        </p:spPr>
      </p:sp>
      <p:sp>
        <p:nvSpPr>
          <p:cNvPr id="18" name="Text 16"/>
          <p:cNvSpPr/>
          <p:nvPr/>
        </p:nvSpPr>
        <p:spPr>
          <a:xfrm>
            <a:off x="8293608" y="2084832"/>
            <a:ext cx="3246120" cy="640080"/>
          </a:xfrm>
          <a:prstGeom prst="rect">
            <a:avLst/>
          </a:prstGeom>
          <a:noFill/>
          <a:ln/>
        </p:spPr>
        <p:txBody>
          <a:bodyPr wrap="square" rtlCol="0" anchor="ctr"/>
          <a:lstStyle/>
          <a:p>
            <a:pPr indent="0" marL="0">
              <a:buNone/>
            </a:pPr>
            <a:r>
              <a:rPr lang="en-US" sz="3000" b="1" dirty="0">
                <a:solidFill>
                  <a:srgbClr val="FFB100"/>
                </a:solidFill>
                <a:latin typeface="Arial Black" pitchFamily="34" charset="0"/>
                <a:ea typeface="Arial Black" pitchFamily="34" charset="-122"/>
                <a:cs typeface="Arial Black" pitchFamily="34" charset="-120"/>
              </a:rPr>
              <a:t>MI ≈ 85</a:t>
            </a:r>
            <a:endParaRPr lang="en-US" sz="3000" dirty="0"/>
          </a:p>
        </p:txBody>
      </p:sp>
      <p:sp>
        <p:nvSpPr>
          <p:cNvPr id="19" name="Text 17"/>
          <p:cNvSpPr/>
          <p:nvPr/>
        </p:nvSpPr>
        <p:spPr>
          <a:xfrm>
            <a:off x="8293608" y="2743200"/>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mantenibilidad (MI)</a:t>
            </a:r>
            <a:endParaRPr lang="en-US" sz="1400" dirty="0"/>
          </a:p>
        </p:txBody>
      </p:sp>
      <p:sp>
        <p:nvSpPr>
          <p:cNvPr id="20" name="Text 18"/>
          <p:cNvSpPr/>
          <p:nvPr/>
        </p:nvSpPr>
        <p:spPr>
          <a:xfrm>
            <a:off x="8293608" y="3090672"/>
            <a:ext cx="3246120" cy="1463040"/>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Escala SEI: ≥ 85 es alta mantenibilidad.</a:t>
            </a:r>
            <a:endParaRPr lang="en-US" sz="1100" dirty="0"/>
          </a:p>
        </p:txBody>
      </p:sp>
      <p:sp>
        <p:nvSpPr>
          <p:cNvPr id="21" name="Text 19"/>
          <p:cNvSpPr/>
          <p:nvPr/>
        </p:nvSpPr>
        <p:spPr>
          <a:xfrm>
            <a:off x="502920" y="6400800"/>
            <a:ext cx="5486400" cy="274320"/>
          </a:xfrm>
          <a:prstGeom prst="rect">
            <a:avLst/>
          </a:prstGeom>
          <a:noFill/>
          <a:ln/>
        </p:spPr>
        <p:txBody>
          <a:bodyPr wrap="square" rtlCol="0" anchor="ctr"/>
          <a:lstStyle/>
          <a:p>
            <a:pPr indent="0" marL="0">
              <a:buNone/>
            </a:pPr>
            <a:r>
              <a:rPr lang="en-US" sz="1100" dirty="0">
                <a:solidFill>
                  <a:srgbClr val="9AA0AE"/>
                </a:solidFill>
                <a:latin typeface="Arial" pitchFamily="34" charset="0"/>
                <a:ea typeface="Arial" pitchFamily="34" charset="-122"/>
                <a:cs typeface="Arial" pitchFamily="34" charset="-120"/>
              </a:rPr>
              <a:t>Presenta: Mateo</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B100"/>
          </a:solidFill>
          <a:ln/>
        </p:spPr>
      </p:sp>
      <p:sp>
        <p:nvSpPr>
          <p:cNvPr id="3" name="Text 1"/>
          <p:cNvSpPr/>
          <p:nvPr/>
        </p:nvSpPr>
        <p:spPr>
          <a:xfrm>
            <a:off x="10698480" y="6400800"/>
            <a:ext cx="1280160" cy="274320"/>
          </a:xfrm>
          <a:prstGeom prst="rect">
            <a:avLst/>
          </a:prstGeom>
          <a:noFill/>
          <a:ln/>
        </p:spPr>
        <p:txBody>
          <a:bodyPr wrap="square" rtlCol="0" anchor="ctr"/>
          <a:lstStyle/>
          <a:p>
            <a:pPr algn="r" indent="0" marL="0">
              <a:buNone/>
            </a:pPr>
            <a:r>
              <a:rPr lang="en-US" sz="900" dirty="0">
                <a:solidFill>
                  <a:srgbClr val="9AA0AE"/>
                </a:solidFill>
                <a:latin typeface="Arial" pitchFamily="34" charset="0"/>
                <a:ea typeface="Arial" pitchFamily="34" charset="-122"/>
                <a:cs typeface="Arial" pitchFamily="34" charset="-120"/>
              </a:rPr>
              <a:t>13 / 20</a:t>
            </a:r>
            <a:endParaRPr lang="en-US" sz="900" dirty="0"/>
          </a:p>
        </p:txBody>
      </p:sp>
      <p:sp>
        <p:nvSpPr>
          <p:cNvPr id="4" name="Text 2"/>
          <p:cNvSpPr/>
          <p:nvPr/>
        </p:nvSpPr>
        <p:spPr>
          <a:xfrm>
            <a:off x="502920" y="411480"/>
            <a:ext cx="10058400" cy="365760"/>
          </a:xfrm>
          <a:prstGeom prst="rect">
            <a:avLst/>
          </a:prstGeom>
          <a:noFill/>
          <a:ln/>
        </p:spPr>
        <p:txBody>
          <a:bodyPr wrap="square" rtlCol="0" anchor="ctr"/>
          <a:lstStyle/>
          <a:p>
            <a:pPr indent="0" marL="0">
              <a:buNone/>
            </a:pPr>
            <a:r>
              <a:rPr lang="en-US" sz="1300" b="1" spc="200" kern="0" dirty="0">
                <a:solidFill>
                  <a:srgbClr val="FFB100"/>
                </a:solidFill>
                <a:latin typeface="Arial Black" pitchFamily="34" charset="0"/>
                <a:ea typeface="Arial Black" pitchFamily="34" charset="-122"/>
                <a:cs typeface="Arial Black" pitchFamily="34" charset="-120"/>
              </a:rPr>
              <a:t>MÉTRICAS FINALES</a:t>
            </a:r>
            <a:endParaRPr lang="en-US" sz="1300" dirty="0"/>
          </a:p>
        </p:txBody>
      </p:sp>
      <p:sp>
        <p:nvSpPr>
          <p:cNvPr id="5" name="Text 3"/>
          <p:cNvSpPr/>
          <p:nvPr/>
        </p:nvSpPr>
        <p:spPr>
          <a:xfrm>
            <a:off x="502920" y="777240"/>
            <a:ext cx="10972800" cy="822960"/>
          </a:xfrm>
          <a:prstGeom prst="rect">
            <a:avLst/>
          </a:prstGeom>
          <a:noFill/>
          <a:ln/>
        </p:spPr>
        <p:txBody>
          <a:bodyPr wrap="square" rtlCol="0" anchor="ctr"/>
          <a:lstStyle/>
          <a:p>
            <a:pPr indent="0" marL="0">
              <a:buNone/>
            </a:pPr>
            <a:r>
              <a:rPr lang="en-US" sz="3400" b="1" dirty="0">
                <a:solidFill>
                  <a:srgbClr val="F5F5F5"/>
                </a:solidFill>
                <a:latin typeface="Arial Black" pitchFamily="34" charset="0"/>
                <a:ea typeface="Arial Black" pitchFamily="34" charset="-122"/>
                <a:cs typeface="Arial Black" pitchFamily="34" charset="-120"/>
              </a:rPr>
              <a:t>Cobertura y resultado</a:t>
            </a:r>
            <a:endParaRPr lang="en-US" sz="3400" dirty="0"/>
          </a:p>
        </p:txBody>
      </p:sp>
      <p:sp>
        <p:nvSpPr>
          <p:cNvPr id="6" name="Shape 4"/>
          <p:cNvSpPr/>
          <p:nvPr/>
        </p:nvSpPr>
        <p:spPr>
          <a:xfrm>
            <a:off x="502920" y="1920240"/>
            <a:ext cx="3611880" cy="2651760"/>
          </a:xfrm>
          <a:prstGeom prst="roundRect">
            <a:avLst>
              <a:gd name="adj" fmla="val 2759"/>
            </a:avLst>
          </a:prstGeom>
          <a:solidFill>
            <a:srgbClr val="1E2230"/>
          </a:solidFill>
          <a:ln/>
        </p:spPr>
      </p:sp>
      <p:sp>
        <p:nvSpPr>
          <p:cNvPr id="7" name="Shape 5"/>
          <p:cNvSpPr/>
          <p:nvPr/>
        </p:nvSpPr>
        <p:spPr>
          <a:xfrm>
            <a:off x="502920" y="1920240"/>
            <a:ext cx="64008" cy="2651760"/>
          </a:xfrm>
          <a:prstGeom prst="rect">
            <a:avLst/>
          </a:prstGeom>
          <a:solidFill>
            <a:srgbClr val="3DD68C"/>
          </a:solidFill>
          <a:ln/>
        </p:spPr>
      </p:sp>
      <p:sp>
        <p:nvSpPr>
          <p:cNvPr id="8" name="Text 6"/>
          <p:cNvSpPr/>
          <p:nvPr/>
        </p:nvSpPr>
        <p:spPr>
          <a:xfrm>
            <a:off x="704088" y="2084832"/>
            <a:ext cx="3246120" cy="640080"/>
          </a:xfrm>
          <a:prstGeom prst="rect">
            <a:avLst/>
          </a:prstGeom>
          <a:noFill/>
          <a:ln/>
        </p:spPr>
        <p:txBody>
          <a:bodyPr wrap="square" rtlCol="0" anchor="ctr"/>
          <a:lstStyle/>
          <a:p>
            <a:pPr indent="0" marL="0">
              <a:buNone/>
            </a:pPr>
            <a:r>
              <a:rPr lang="en-US" sz="3000" b="1" dirty="0">
                <a:solidFill>
                  <a:srgbClr val="3DD68C"/>
                </a:solidFill>
                <a:latin typeface="Arial Black" pitchFamily="34" charset="0"/>
                <a:ea typeface="Arial Black" pitchFamily="34" charset="-122"/>
                <a:cs typeface="Arial Black" pitchFamily="34" charset="-120"/>
              </a:rPr>
              <a:t>100%</a:t>
            </a:r>
            <a:endParaRPr lang="en-US" sz="3000" dirty="0"/>
          </a:p>
        </p:txBody>
      </p:sp>
      <p:sp>
        <p:nvSpPr>
          <p:cNvPr id="9" name="Text 7"/>
          <p:cNvSpPr/>
          <p:nvPr/>
        </p:nvSpPr>
        <p:spPr>
          <a:xfrm>
            <a:off x="704088" y="2743200"/>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cobertura en controller, service y model</a:t>
            </a:r>
            <a:endParaRPr lang="en-US" sz="1400" dirty="0"/>
          </a:p>
        </p:txBody>
      </p:sp>
      <p:sp>
        <p:nvSpPr>
          <p:cNvPr id="10" name="Text 8"/>
          <p:cNvSpPr/>
          <p:nvPr/>
        </p:nvSpPr>
        <p:spPr>
          <a:xfrm>
            <a:off x="704088" y="3090672"/>
            <a:ext cx="3246120" cy="1463040"/>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Supera el umbral de 60% del Plan SQA.</a:t>
            </a:r>
            <a:endParaRPr lang="en-US" sz="1100" dirty="0"/>
          </a:p>
        </p:txBody>
      </p:sp>
      <p:sp>
        <p:nvSpPr>
          <p:cNvPr id="11" name="Shape 9"/>
          <p:cNvSpPr/>
          <p:nvPr/>
        </p:nvSpPr>
        <p:spPr>
          <a:xfrm>
            <a:off x="4297680" y="1920240"/>
            <a:ext cx="3611880" cy="2651760"/>
          </a:xfrm>
          <a:prstGeom prst="roundRect">
            <a:avLst>
              <a:gd name="adj" fmla="val 2759"/>
            </a:avLst>
          </a:prstGeom>
          <a:solidFill>
            <a:srgbClr val="1E2230"/>
          </a:solidFill>
          <a:ln/>
        </p:spPr>
      </p:sp>
      <p:sp>
        <p:nvSpPr>
          <p:cNvPr id="12" name="Shape 10"/>
          <p:cNvSpPr/>
          <p:nvPr/>
        </p:nvSpPr>
        <p:spPr>
          <a:xfrm>
            <a:off x="4297680" y="1920240"/>
            <a:ext cx="64008" cy="2651760"/>
          </a:xfrm>
          <a:prstGeom prst="rect">
            <a:avLst/>
          </a:prstGeom>
          <a:solidFill>
            <a:srgbClr val="5B9BFF"/>
          </a:solidFill>
          <a:ln/>
        </p:spPr>
      </p:sp>
      <p:sp>
        <p:nvSpPr>
          <p:cNvPr id="13" name="Text 11"/>
          <p:cNvSpPr/>
          <p:nvPr/>
        </p:nvSpPr>
        <p:spPr>
          <a:xfrm>
            <a:off x="4498848" y="2084832"/>
            <a:ext cx="3246120" cy="640080"/>
          </a:xfrm>
          <a:prstGeom prst="rect">
            <a:avLst/>
          </a:prstGeom>
          <a:noFill/>
          <a:ln/>
        </p:spPr>
        <p:txBody>
          <a:bodyPr wrap="square" rtlCol="0" anchor="ctr"/>
          <a:lstStyle/>
          <a:p>
            <a:pPr indent="0" marL="0">
              <a:buNone/>
            </a:pPr>
            <a:r>
              <a:rPr lang="en-US" sz="3000" b="1" dirty="0">
                <a:solidFill>
                  <a:srgbClr val="5B9BFF"/>
                </a:solidFill>
                <a:latin typeface="Arial Black" pitchFamily="34" charset="0"/>
                <a:ea typeface="Arial Black" pitchFamily="34" charset="-122"/>
                <a:cs typeface="Arial Black" pitchFamily="34" charset="-120"/>
              </a:rPr>
              <a:t>53%</a:t>
            </a:r>
            <a:endParaRPr lang="en-US" sz="3000" dirty="0"/>
          </a:p>
        </p:txBody>
      </p:sp>
      <p:sp>
        <p:nvSpPr>
          <p:cNvPr id="14" name="Text 12"/>
          <p:cNvSpPr/>
          <p:nvPr/>
        </p:nvSpPr>
        <p:spPr>
          <a:xfrm>
            <a:off x="4498848" y="2743200"/>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cobertura global</a:t>
            </a:r>
            <a:endParaRPr lang="en-US" sz="1400" dirty="0"/>
          </a:p>
        </p:txBody>
      </p:sp>
      <p:sp>
        <p:nvSpPr>
          <p:cNvPr id="15" name="Text 13"/>
          <p:cNvSpPr/>
          <p:nvPr/>
        </p:nvSpPr>
        <p:spPr>
          <a:xfrm>
            <a:off x="4498848" y="3090672"/>
            <a:ext cx="3246120" cy="1463040"/>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El resto es security/ y arranque, fuera del testing funcional.</a:t>
            </a:r>
            <a:endParaRPr lang="en-US" sz="1100" dirty="0"/>
          </a:p>
        </p:txBody>
      </p:sp>
      <p:sp>
        <p:nvSpPr>
          <p:cNvPr id="16" name="Shape 14"/>
          <p:cNvSpPr/>
          <p:nvPr/>
        </p:nvSpPr>
        <p:spPr>
          <a:xfrm>
            <a:off x="8092440" y="1920240"/>
            <a:ext cx="3611880" cy="2651760"/>
          </a:xfrm>
          <a:prstGeom prst="roundRect">
            <a:avLst>
              <a:gd name="adj" fmla="val 2759"/>
            </a:avLst>
          </a:prstGeom>
          <a:solidFill>
            <a:srgbClr val="1E2230"/>
          </a:solidFill>
          <a:ln/>
        </p:spPr>
      </p:sp>
      <p:sp>
        <p:nvSpPr>
          <p:cNvPr id="17" name="Shape 15"/>
          <p:cNvSpPr/>
          <p:nvPr/>
        </p:nvSpPr>
        <p:spPr>
          <a:xfrm>
            <a:off x="8092440" y="1920240"/>
            <a:ext cx="64008" cy="2651760"/>
          </a:xfrm>
          <a:prstGeom prst="rect">
            <a:avLst/>
          </a:prstGeom>
          <a:solidFill>
            <a:srgbClr val="FF4B3E"/>
          </a:solidFill>
          <a:ln/>
        </p:spPr>
      </p:sp>
      <p:sp>
        <p:nvSpPr>
          <p:cNvPr id="18" name="Text 16"/>
          <p:cNvSpPr/>
          <p:nvPr/>
        </p:nvSpPr>
        <p:spPr>
          <a:xfrm>
            <a:off x="8293608" y="2084832"/>
            <a:ext cx="3246120" cy="640080"/>
          </a:xfrm>
          <a:prstGeom prst="rect">
            <a:avLst/>
          </a:prstGeom>
          <a:noFill/>
          <a:ln/>
        </p:spPr>
        <p:txBody>
          <a:bodyPr wrap="square" rtlCol="0" anchor="ctr"/>
          <a:lstStyle/>
          <a:p>
            <a:pPr indent="0" marL="0">
              <a:buNone/>
            </a:pPr>
            <a:r>
              <a:rPr lang="en-US" sz="3000" b="1" dirty="0">
                <a:solidFill>
                  <a:srgbClr val="FF4B3E"/>
                </a:solidFill>
                <a:latin typeface="Arial Black" pitchFamily="34" charset="0"/>
                <a:ea typeface="Arial Black" pitchFamily="34" charset="-122"/>
                <a:cs typeface="Arial Black" pitchFamily="34" charset="-120"/>
              </a:rPr>
              <a:t>77</a:t>
            </a:r>
            <a:endParaRPr lang="en-US" sz="3000" dirty="0"/>
          </a:p>
        </p:txBody>
      </p:sp>
      <p:sp>
        <p:nvSpPr>
          <p:cNvPr id="19" name="Text 17"/>
          <p:cNvSpPr/>
          <p:nvPr/>
        </p:nvSpPr>
        <p:spPr>
          <a:xfrm>
            <a:off x="8293608" y="2743200"/>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tests · todos en verde</a:t>
            </a:r>
            <a:endParaRPr lang="en-US" sz="1400" dirty="0"/>
          </a:p>
        </p:txBody>
      </p:sp>
      <p:sp>
        <p:nvSpPr>
          <p:cNvPr id="20" name="Text 18"/>
          <p:cNvSpPr/>
          <p:nvPr/>
        </p:nvSpPr>
        <p:spPr>
          <a:xfrm>
            <a:off x="8293608" y="3090672"/>
            <a:ext cx="3246120" cy="1463040"/>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0 fallos, 0 errores en la suite completa.</a:t>
            </a:r>
            <a:endParaRPr lang="en-US" sz="1100" dirty="0"/>
          </a:p>
        </p:txBody>
      </p:sp>
      <p:sp>
        <p:nvSpPr>
          <p:cNvPr id="21" name="Text 19"/>
          <p:cNvSpPr/>
          <p:nvPr/>
        </p:nvSpPr>
        <p:spPr>
          <a:xfrm>
            <a:off x="502920" y="5897880"/>
            <a:ext cx="11155680" cy="365760"/>
          </a:xfrm>
          <a:prstGeom prst="rect">
            <a:avLst/>
          </a:prstGeom>
          <a:noFill/>
          <a:ln/>
        </p:spPr>
        <p:txBody>
          <a:bodyPr wrap="square" rtlCol="0" anchor="ctr"/>
          <a:lstStyle/>
          <a:p>
            <a:pPr indent="0" marL="0">
              <a:buNone/>
            </a:pPr>
            <a:r>
              <a:rPr lang="en-US" sz="1300" i="1" dirty="0">
                <a:solidFill>
                  <a:srgbClr val="9AA0AE"/>
                </a:solidFill>
                <a:latin typeface="Arial" pitchFamily="34" charset="0"/>
                <a:ea typeface="Arial" pitchFamily="34" charset="-122"/>
                <a:cs typeface="Arial" pitchFamily="34" charset="-120"/>
              </a:rPr>
              <a:t>Evolución: 21 tests (H3) → 72 (H4) → 77 (H5). Cobertura de módulos principales: parcial → 100%.</a:t>
            </a:r>
            <a:endParaRPr lang="en-US" sz="1300" dirty="0"/>
          </a:p>
        </p:txBody>
      </p:sp>
      <p:sp>
        <p:nvSpPr>
          <p:cNvPr id="22" name="Text 20"/>
          <p:cNvSpPr/>
          <p:nvPr/>
        </p:nvSpPr>
        <p:spPr>
          <a:xfrm>
            <a:off x="502920" y="6400800"/>
            <a:ext cx="5486400" cy="274320"/>
          </a:xfrm>
          <a:prstGeom prst="rect">
            <a:avLst/>
          </a:prstGeom>
          <a:noFill/>
          <a:ln/>
        </p:spPr>
        <p:txBody>
          <a:bodyPr wrap="square" rtlCol="0" anchor="ctr"/>
          <a:lstStyle/>
          <a:p>
            <a:pPr indent="0" marL="0">
              <a:buNone/>
            </a:pPr>
            <a:r>
              <a:rPr lang="en-US" sz="1100" dirty="0">
                <a:solidFill>
                  <a:srgbClr val="9AA0AE"/>
                </a:solidFill>
                <a:latin typeface="Arial" pitchFamily="34" charset="0"/>
                <a:ea typeface="Arial" pitchFamily="34" charset="-122"/>
                <a:cs typeface="Arial" pitchFamily="34" charset="-120"/>
              </a:rPr>
              <a:t>Presenta: Mateo</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4B3E"/>
          </a:solidFill>
          <a:ln/>
        </p:spPr>
      </p:sp>
      <p:sp>
        <p:nvSpPr>
          <p:cNvPr id="3" name="Text 1"/>
          <p:cNvSpPr/>
          <p:nvPr/>
        </p:nvSpPr>
        <p:spPr>
          <a:xfrm>
            <a:off x="10698480" y="6400800"/>
            <a:ext cx="1280160" cy="274320"/>
          </a:xfrm>
          <a:prstGeom prst="rect">
            <a:avLst/>
          </a:prstGeom>
          <a:noFill/>
          <a:ln/>
        </p:spPr>
        <p:txBody>
          <a:bodyPr wrap="square" rtlCol="0" anchor="ctr"/>
          <a:lstStyle/>
          <a:p>
            <a:pPr algn="r" indent="0" marL="0">
              <a:buNone/>
            </a:pPr>
            <a:r>
              <a:rPr lang="en-US" sz="900" dirty="0">
                <a:solidFill>
                  <a:srgbClr val="9AA0AE"/>
                </a:solidFill>
                <a:latin typeface="Arial" pitchFamily="34" charset="0"/>
                <a:ea typeface="Arial" pitchFamily="34" charset="-122"/>
                <a:cs typeface="Arial" pitchFamily="34" charset="-120"/>
              </a:rPr>
              <a:t>14 / 20</a:t>
            </a:r>
            <a:endParaRPr lang="en-US" sz="900" dirty="0"/>
          </a:p>
        </p:txBody>
      </p:sp>
      <p:sp>
        <p:nvSpPr>
          <p:cNvPr id="4" name="Text 2"/>
          <p:cNvSpPr/>
          <p:nvPr/>
        </p:nvSpPr>
        <p:spPr>
          <a:xfrm>
            <a:off x="502920" y="411480"/>
            <a:ext cx="10058400" cy="365760"/>
          </a:xfrm>
          <a:prstGeom prst="rect">
            <a:avLst/>
          </a:prstGeom>
          <a:noFill/>
          <a:ln/>
        </p:spPr>
        <p:txBody>
          <a:bodyPr wrap="square" rtlCol="0" anchor="ctr"/>
          <a:lstStyle/>
          <a:p>
            <a:pPr indent="0" marL="0">
              <a:buNone/>
            </a:pPr>
            <a:r>
              <a:rPr lang="en-US" sz="1300" b="1" spc="200" kern="0" dirty="0">
                <a:solidFill>
                  <a:srgbClr val="FF4B3E"/>
                </a:solidFill>
                <a:latin typeface="Arial Black" pitchFamily="34" charset="0"/>
                <a:ea typeface="Arial Black" pitchFamily="34" charset="-122"/>
                <a:cs typeface="Arial Black" pitchFamily="34" charset="-120"/>
              </a:rPr>
              <a:t>GESTIÓN DE DEFECTOS</a:t>
            </a:r>
            <a:endParaRPr lang="en-US" sz="1300" dirty="0"/>
          </a:p>
        </p:txBody>
      </p:sp>
      <p:sp>
        <p:nvSpPr>
          <p:cNvPr id="5" name="Text 3"/>
          <p:cNvSpPr/>
          <p:nvPr/>
        </p:nvSpPr>
        <p:spPr>
          <a:xfrm>
            <a:off x="502920" y="777240"/>
            <a:ext cx="10972800" cy="822960"/>
          </a:xfrm>
          <a:prstGeom prst="rect">
            <a:avLst/>
          </a:prstGeom>
          <a:noFill/>
          <a:ln/>
        </p:spPr>
        <p:txBody>
          <a:bodyPr wrap="square" rtlCol="0" anchor="ctr"/>
          <a:lstStyle/>
          <a:p>
            <a:pPr indent="0" marL="0">
              <a:buNone/>
            </a:pPr>
            <a:r>
              <a:rPr lang="en-US" sz="3400" b="1" dirty="0">
                <a:solidFill>
                  <a:srgbClr val="F5F5F5"/>
                </a:solidFill>
                <a:latin typeface="Arial Black" pitchFamily="34" charset="0"/>
                <a:ea typeface="Arial Black" pitchFamily="34" charset="-122"/>
                <a:cs typeface="Arial Black" pitchFamily="34" charset="-120"/>
              </a:rPr>
              <a:t>12 detectados · 9 cerrados</a:t>
            </a:r>
            <a:endParaRPr lang="en-US" sz="3400" dirty="0"/>
          </a:p>
        </p:txBody>
      </p:sp>
      <p:sp>
        <p:nvSpPr>
          <p:cNvPr id="6" name="Shape 4"/>
          <p:cNvSpPr/>
          <p:nvPr/>
        </p:nvSpPr>
        <p:spPr>
          <a:xfrm>
            <a:off x="502920" y="1920240"/>
            <a:ext cx="2697480" cy="2651760"/>
          </a:xfrm>
          <a:prstGeom prst="roundRect">
            <a:avLst>
              <a:gd name="adj" fmla="val 2759"/>
            </a:avLst>
          </a:prstGeom>
          <a:solidFill>
            <a:srgbClr val="1E2230"/>
          </a:solidFill>
          <a:ln/>
        </p:spPr>
      </p:sp>
      <p:sp>
        <p:nvSpPr>
          <p:cNvPr id="7" name="Shape 5"/>
          <p:cNvSpPr/>
          <p:nvPr/>
        </p:nvSpPr>
        <p:spPr>
          <a:xfrm>
            <a:off x="502920" y="1920240"/>
            <a:ext cx="64008" cy="2651760"/>
          </a:xfrm>
          <a:prstGeom prst="rect">
            <a:avLst/>
          </a:prstGeom>
          <a:solidFill>
            <a:srgbClr val="FFB100"/>
          </a:solidFill>
          <a:ln/>
        </p:spPr>
      </p:sp>
      <p:sp>
        <p:nvSpPr>
          <p:cNvPr id="8" name="Text 6"/>
          <p:cNvSpPr/>
          <p:nvPr/>
        </p:nvSpPr>
        <p:spPr>
          <a:xfrm>
            <a:off x="704088" y="2084832"/>
            <a:ext cx="2331720" cy="640080"/>
          </a:xfrm>
          <a:prstGeom prst="rect">
            <a:avLst/>
          </a:prstGeom>
          <a:noFill/>
          <a:ln/>
        </p:spPr>
        <p:txBody>
          <a:bodyPr wrap="square" rtlCol="0" anchor="ctr"/>
          <a:lstStyle/>
          <a:p>
            <a:pPr indent="0" marL="0">
              <a:buNone/>
            </a:pPr>
            <a:r>
              <a:rPr lang="en-US" sz="3000" b="1" dirty="0">
                <a:solidFill>
                  <a:srgbClr val="FFB100"/>
                </a:solidFill>
                <a:latin typeface="Arial Black" pitchFamily="34" charset="0"/>
                <a:ea typeface="Arial Black" pitchFamily="34" charset="-122"/>
                <a:cs typeface="Arial Black" pitchFamily="34" charset="-120"/>
              </a:rPr>
              <a:t>6</a:t>
            </a:r>
            <a:endParaRPr lang="en-US" sz="3000" dirty="0"/>
          </a:p>
        </p:txBody>
      </p:sp>
      <p:sp>
        <p:nvSpPr>
          <p:cNvPr id="9" name="Text 7"/>
          <p:cNvSpPr/>
          <p:nvPr/>
        </p:nvSpPr>
        <p:spPr>
          <a:xfrm>
            <a:off x="704088" y="2743200"/>
            <a:ext cx="23317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documentados</a:t>
            </a:r>
            <a:endParaRPr lang="en-US" sz="1400" dirty="0"/>
          </a:p>
        </p:txBody>
      </p:sp>
      <p:sp>
        <p:nvSpPr>
          <p:cNvPr id="10" name="Text 8"/>
          <p:cNvSpPr/>
          <p:nvPr/>
        </p:nvSpPr>
        <p:spPr>
          <a:xfrm>
            <a:off x="704088" y="3090672"/>
            <a:ext cx="2331720" cy="1463040"/>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TDD y análisis</a:t>
            </a:r>
            <a:endParaRPr lang="en-US" sz="1100" dirty="0"/>
          </a:p>
        </p:txBody>
      </p:sp>
      <p:sp>
        <p:nvSpPr>
          <p:cNvPr id="11" name="Shape 9"/>
          <p:cNvSpPr/>
          <p:nvPr/>
        </p:nvSpPr>
        <p:spPr>
          <a:xfrm>
            <a:off x="3337560" y="1920240"/>
            <a:ext cx="2697480" cy="2651760"/>
          </a:xfrm>
          <a:prstGeom prst="roundRect">
            <a:avLst>
              <a:gd name="adj" fmla="val 2759"/>
            </a:avLst>
          </a:prstGeom>
          <a:solidFill>
            <a:srgbClr val="1E2230"/>
          </a:solidFill>
          <a:ln/>
        </p:spPr>
      </p:sp>
      <p:sp>
        <p:nvSpPr>
          <p:cNvPr id="12" name="Shape 10"/>
          <p:cNvSpPr/>
          <p:nvPr/>
        </p:nvSpPr>
        <p:spPr>
          <a:xfrm>
            <a:off x="3337560" y="1920240"/>
            <a:ext cx="64008" cy="2651760"/>
          </a:xfrm>
          <a:prstGeom prst="rect">
            <a:avLst/>
          </a:prstGeom>
          <a:solidFill>
            <a:srgbClr val="5B9BFF"/>
          </a:solidFill>
          <a:ln/>
        </p:spPr>
      </p:sp>
      <p:sp>
        <p:nvSpPr>
          <p:cNvPr id="13" name="Text 11"/>
          <p:cNvSpPr/>
          <p:nvPr/>
        </p:nvSpPr>
        <p:spPr>
          <a:xfrm>
            <a:off x="3538728" y="2084832"/>
            <a:ext cx="2331720" cy="640080"/>
          </a:xfrm>
          <a:prstGeom prst="rect">
            <a:avLst/>
          </a:prstGeom>
          <a:noFill/>
          <a:ln/>
        </p:spPr>
        <p:txBody>
          <a:bodyPr wrap="square" rtlCol="0" anchor="ctr"/>
          <a:lstStyle/>
          <a:p>
            <a:pPr indent="0" marL="0">
              <a:buNone/>
            </a:pPr>
            <a:r>
              <a:rPr lang="en-US" sz="3000" b="1" dirty="0">
                <a:solidFill>
                  <a:srgbClr val="5B9BFF"/>
                </a:solidFill>
                <a:latin typeface="Arial Black" pitchFamily="34" charset="0"/>
                <a:ea typeface="Arial Black" pitchFamily="34" charset="-122"/>
                <a:cs typeface="Arial Black" pitchFamily="34" charset="-120"/>
              </a:rPr>
              <a:t>6</a:t>
            </a:r>
            <a:endParaRPr lang="en-US" sz="3000" dirty="0"/>
          </a:p>
        </p:txBody>
      </p:sp>
      <p:sp>
        <p:nvSpPr>
          <p:cNvPr id="14" name="Text 12"/>
          <p:cNvSpPr/>
          <p:nvPr/>
        </p:nvSpPr>
        <p:spPr>
          <a:xfrm>
            <a:off x="3538728" y="2743200"/>
            <a:ext cx="23317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exploratorios</a:t>
            </a:r>
            <a:endParaRPr lang="en-US" sz="1400" dirty="0"/>
          </a:p>
        </p:txBody>
      </p:sp>
      <p:sp>
        <p:nvSpPr>
          <p:cNvPr id="15" name="Text 13"/>
          <p:cNvSpPr/>
          <p:nvPr/>
        </p:nvSpPr>
        <p:spPr>
          <a:xfrm>
            <a:off x="3538728" y="3090672"/>
            <a:ext cx="2331720" cy="1463040"/>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sesiones manuales</a:t>
            </a:r>
            <a:endParaRPr lang="en-US" sz="1100" dirty="0"/>
          </a:p>
        </p:txBody>
      </p:sp>
      <p:sp>
        <p:nvSpPr>
          <p:cNvPr id="16" name="Shape 14"/>
          <p:cNvSpPr/>
          <p:nvPr/>
        </p:nvSpPr>
        <p:spPr>
          <a:xfrm>
            <a:off x="6172200" y="1920240"/>
            <a:ext cx="2697480" cy="2651760"/>
          </a:xfrm>
          <a:prstGeom prst="roundRect">
            <a:avLst>
              <a:gd name="adj" fmla="val 2759"/>
            </a:avLst>
          </a:prstGeom>
          <a:solidFill>
            <a:srgbClr val="1E2230"/>
          </a:solidFill>
          <a:ln/>
        </p:spPr>
      </p:sp>
      <p:sp>
        <p:nvSpPr>
          <p:cNvPr id="17" name="Shape 15"/>
          <p:cNvSpPr/>
          <p:nvPr/>
        </p:nvSpPr>
        <p:spPr>
          <a:xfrm>
            <a:off x="6172200" y="1920240"/>
            <a:ext cx="64008" cy="2651760"/>
          </a:xfrm>
          <a:prstGeom prst="rect">
            <a:avLst/>
          </a:prstGeom>
          <a:solidFill>
            <a:srgbClr val="3DD68C"/>
          </a:solidFill>
          <a:ln/>
        </p:spPr>
      </p:sp>
      <p:sp>
        <p:nvSpPr>
          <p:cNvPr id="18" name="Text 16"/>
          <p:cNvSpPr/>
          <p:nvPr/>
        </p:nvSpPr>
        <p:spPr>
          <a:xfrm>
            <a:off x="6373368" y="2084832"/>
            <a:ext cx="2331720" cy="640080"/>
          </a:xfrm>
          <a:prstGeom prst="rect">
            <a:avLst/>
          </a:prstGeom>
          <a:noFill/>
          <a:ln/>
        </p:spPr>
        <p:txBody>
          <a:bodyPr wrap="square" rtlCol="0" anchor="ctr"/>
          <a:lstStyle/>
          <a:p>
            <a:pPr indent="0" marL="0">
              <a:buNone/>
            </a:pPr>
            <a:r>
              <a:rPr lang="en-US" sz="3000" b="1" dirty="0">
                <a:solidFill>
                  <a:srgbClr val="3DD68C"/>
                </a:solidFill>
                <a:latin typeface="Arial Black" pitchFamily="34" charset="0"/>
                <a:ea typeface="Arial Black" pitchFamily="34" charset="-122"/>
                <a:cs typeface="Arial Black" pitchFamily="34" charset="-120"/>
              </a:rPr>
              <a:t>9</a:t>
            </a:r>
            <a:endParaRPr lang="en-US" sz="3000" dirty="0"/>
          </a:p>
        </p:txBody>
      </p:sp>
      <p:sp>
        <p:nvSpPr>
          <p:cNvPr id="19" name="Text 17"/>
          <p:cNvSpPr/>
          <p:nvPr/>
        </p:nvSpPr>
        <p:spPr>
          <a:xfrm>
            <a:off x="6373368" y="2743200"/>
            <a:ext cx="23317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corregidos / cerrados</a:t>
            </a:r>
            <a:endParaRPr lang="en-US" sz="1400" dirty="0"/>
          </a:p>
        </p:txBody>
      </p:sp>
      <p:sp>
        <p:nvSpPr>
          <p:cNvPr id="20" name="Text 18"/>
          <p:cNvSpPr/>
          <p:nvPr/>
        </p:nvSpPr>
        <p:spPr>
          <a:xfrm>
            <a:off x="6373368" y="3090672"/>
            <a:ext cx="2331720" cy="1463040"/>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incl. el crítico de roles</a:t>
            </a:r>
            <a:endParaRPr lang="en-US" sz="1100" dirty="0"/>
          </a:p>
        </p:txBody>
      </p:sp>
      <p:sp>
        <p:nvSpPr>
          <p:cNvPr id="21" name="Shape 19"/>
          <p:cNvSpPr/>
          <p:nvPr/>
        </p:nvSpPr>
        <p:spPr>
          <a:xfrm>
            <a:off x="9006840" y="1920240"/>
            <a:ext cx="2697480" cy="2651760"/>
          </a:xfrm>
          <a:prstGeom prst="roundRect">
            <a:avLst>
              <a:gd name="adj" fmla="val 2759"/>
            </a:avLst>
          </a:prstGeom>
          <a:solidFill>
            <a:srgbClr val="1E2230"/>
          </a:solidFill>
          <a:ln/>
        </p:spPr>
      </p:sp>
      <p:sp>
        <p:nvSpPr>
          <p:cNvPr id="22" name="Shape 20"/>
          <p:cNvSpPr/>
          <p:nvPr/>
        </p:nvSpPr>
        <p:spPr>
          <a:xfrm>
            <a:off x="9006840" y="1920240"/>
            <a:ext cx="64008" cy="2651760"/>
          </a:xfrm>
          <a:prstGeom prst="rect">
            <a:avLst/>
          </a:prstGeom>
          <a:solidFill>
            <a:srgbClr val="FF4B3E"/>
          </a:solidFill>
          <a:ln/>
        </p:spPr>
      </p:sp>
      <p:sp>
        <p:nvSpPr>
          <p:cNvPr id="23" name="Text 21"/>
          <p:cNvSpPr/>
          <p:nvPr/>
        </p:nvSpPr>
        <p:spPr>
          <a:xfrm>
            <a:off x="9208008" y="2084832"/>
            <a:ext cx="2331720" cy="640080"/>
          </a:xfrm>
          <a:prstGeom prst="rect">
            <a:avLst/>
          </a:prstGeom>
          <a:noFill/>
          <a:ln/>
        </p:spPr>
        <p:txBody>
          <a:bodyPr wrap="square" rtlCol="0" anchor="ctr"/>
          <a:lstStyle/>
          <a:p>
            <a:pPr indent="0" marL="0">
              <a:buNone/>
            </a:pPr>
            <a:r>
              <a:rPr lang="en-US" sz="3000" b="1" dirty="0">
                <a:solidFill>
                  <a:srgbClr val="FF4B3E"/>
                </a:solidFill>
                <a:latin typeface="Arial Black" pitchFamily="34" charset="0"/>
                <a:ea typeface="Arial Black" pitchFamily="34" charset="-122"/>
                <a:cs typeface="Arial Black" pitchFamily="34" charset="-120"/>
              </a:rPr>
              <a:t>3</a:t>
            </a:r>
            <a:endParaRPr lang="en-US" sz="3000" dirty="0"/>
          </a:p>
        </p:txBody>
      </p:sp>
      <p:sp>
        <p:nvSpPr>
          <p:cNvPr id="24" name="Text 22"/>
          <p:cNvSpPr/>
          <p:nvPr/>
        </p:nvSpPr>
        <p:spPr>
          <a:xfrm>
            <a:off x="9208008" y="2743200"/>
            <a:ext cx="23317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abiertos</a:t>
            </a:r>
            <a:endParaRPr lang="en-US" sz="1400" dirty="0"/>
          </a:p>
        </p:txBody>
      </p:sp>
      <p:sp>
        <p:nvSpPr>
          <p:cNvPr id="25" name="Text 23"/>
          <p:cNvSpPr/>
          <p:nvPr/>
        </p:nvSpPr>
        <p:spPr>
          <a:xfrm>
            <a:off x="9208008" y="3090672"/>
            <a:ext cx="2331720" cy="1463040"/>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próximos avances</a:t>
            </a:r>
            <a:endParaRPr lang="en-US" sz="1100" dirty="0"/>
          </a:p>
        </p:txBody>
      </p:sp>
      <p:sp>
        <p:nvSpPr>
          <p:cNvPr id="26" name="Text 24"/>
          <p:cNvSpPr/>
          <p:nvPr/>
        </p:nvSpPr>
        <p:spPr>
          <a:xfrm>
            <a:off x="502920" y="5897880"/>
            <a:ext cx="11155680" cy="365760"/>
          </a:xfrm>
          <a:prstGeom prst="rect">
            <a:avLst/>
          </a:prstGeom>
          <a:noFill/>
          <a:ln/>
        </p:spPr>
        <p:txBody>
          <a:bodyPr wrap="square" rtlCol="0" anchor="ctr"/>
          <a:lstStyle/>
          <a:p>
            <a:pPr indent="0" marL="0">
              <a:buNone/>
            </a:pPr>
            <a:r>
              <a:rPr lang="en-US" sz="1300" i="1" dirty="0">
                <a:solidFill>
                  <a:srgbClr val="9AA0AE"/>
                </a:solidFill>
                <a:latin typeface="Arial" pitchFamily="34" charset="0"/>
                <a:ea typeface="Arial" pitchFamily="34" charset="-122"/>
                <a:cs typeface="Arial" pitchFamily="34" charset="-120"/>
              </a:rPr>
              <a:t>Severidad (QA) y Prioridad (PO) separadas · todos cargados como Issues en GitHub.</a:t>
            </a:r>
            <a:endParaRPr lang="en-US" sz="1300" dirty="0"/>
          </a:p>
        </p:txBody>
      </p:sp>
      <p:sp>
        <p:nvSpPr>
          <p:cNvPr id="27" name="Text 25"/>
          <p:cNvSpPr/>
          <p:nvPr/>
        </p:nvSpPr>
        <p:spPr>
          <a:xfrm>
            <a:off x="502920" y="6400800"/>
            <a:ext cx="5486400" cy="274320"/>
          </a:xfrm>
          <a:prstGeom prst="rect">
            <a:avLst/>
          </a:prstGeom>
          <a:noFill/>
          <a:ln/>
        </p:spPr>
        <p:txBody>
          <a:bodyPr wrap="square" rtlCol="0" anchor="ctr"/>
          <a:lstStyle/>
          <a:p>
            <a:pPr indent="0" marL="0">
              <a:buNone/>
            </a:pPr>
            <a:r>
              <a:rPr lang="en-US" sz="1100" dirty="0">
                <a:solidFill>
                  <a:srgbClr val="9AA0AE"/>
                </a:solidFill>
                <a:latin typeface="Arial" pitchFamily="34" charset="0"/>
                <a:ea typeface="Arial" pitchFamily="34" charset="-122"/>
                <a:cs typeface="Arial" pitchFamily="34" charset="-120"/>
              </a:rPr>
              <a:t>Presenta: Ernesto</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3DD68C"/>
          </a:solidFill>
          <a:ln/>
        </p:spPr>
      </p:sp>
      <p:sp>
        <p:nvSpPr>
          <p:cNvPr id="3" name="Text 1"/>
          <p:cNvSpPr/>
          <p:nvPr/>
        </p:nvSpPr>
        <p:spPr>
          <a:xfrm>
            <a:off x="10698480" y="6400800"/>
            <a:ext cx="1280160" cy="274320"/>
          </a:xfrm>
          <a:prstGeom prst="rect">
            <a:avLst/>
          </a:prstGeom>
          <a:noFill/>
          <a:ln/>
        </p:spPr>
        <p:txBody>
          <a:bodyPr wrap="square" rtlCol="0" anchor="ctr"/>
          <a:lstStyle/>
          <a:p>
            <a:pPr algn="r" indent="0" marL="0">
              <a:buNone/>
            </a:pPr>
            <a:r>
              <a:rPr lang="en-US" sz="900" dirty="0">
                <a:solidFill>
                  <a:srgbClr val="9AA0AE"/>
                </a:solidFill>
                <a:latin typeface="Arial" pitchFamily="34" charset="0"/>
                <a:ea typeface="Arial" pitchFamily="34" charset="-122"/>
                <a:cs typeface="Arial" pitchFamily="34" charset="-120"/>
              </a:rPr>
              <a:t>15 / 20</a:t>
            </a:r>
            <a:endParaRPr lang="en-US" sz="900" dirty="0"/>
          </a:p>
        </p:txBody>
      </p:sp>
      <p:sp>
        <p:nvSpPr>
          <p:cNvPr id="4" name="Text 2"/>
          <p:cNvSpPr/>
          <p:nvPr/>
        </p:nvSpPr>
        <p:spPr>
          <a:xfrm>
            <a:off x="502920" y="411480"/>
            <a:ext cx="10058400" cy="365760"/>
          </a:xfrm>
          <a:prstGeom prst="rect">
            <a:avLst/>
          </a:prstGeom>
          <a:noFill/>
          <a:ln/>
        </p:spPr>
        <p:txBody>
          <a:bodyPr wrap="square" rtlCol="0" anchor="ctr"/>
          <a:lstStyle/>
          <a:p>
            <a:pPr indent="0" marL="0">
              <a:buNone/>
            </a:pPr>
            <a:r>
              <a:rPr lang="en-US" sz="1300" b="1" spc="200" kern="0" dirty="0">
                <a:solidFill>
                  <a:srgbClr val="3DD68C"/>
                </a:solidFill>
                <a:latin typeface="Arial Black" pitchFamily="34" charset="0"/>
                <a:ea typeface="Arial Black" pitchFamily="34" charset="-122"/>
                <a:cs typeface="Arial Black" pitchFamily="34" charset="-120"/>
              </a:rPr>
              <a:t>CIERRE DEL HITO 5</a:t>
            </a:r>
            <a:endParaRPr lang="en-US" sz="1300" dirty="0"/>
          </a:p>
        </p:txBody>
      </p:sp>
      <p:sp>
        <p:nvSpPr>
          <p:cNvPr id="5" name="Text 3"/>
          <p:cNvSpPr/>
          <p:nvPr/>
        </p:nvSpPr>
        <p:spPr>
          <a:xfrm>
            <a:off x="502920" y="777240"/>
            <a:ext cx="10972800" cy="822960"/>
          </a:xfrm>
          <a:prstGeom prst="rect">
            <a:avLst/>
          </a:prstGeom>
          <a:noFill/>
          <a:ln/>
        </p:spPr>
        <p:txBody>
          <a:bodyPr wrap="square" rtlCol="0" anchor="ctr"/>
          <a:lstStyle/>
          <a:p>
            <a:pPr indent="0" marL="0">
              <a:buNone/>
            </a:pPr>
            <a:r>
              <a:rPr lang="en-US" sz="3400" b="1" dirty="0">
                <a:solidFill>
                  <a:srgbClr val="F5F5F5"/>
                </a:solidFill>
                <a:latin typeface="Arial Black" pitchFamily="34" charset="0"/>
                <a:ea typeface="Arial Black" pitchFamily="34" charset="-122"/>
                <a:cs typeface="Arial Black" pitchFamily="34" charset="-120"/>
              </a:rPr>
              <a:t>Defectos corregidos con TDD</a:t>
            </a:r>
            <a:endParaRPr lang="en-US" sz="3400" dirty="0"/>
          </a:p>
        </p:txBody>
      </p:sp>
      <p:sp>
        <p:nvSpPr>
          <p:cNvPr id="6" name="Shape 4"/>
          <p:cNvSpPr/>
          <p:nvPr/>
        </p:nvSpPr>
        <p:spPr>
          <a:xfrm>
            <a:off x="502920" y="1828800"/>
            <a:ext cx="11201400" cy="749808"/>
          </a:xfrm>
          <a:prstGeom prst="roundRect">
            <a:avLst>
              <a:gd name="adj" fmla="val 7317"/>
            </a:avLst>
          </a:prstGeom>
          <a:solidFill>
            <a:srgbClr val="1E2230"/>
          </a:solidFill>
          <a:ln/>
        </p:spPr>
      </p:sp>
      <p:sp>
        <p:nvSpPr>
          <p:cNvPr id="7" name="Text 5"/>
          <p:cNvSpPr/>
          <p:nvPr/>
        </p:nvSpPr>
        <p:spPr>
          <a:xfrm>
            <a:off x="685800" y="1828800"/>
            <a:ext cx="1828800" cy="749808"/>
          </a:xfrm>
          <a:prstGeom prst="rect">
            <a:avLst/>
          </a:prstGeom>
          <a:noFill/>
          <a:ln/>
        </p:spPr>
        <p:txBody>
          <a:bodyPr wrap="square" rtlCol="0" anchor="ctr"/>
          <a:lstStyle/>
          <a:p>
            <a:pPr indent="0" marL="0">
              <a:buNone/>
            </a:pPr>
            <a:r>
              <a:rPr lang="en-US" sz="1400" b="1" dirty="0">
                <a:solidFill>
                  <a:srgbClr val="FF4B3E"/>
                </a:solidFill>
                <a:latin typeface="Arial Black" pitchFamily="34" charset="0"/>
                <a:ea typeface="Arial Black" pitchFamily="34" charset="-122"/>
                <a:cs typeface="Arial Black" pitchFamily="34" charset="-120"/>
              </a:rPr>
              <a:t>DEF-EXP-04</a:t>
            </a:r>
            <a:endParaRPr lang="en-US" sz="1400" dirty="0"/>
          </a:p>
        </p:txBody>
      </p:sp>
      <p:sp>
        <p:nvSpPr>
          <p:cNvPr id="8" name="Text 6"/>
          <p:cNvSpPr/>
          <p:nvPr/>
        </p:nvSpPr>
        <p:spPr>
          <a:xfrm>
            <a:off x="2606040" y="1828800"/>
            <a:ext cx="5212080" cy="749808"/>
          </a:xfrm>
          <a:prstGeom prst="rect">
            <a:avLst/>
          </a:prstGeom>
          <a:noFill/>
          <a:ln/>
        </p:spPr>
        <p:txBody>
          <a:bodyPr wrap="square" rtlCol="0" anchor="ctr"/>
          <a:lstStyle/>
          <a:p>
            <a:pPr indent="0" marL="0">
              <a:buNone/>
            </a:pPr>
            <a:r>
              <a:rPr lang="en-US" sz="1300" dirty="0">
                <a:solidFill>
                  <a:srgbClr val="F5F5F5"/>
                </a:solidFill>
                <a:latin typeface="Arial" pitchFamily="34" charset="0"/>
                <a:ea typeface="Arial" pitchFamily="34" charset="-122"/>
                <a:cs typeface="Arial" pitchFamily="34" charset="-120"/>
              </a:rPr>
              <a:t>Sin control de roles (CLIENT accedía a todo)</a:t>
            </a:r>
            <a:endParaRPr lang="en-US" sz="1300" dirty="0"/>
          </a:p>
        </p:txBody>
      </p:sp>
      <p:sp>
        <p:nvSpPr>
          <p:cNvPr id="9" name="Text 7"/>
          <p:cNvSpPr/>
          <p:nvPr/>
        </p:nvSpPr>
        <p:spPr>
          <a:xfrm>
            <a:off x="7955280" y="1828800"/>
            <a:ext cx="3657600" cy="749808"/>
          </a:xfrm>
          <a:prstGeom prst="rect">
            <a:avLst/>
          </a:prstGeom>
          <a:noFill/>
          <a:ln/>
        </p:spPr>
        <p:txBody>
          <a:bodyPr wrap="square" rtlCol="0" anchor="ctr"/>
          <a:lstStyle/>
          <a:p>
            <a:pPr indent="0" marL="0">
              <a:buNone/>
            </a:pPr>
            <a:r>
              <a:rPr lang="en-US" sz="1300" b="1" dirty="0">
                <a:solidFill>
                  <a:srgbClr val="3DD68C"/>
                </a:solidFill>
                <a:latin typeface="Arial Black" pitchFamily="34" charset="0"/>
                <a:ea typeface="Arial Black" pitchFamily="34" charset="-122"/>
                <a:cs typeface="Arial Black" pitchFamily="34" charset="-120"/>
              </a:rPr>
              <a:t>→ 403 con @PreAuthorize</a:t>
            </a:r>
            <a:endParaRPr lang="en-US" sz="1300" dirty="0"/>
          </a:p>
        </p:txBody>
      </p:sp>
      <p:sp>
        <p:nvSpPr>
          <p:cNvPr id="10" name="Shape 8"/>
          <p:cNvSpPr/>
          <p:nvPr/>
        </p:nvSpPr>
        <p:spPr>
          <a:xfrm>
            <a:off x="502920" y="2697480"/>
            <a:ext cx="11201400" cy="749808"/>
          </a:xfrm>
          <a:prstGeom prst="roundRect">
            <a:avLst>
              <a:gd name="adj" fmla="val 7317"/>
            </a:avLst>
          </a:prstGeom>
          <a:solidFill>
            <a:srgbClr val="1E2230"/>
          </a:solidFill>
          <a:ln/>
        </p:spPr>
      </p:sp>
      <p:sp>
        <p:nvSpPr>
          <p:cNvPr id="11" name="Text 9"/>
          <p:cNvSpPr/>
          <p:nvPr/>
        </p:nvSpPr>
        <p:spPr>
          <a:xfrm>
            <a:off x="685800" y="2697480"/>
            <a:ext cx="1828800" cy="749808"/>
          </a:xfrm>
          <a:prstGeom prst="rect">
            <a:avLst/>
          </a:prstGeom>
          <a:noFill/>
          <a:ln/>
        </p:spPr>
        <p:txBody>
          <a:bodyPr wrap="square" rtlCol="0" anchor="ctr"/>
          <a:lstStyle/>
          <a:p>
            <a:pPr indent="0" marL="0">
              <a:buNone/>
            </a:pPr>
            <a:r>
              <a:rPr lang="en-US" sz="1400" b="1" dirty="0">
                <a:solidFill>
                  <a:srgbClr val="FFB100"/>
                </a:solidFill>
                <a:latin typeface="Arial Black" pitchFamily="34" charset="0"/>
                <a:ea typeface="Arial Black" pitchFamily="34" charset="-122"/>
                <a:cs typeface="Arial Black" pitchFamily="34" charset="-120"/>
              </a:rPr>
              <a:t>DEF-EXP-02</a:t>
            </a:r>
            <a:endParaRPr lang="en-US" sz="1400" dirty="0"/>
          </a:p>
        </p:txBody>
      </p:sp>
      <p:sp>
        <p:nvSpPr>
          <p:cNvPr id="12" name="Text 10"/>
          <p:cNvSpPr/>
          <p:nvPr/>
        </p:nvSpPr>
        <p:spPr>
          <a:xfrm>
            <a:off x="2606040" y="2697480"/>
            <a:ext cx="5212080" cy="749808"/>
          </a:xfrm>
          <a:prstGeom prst="rect">
            <a:avLst/>
          </a:prstGeom>
          <a:noFill/>
          <a:ln/>
        </p:spPr>
        <p:txBody>
          <a:bodyPr wrap="square" rtlCol="0" anchor="ctr"/>
          <a:lstStyle/>
          <a:p>
            <a:pPr indent="0" marL="0">
              <a:buNone/>
            </a:pPr>
            <a:r>
              <a:rPr lang="en-US" sz="1300" dirty="0">
                <a:solidFill>
                  <a:srgbClr val="F5F5F5"/>
                </a:solidFill>
                <a:latin typeface="Arial" pitchFamily="34" charset="0"/>
                <a:ea typeface="Arial" pitchFamily="34" charset="-122"/>
                <a:cs typeface="Arial" pitchFamily="34" charset="-120"/>
              </a:rPr>
              <a:t>Asistencias duplicadas el mismo día</a:t>
            </a:r>
            <a:endParaRPr lang="en-US" sz="1300" dirty="0"/>
          </a:p>
        </p:txBody>
      </p:sp>
      <p:sp>
        <p:nvSpPr>
          <p:cNvPr id="13" name="Text 11"/>
          <p:cNvSpPr/>
          <p:nvPr/>
        </p:nvSpPr>
        <p:spPr>
          <a:xfrm>
            <a:off x="7955280" y="2697480"/>
            <a:ext cx="3657600" cy="749808"/>
          </a:xfrm>
          <a:prstGeom prst="rect">
            <a:avLst/>
          </a:prstGeom>
          <a:noFill/>
          <a:ln/>
        </p:spPr>
        <p:txBody>
          <a:bodyPr wrap="square" rtlCol="0" anchor="ctr"/>
          <a:lstStyle/>
          <a:p>
            <a:pPr indent="0" marL="0">
              <a:buNone/>
            </a:pPr>
            <a:r>
              <a:rPr lang="en-US" sz="1300" b="1" dirty="0">
                <a:solidFill>
                  <a:srgbClr val="3DD68C"/>
                </a:solidFill>
                <a:latin typeface="Arial Black" pitchFamily="34" charset="0"/>
                <a:ea typeface="Arial Black" pitchFamily="34" charset="-122"/>
                <a:cs typeface="Arial Black" pitchFamily="34" charset="-120"/>
              </a:rPr>
              <a:t>→ 409 Conflict</a:t>
            </a:r>
            <a:endParaRPr lang="en-US" sz="1300" dirty="0"/>
          </a:p>
        </p:txBody>
      </p:sp>
      <p:sp>
        <p:nvSpPr>
          <p:cNvPr id="14" name="Shape 12"/>
          <p:cNvSpPr/>
          <p:nvPr/>
        </p:nvSpPr>
        <p:spPr>
          <a:xfrm>
            <a:off x="502920" y="3566160"/>
            <a:ext cx="11201400" cy="749808"/>
          </a:xfrm>
          <a:prstGeom prst="roundRect">
            <a:avLst>
              <a:gd name="adj" fmla="val 7317"/>
            </a:avLst>
          </a:prstGeom>
          <a:solidFill>
            <a:srgbClr val="1E2230"/>
          </a:solidFill>
          <a:ln/>
        </p:spPr>
      </p:sp>
      <p:sp>
        <p:nvSpPr>
          <p:cNvPr id="15" name="Text 13"/>
          <p:cNvSpPr/>
          <p:nvPr/>
        </p:nvSpPr>
        <p:spPr>
          <a:xfrm>
            <a:off x="685800" y="3566160"/>
            <a:ext cx="1828800" cy="749808"/>
          </a:xfrm>
          <a:prstGeom prst="rect">
            <a:avLst/>
          </a:prstGeom>
          <a:noFill/>
          <a:ln/>
        </p:spPr>
        <p:txBody>
          <a:bodyPr wrap="square" rtlCol="0" anchor="ctr"/>
          <a:lstStyle/>
          <a:p>
            <a:pPr indent="0" marL="0">
              <a:buNone/>
            </a:pPr>
            <a:r>
              <a:rPr lang="en-US" sz="1400" b="1" dirty="0">
                <a:solidFill>
                  <a:srgbClr val="FFB100"/>
                </a:solidFill>
                <a:latin typeface="Arial Black" pitchFamily="34" charset="0"/>
                <a:ea typeface="Arial Black" pitchFamily="34" charset="-122"/>
                <a:cs typeface="Arial Black" pitchFamily="34" charset="-120"/>
              </a:rPr>
              <a:t>DEF-EXP-01</a:t>
            </a:r>
            <a:endParaRPr lang="en-US" sz="1400" dirty="0"/>
          </a:p>
        </p:txBody>
      </p:sp>
      <p:sp>
        <p:nvSpPr>
          <p:cNvPr id="16" name="Text 14"/>
          <p:cNvSpPr/>
          <p:nvPr/>
        </p:nvSpPr>
        <p:spPr>
          <a:xfrm>
            <a:off x="2606040" y="3566160"/>
            <a:ext cx="5212080" cy="749808"/>
          </a:xfrm>
          <a:prstGeom prst="rect">
            <a:avLst/>
          </a:prstGeom>
          <a:noFill/>
          <a:ln/>
        </p:spPr>
        <p:txBody>
          <a:bodyPr wrap="square" rtlCol="0" anchor="ctr"/>
          <a:lstStyle/>
          <a:p>
            <a:pPr indent="0" marL="0">
              <a:buNone/>
            </a:pPr>
            <a:r>
              <a:rPr lang="en-US" sz="1300" dirty="0">
                <a:solidFill>
                  <a:srgbClr val="F5F5F5"/>
                </a:solidFill>
                <a:latin typeface="Arial" pitchFamily="34" charset="0"/>
                <a:ea typeface="Arial" pitchFamily="34" charset="-122"/>
                <a:cs typeface="Arial" pitchFamily="34" charset="-120"/>
              </a:rPr>
              <a:t>userId inexistente devolvía 500</a:t>
            </a:r>
            <a:endParaRPr lang="en-US" sz="1300" dirty="0"/>
          </a:p>
        </p:txBody>
      </p:sp>
      <p:sp>
        <p:nvSpPr>
          <p:cNvPr id="17" name="Text 15"/>
          <p:cNvSpPr/>
          <p:nvPr/>
        </p:nvSpPr>
        <p:spPr>
          <a:xfrm>
            <a:off x="7955280" y="3566160"/>
            <a:ext cx="3657600" cy="749808"/>
          </a:xfrm>
          <a:prstGeom prst="rect">
            <a:avLst/>
          </a:prstGeom>
          <a:noFill/>
          <a:ln/>
        </p:spPr>
        <p:txBody>
          <a:bodyPr wrap="square" rtlCol="0" anchor="ctr"/>
          <a:lstStyle/>
          <a:p>
            <a:pPr indent="0" marL="0">
              <a:buNone/>
            </a:pPr>
            <a:r>
              <a:rPr lang="en-US" sz="1300" b="1" dirty="0">
                <a:solidFill>
                  <a:srgbClr val="3DD68C"/>
                </a:solidFill>
                <a:latin typeface="Arial Black" pitchFamily="34" charset="0"/>
                <a:ea typeface="Arial Black" pitchFamily="34" charset="-122"/>
                <a:cs typeface="Arial Black" pitchFamily="34" charset="-120"/>
              </a:rPr>
              <a:t>→ 404 NotFound</a:t>
            </a:r>
            <a:endParaRPr lang="en-US" sz="1300" dirty="0"/>
          </a:p>
        </p:txBody>
      </p:sp>
      <p:sp>
        <p:nvSpPr>
          <p:cNvPr id="18" name="Shape 16"/>
          <p:cNvSpPr/>
          <p:nvPr/>
        </p:nvSpPr>
        <p:spPr>
          <a:xfrm>
            <a:off x="502920" y="4434840"/>
            <a:ext cx="11201400" cy="749808"/>
          </a:xfrm>
          <a:prstGeom prst="roundRect">
            <a:avLst>
              <a:gd name="adj" fmla="val 7317"/>
            </a:avLst>
          </a:prstGeom>
          <a:solidFill>
            <a:srgbClr val="1E2230"/>
          </a:solidFill>
          <a:ln/>
        </p:spPr>
      </p:sp>
      <p:sp>
        <p:nvSpPr>
          <p:cNvPr id="19" name="Text 17"/>
          <p:cNvSpPr/>
          <p:nvPr/>
        </p:nvSpPr>
        <p:spPr>
          <a:xfrm>
            <a:off x="685800" y="4434840"/>
            <a:ext cx="1828800" cy="749808"/>
          </a:xfrm>
          <a:prstGeom prst="rect">
            <a:avLst/>
          </a:prstGeom>
          <a:noFill/>
          <a:ln/>
        </p:spPr>
        <p:txBody>
          <a:bodyPr wrap="square" rtlCol="0" anchor="ctr"/>
          <a:lstStyle/>
          <a:p>
            <a:pPr indent="0" marL="0">
              <a:buNone/>
            </a:pPr>
            <a:r>
              <a:rPr lang="en-US" sz="1400" b="1" dirty="0">
                <a:solidFill>
                  <a:srgbClr val="FFB100"/>
                </a:solidFill>
                <a:latin typeface="Arial Black" pitchFamily="34" charset="0"/>
                <a:ea typeface="Arial Black" pitchFamily="34" charset="-122"/>
                <a:cs typeface="Arial Black" pitchFamily="34" charset="-120"/>
              </a:rPr>
              <a:t>DEF-EXP-06</a:t>
            </a:r>
            <a:endParaRPr lang="en-US" sz="1400" dirty="0"/>
          </a:p>
        </p:txBody>
      </p:sp>
      <p:sp>
        <p:nvSpPr>
          <p:cNvPr id="20" name="Text 18"/>
          <p:cNvSpPr/>
          <p:nvPr/>
        </p:nvSpPr>
        <p:spPr>
          <a:xfrm>
            <a:off x="2606040" y="4434840"/>
            <a:ext cx="5212080" cy="749808"/>
          </a:xfrm>
          <a:prstGeom prst="rect">
            <a:avLst/>
          </a:prstGeom>
          <a:noFill/>
          <a:ln/>
        </p:spPr>
        <p:txBody>
          <a:bodyPr wrap="square" rtlCol="0" anchor="ctr"/>
          <a:lstStyle/>
          <a:p>
            <a:pPr indent="0" marL="0">
              <a:buNone/>
            </a:pPr>
            <a:r>
              <a:rPr lang="en-US" sz="1300" dirty="0">
                <a:solidFill>
                  <a:srgbClr val="F5F5F5"/>
                </a:solidFill>
                <a:latin typeface="Arial" pitchFamily="34" charset="0"/>
                <a:ea typeface="Arial" pitchFamily="34" charset="-122"/>
                <a:cs typeface="Arial" pitchFamily="34" charset="-120"/>
              </a:rPr>
              <a:t>Día de actividad sin validar</a:t>
            </a:r>
            <a:endParaRPr lang="en-US" sz="1300" dirty="0"/>
          </a:p>
        </p:txBody>
      </p:sp>
      <p:sp>
        <p:nvSpPr>
          <p:cNvPr id="21" name="Text 19"/>
          <p:cNvSpPr/>
          <p:nvPr/>
        </p:nvSpPr>
        <p:spPr>
          <a:xfrm>
            <a:off x="7955280" y="4434840"/>
            <a:ext cx="3657600" cy="749808"/>
          </a:xfrm>
          <a:prstGeom prst="rect">
            <a:avLst/>
          </a:prstGeom>
          <a:noFill/>
          <a:ln/>
        </p:spPr>
        <p:txBody>
          <a:bodyPr wrap="square" rtlCol="0" anchor="ctr"/>
          <a:lstStyle/>
          <a:p>
            <a:pPr indent="0" marL="0">
              <a:buNone/>
            </a:pPr>
            <a:r>
              <a:rPr lang="en-US" sz="1300" b="1" dirty="0">
                <a:solidFill>
                  <a:srgbClr val="3DD68C"/>
                </a:solidFill>
                <a:latin typeface="Arial Black" pitchFamily="34" charset="0"/>
                <a:ea typeface="Arial Black" pitchFamily="34" charset="-122"/>
                <a:cs typeface="Arial Black" pitchFamily="34" charset="-120"/>
              </a:rPr>
              <a:t>→ 400 con @Pattern</a:t>
            </a:r>
            <a:endParaRPr lang="en-US" sz="1300" dirty="0"/>
          </a:p>
        </p:txBody>
      </p:sp>
      <p:sp>
        <p:nvSpPr>
          <p:cNvPr id="22" name="Text 20"/>
          <p:cNvSpPr/>
          <p:nvPr/>
        </p:nvSpPr>
        <p:spPr>
          <a:xfrm>
            <a:off x="502920" y="6400800"/>
            <a:ext cx="5486400" cy="274320"/>
          </a:xfrm>
          <a:prstGeom prst="rect">
            <a:avLst/>
          </a:prstGeom>
          <a:noFill/>
          <a:ln/>
        </p:spPr>
        <p:txBody>
          <a:bodyPr wrap="square" rtlCol="0" anchor="ctr"/>
          <a:lstStyle/>
          <a:p>
            <a:pPr indent="0" marL="0">
              <a:buNone/>
            </a:pPr>
            <a:r>
              <a:rPr lang="en-US" sz="1100" dirty="0">
                <a:solidFill>
                  <a:srgbClr val="9AA0AE"/>
                </a:solidFill>
                <a:latin typeface="Arial" pitchFamily="34" charset="0"/>
                <a:ea typeface="Arial" pitchFamily="34" charset="-122"/>
                <a:cs typeface="Arial" pitchFamily="34" charset="-120"/>
              </a:rPr>
              <a:t>Presenta: Ernesto</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B100"/>
          </a:solidFill>
          <a:ln/>
        </p:spPr>
      </p:sp>
      <p:sp>
        <p:nvSpPr>
          <p:cNvPr id="3" name="Text 1"/>
          <p:cNvSpPr/>
          <p:nvPr/>
        </p:nvSpPr>
        <p:spPr>
          <a:xfrm>
            <a:off x="10698480" y="6400800"/>
            <a:ext cx="1280160" cy="274320"/>
          </a:xfrm>
          <a:prstGeom prst="rect">
            <a:avLst/>
          </a:prstGeom>
          <a:noFill/>
          <a:ln/>
        </p:spPr>
        <p:txBody>
          <a:bodyPr wrap="square" rtlCol="0" anchor="ctr"/>
          <a:lstStyle/>
          <a:p>
            <a:pPr algn="r" indent="0" marL="0">
              <a:buNone/>
            </a:pPr>
            <a:r>
              <a:rPr lang="en-US" sz="900" dirty="0">
                <a:solidFill>
                  <a:srgbClr val="9AA0AE"/>
                </a:solidFill>
                <a:latin typeface="Arial" pitchFamily="34" charset="0"/>
                <a:ea typeface="Arial" pitchFamily="34" charset="-122"/>
                <a:cs typeface="Arial" pitchFamily="34" charset="-120"/>
              </a:rPr>
              <a:t>16 / 20</a:t>
            </a:r>
            <a:endParaRPr lang="en-US" sz="900" dirty="0"/>
          </a:p>
        </p:txBody>
      </p:sp>
      <p:sp>
        <p:nvSpPr>
          <p:cNvPr id="4" name="Text 2"/>
          <p:cNvSpPr/>
          <p:nvPr/>
        </p:nvSpPr>
        <p:spPr>
          <a:xfrm>
            <a:off x="502920" y="411480"/>
            <a:ext cx="10058400" cy="365760"/>
          </a:xfrm>
          <a:prstGeom prst="rect">
            <a:avLst/>
          </a:prstGeom>
          <a:noFill/>
          <a:ln/>
        </p:spPr>
        <p:txBody>
          <a:bodyPr wrap="square" rtlCol="0" anchor="ctr"/>
          <a:lstStyle/>
          <a:p>
            <a:pPr indent="0" marL="0">
              <a:buNone/>
            </a:pPr>
            <a:r>
              <a:rPr lang="en-US" sz="1300" b="1" spc="200" kern="0" dirty="0">
                <a:solidFill>
                  <a:srgbClr val="FFB100"/>
                </a:solidFill>
                <a:latin typeface="Arial Black" pitchFamily="34" charset="0"/>
                <a:ea typeface="Arial Black" pitchFamily="34" charset="-122"/>
                <a:cs typeface="Arial Black" pitchFamily="34" charset="-120"/>
              </a:rPr>
              <a:t>ANÁLISIS DE RIESGOS</a:t>
            </a:r>
            <a:endParaRPr lang="en-US" sz="1300" dirty="0"/>
          </a:p>
        </p:txBody>
      </p:sp>
      <p:sp>
        <p:nvSpPr>
          <p:cNvPr id="5" name="Text 3"/>
          <p:cNvSpPr/>
          <p:nvPr/>
        </p:nvSpPr>
        <p:spPr>
          <a:xfrm>
            <a:off x="502920" y="777240"/>
            <a:ext cx="10972800" cy="822960"/>
          </a:xfrm>
          <a:prstGeom prst="rect">
            <a:avLst/>
          </a:prstGeom>
          <a:noFill/>
          <a:ln/>
        </p:spPr>
        <p:txBody>
          <a:bodyPr wrap="square" rtlCol="0" anchor="ctr"/>
          <a:lstStyle/>
          <a:p>
            <a:pPr indent="0" marL="0">
              <a:buNone/>
            </a:pPr>
            <a:r>
              <a:rPr lang="en-US" sz="3400" b="1" dirty="0">
                <a:solidFill>
                  <a:srgbClr val="F5F5F5"/>
                </a:solidFill>
                <a:latin typeface="Arial Black" pitchFamily="34" charset="0"/>
                <a:ea typeface="Arial Black" pitchFamily="34" charset="-122"/>
                <a:cs typeface="Arial Black" pitchFamily="34" charset="-120"/>
              </a:rPr>
              <a:t>FMEA</a:t>
            </a:r>
            <a:endParaRPr lang="en-US" sz="3400" dirty="0"/>
          </a:p>
        </p:txBody>
      </p:sp>
      <p:sp>
        <p:nvSpPr>
          <p:cNvPr id="6" name="Shape 4"/>
          <p:cNvSpPr/>
          <p:nvPr/>
        </p:nvSpPr>
        <p:spPr>
          <a:xfrm>
            <a:off x="502920" y="1920240"/>
            <a:ext cx="3611880" cy="3017520"/>
          </a:xfrm>
          <a:prstGeom prst="roundRect">
            <a:avLst>
              <a:gd name="adj" fmla="val 2424"/>
            </a:avLst>
          </a:prstGeom>
          <a:solidFill>
            <a:srgbClr val="1E2230"/>
          </a:solidFill>
          <a:ln/>
        </p:spPr>
      </p:sp>
      <p:sp>
        <p:nvSpPr>
          <p:cNvPr id="7" name="Shape 5"/>
          <p:cNvSpPr/>
          <p:nvPr/>
        </p:nvSpPr>
        <p:spPr>
          <a:xfrm>
            <a:off x="502920" y="1920240"/>
            <a:ext cx="64008" cy="3017520"/>
          </a:xfrm>
          <a:prstGeom prst="rect">
            <a:avLst/>
          </a:prstGeom>
          <a:solidFill>
            <a:srgbClr val="FF4B3E"/>
          </a:solidFill>
          <a:ln/>
        </p:spPr>
      </p:sp>
      <p:sp>
        <p:nvSpPr>
          <p:cNvPr id="8" name="Text 6"/>
          <p:cNvSpPr/>
          <p:nvPr/>
        </p:nvSpPr>
        <p:spPr>
          <a:xfrm>
            <a:off x="704088" y="2084832"/>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Modos de falla</a:t>
            </a:r>
            <a:endParaRPr lang="en-US" sz="1400" dirty="0"/>
          </a:p>
        </p:txBody>
      </p:sp>
      <p:sp>
        <p:nvSpPr>
          <p:cNvPr id="9" name="Text 7"/>
          <p:cNvSpPr/>
          <p:nvPr/>
        </p:nvSpPr>
        <p:spPr>
          <a:xfrm>
            <a:off x="704088" y="2432304"/>
            <a:ext cx="3246120" cy="248716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Identificamos qué puede fallar en el registro de usuarios y su efecto en el sistema.</a:t>
            </a:r>
            <a:endParaRPr lang="en-US" sz="1100" dirty="0"/>
          </a:p>
        </p:txBody>
      </p:sp>
      <p:sp>
        <p:nvSpPr>
          <p:cNvPr id="10" name="Shape 8"/>
          <p:cNvSpPr/>
          <p:nvPr/>
        </p:nvSpPr>
        <p:spPr>
          <a:xfrm>
            <a:off x="4297680" y="1920240"/>
            <a:ext cx="3611880" cy="3017520"/>
          </a:xfrm>
          <a:prstGeom prst="roundRect">
            <a:avLst>
              <a:gd name="adj" fmla="val 2424"/>
            </a:avLst>
          </a:prstGeom>
          <a:solidFill>
            <a:srgbClr val="1E2230"/>
          </a:solidFill>
          <a:ln/>
        </p:spPr>
      </p:sp>
      <p:sp>
        <p:nvSpPr>
          <p:cNvPr id="11" name="Shape 9"/>
          <p:cNvSpPr/>
          <p:nvPr/>
        </p:nvSpPr>
        <p:spPr>
          <a:xfrm>
            <a:off x="4297680" y="1920240"/>
            <a:ext cx="64008" cy="3017520"/>
          </a:xfrm>
          <a:prstGeom prst="rect">
            <a:avLst/>
          </a:prstGeom>
          <a:solidFill>
            <a:srgbClr val="FFB100"/>
          </a:solidFill>
          <a:ln/>
        </p:spPr>
      </p:sp>
      <p:sp>
        <p:nvSpPr>
          <p:cNvPr id="12" name="Text 10"/>
          <p:cNvSpPr/>
          <p:nvPr/>
        </p:nvSpPr>
        <p:spPr>
          <a:xfrm>
            <a:off x="4498848" y="2084832"/>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NPR</a:t>
            </a:r>
            <a:endParaRPr lang="en-US" sz="1400" dirty="0"/>
          </a:p>
        </p:txBody>
      </p:sp>
      <p:sp>
        <p:nvSpPr>
          <p:cNvPr id="13" name="Text 11"/>
          <p:cNvSpPr/>
          <p:nvPr/>
        </p:nvSpPr>
        <p:spPr>
          <a:xfrm>
            <a:off x="4498848" y="2432304"/>
            <a:ext cx="3246120" cy="248716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Priorizamos por Número de Prioridad de Riesgo = gravedad × ocurrencia × detección.</a:t>
            </a:r>
            <a:endParaRPr lang="en-US" sz="1100" dirty="0"/>
          </a:p>
        </p:txBody>
      </p:sp>
      <p:sp>
        <p:nvSpPr>
          <p:cNvPr id="14" name="Shape 12"/>
          <p:cNvSpPr/>
          <p:nvPr/>
        </p:nvSpPr>
        <p:spPr>
          <a:xfrm>
            <a:off x="8092440" y="1920240"/>
            <a:ext cx="3611880" cy="3017520"/>
          </a:xfrm>
          <a:prstGeom prst="roundRect">
            <a:avLst>
              <a:gd name="adj" fmla="val 2424"/>
            </a:avLst>
          </a:prstGeom>
          <a:solidFill>
            <a:srgbClr val="1E2230"/>
          </a:solidFill>
          <a:ln/>
        </p:spPr>
      </p:sp>
      <p:sp>
        <p:nvSpPr>
          <p:cNvPr id="15" name="Shape 13"/>
          <p:cNvSpPr/>
          <p:nvPr/>
        </p:nvSpPr>
        <p:spPr>
          <a:xfrm>
            <a:off x="8092440" y="1920240"/>
            <a:ext cx="64008" cy="3017520"/>
          </a:xfrm>
          <a:prstGeom prst="rect">
            <a:avLst/>
          </a:prstGeom>
          <a:solidFill>
            <a:srgbClr val="3DD68C"/>
          </a:solidFill>
          <a:ln/>
        </p:spPr>
      </p:sp>
      <p:sp>
        <p:nvSpPr>
          <p:cNvPr id="16" name="Text 14"/>
          <p:cNvSpPr/>
          <p:nvPr/>
        </p:nvSpPr>
        <p:spPr>
          <a:xfrm>
            <a:off x="8293608" y="2084832"/>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Mitigaciones</a:t>
            </a:r>
            <a:endParaRPr lang="en-US" sz="1400" dirty="0"/>
          </a:p>
        </p:txBody>
      </p:sp>
      <p:sp>
        <p:nvSpPr>
          <p:cNvPr id="17" name="Text 15"/>
          <p:cNvSpPr/>
          <p:nvPr/>
        </p:nvSpPr>
        <p:spPr>
          <a:xfrm>
            <a:off x="8293608" y="2432304"/>
            <a:ext cx="3246120" cy="248716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Los riesgos altos se tradujeron en validaciones y tests concretos del backend.</a:t>
            </a:r>
            <a:endParaRPr lang="en-US" sz="1100" dirty="0"/>
          </a:p>
        </p:txBody>
      </p:sp>
      <p:sp>
        <p:nvSpPr>
          <p:cNvPr id="18" name="Text 16"/>
          <p:cNvSpPr/>
          <p:nvPr/>
        </p:nvSpPr>
        <p:spPr>
          <a:xfrm>
            <a:off x="502920" y="6400800"/>
            <a:ext cx="5486400" cy="274320"/>
          </a:xfrm>
          <a:prstGeom prst="rect">
            <a:avLst/>
          </a:prstGeom>
          <a:noFill/>
          <a:ln/>
        </p:spPr>
        <p:txBody>
          <a:bodyPr wrap="square" rtlCol="0" anchor="ctr"/>
          <a:lstStyle/>
          <a:p>
            <a:pPr indent="0" marL="0">
              <a:buNone/>
            </a:pPr>
            <a:r>
              <a:rPr lang="en-US" sz="1100" dirty="0">
                <a:solidFill>
                  <a:srgbClr val="9AA0AE"/>
                </a:solidFill>
                <a:latin typeface="Arial" pitchFamily="34" charset="0"/>
                <a:ea typeface="Arial" pitchFamily="34" charset="-122"/>
                <a:cs typeface="Arial" pitchFamily="34" charset="-120"/>
              </a:rPr>
              <a:t>Presenta: Fabricio</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4B3E"/>
          </a:solidFill>
          <a:ln/>
        </p:spPr>
      </p:sp>
      <p:sp>
        <p:nvSpPr>
          <p:cNvPr id="3" name="Text 1"/>
          <p:cNvSpPr/>
          <p:nvPr/>
        </p:nvSpPr>
        <p:spPr>
          <a:xfrm>
            <a:off x="10698480" y="6400800"/>
            <a:ext cx="1280160" cy="274320"/>
          </a:xfrm>
          <a:prstGeom prst="rect">
            <a:avLst/>
          </a:prstGeom>
          <a:noFill/>
          <a:ln/>
        </p:spPr>
        <p:txBody>
          <a:bodyPr wrap="square" rtlCol="0" anchor="ctr"/>
          <a:lstStyle/>
          <a:p>
            <a:pPr algn="r" indent="0" marL="0">
              <a:buNone/>
            </a:pPr>
            <a:r>
              <a:rPr lang="en-US" sz="900" dirty="0">
                <a:solidFill>
                  <a:srgbClr val="9AA0AE"/>
                </a:solidFill>
                <a:latin typeface="Arial" pitchFamily="34" charset="0"/>
                <a:ea typeface="Arial" pitchFamily="34" charset="-122"/>
                <a:cs typeface="Arial" pitchFamily="34" charset="-120"/>
              </a:rPr>
              <a:t>17 / 20</a:t>
            </a:r>
            <a:endParaRPr lang="en-US" sz="900" dirty="0"/>
          </a:p>
        </p:txBody>
      </p:sp>
      <p:sp>
        <p:nvSpPr>
          <p:cNvPr id="4" name="Text 2"/>
          <p:cNvSpPr/>
          <p:nvPr/>
        </p:nvSpPr>
        <p:spPr>
          <a:xfrm>
            <a:off x="502920" y="411480"/>
            <a:ext cx="10058400" cy="365760"/>
          </a:xfrm>
          <a:prstGeom prst="rect">
            <a:avLst/>
          </a:prstGeom>
          <a:noFill/>
          <a:ln/>
        </p:spPr>
        <p:txBody>
          <a:bodyPr wrap="square" rtlCol="0" anchor="ctr"/>
          <a:lstStyle/>
          <a:p>
            <a:pPr indent="0" marL="0">
              <a:buNone/>
            </a:pPr>
            <a:r>
              <a:rPr lang="en-US" sz="1300" b="1" spc="200" kern="0" dirty="0">
                <a:solidFill>
                  <a:srgbClr val="FF4B3E"/>
                </a:solidFill>
                <a:latin typeface="Arial Black" pitchFamily="34" charset="0"/>
                <a:ea typeface="Arial Black" pitchFamily="34" charset="-122"/>
                <a:cs typeface="Arial Black" pitchFamily="34" charset="-120"/>
              </a:rPr>
              <a:t>USABILIDAD</a:t>
            </a:r>
            <a:endParaRPr lang="en-US" sz="1300" dirty="0"/>
          </a:p>
        </p:txBody>
      </p:sp>
      <p:sp>
        <p:nvSpPr>
          <p:cNvPr id="5" name="Text 3"/>
          <p:cNvSpPr/>
          <p:nvPr/>
        </p:nvSpPr>
        <p:spPr>
          <a:xfrm>
            <a:off x="502920" y="777240"/>
            <a:ext cx="10972800" cy="822960"/>
          </a:xfrm>
          <a:prstGeom prst="rect">
            <a:avLst/>
          </a:prstGeom>
          <a:noFill/>
          <a:ln/>
        </p:spPr>
        <p:txBody>
          <a:bodyPr wrap="square" rtlCol="0" anchor="ctr"/>
          <a:lstStyle/>
          <a:p>
            <a:pPr indent="0" marL="0">
              <a:buNone/>
            </a:pPr>
            <a:r>
              <a:rPr lang="en-US" sz="3400" b="1" dirty="0">
                <a:solidFill>
                  <a:srgbClr val="F5F5F5"/>
                </a:solidFill>
                <a:latin typeface="Arial Black" pitchFamily="34" charset="0"/>
                <a:ea typeface="Arial Black" pitchFamily="34" charset="-122"/>
                <a:cs typeface="Arial Black" pitchFamily="34" charset="-120"/>
              </a:rPr>
              <a:t>Análisis heurístico · 10 de Nielsen</a:t>
            </a:r>
            <a:endParaRPr lang="en-US" sz="3400" dirty="0"/>
          </a:p>
        </p:txBody>
      </p:sp>
      <p:sp>
        <p:nvSpPr>
          <p:cNvPr id="6" name="Text 4"/>
          <p:cNvSpPr/>
          <p:nvPr/>
        </p:nvSpPr>
        <p:spPr>
          <a:xfrm>
            <a:off x="502920" y="1737360"/>
            <a:ext cx="10972800" cy="457200"/>
          </a:xfrm>
          <a:prstGeom prst="rect">
            <a:avLst/>
          </a:prstGeom>
          <a:noFill/>
          <a:ln/>
        </p:spPr>
        <p:txBody>
          <a:bodyPr wrap="square" rtlCol="0" anchor="ctr"/>
          <a:lstStyle/>
          <a:p>
            <a:pPr indent="0" marL="0">
              <a:buNone/>
            </a:pPr>
            <a:r>
              <a:rPr lang="en-US" sz="1500" dirty="0">
                <a:solidFill>
                  <a:srgbClr val="9AA0AE"/>
                </a:solidFill>
                <a:latin typeface="Arial" pitchFamily="34" charset="0"/>
                <a:ea typeface="Arial" pitchFamily="34" charset="-122"/>
                <a:cs typeface="Arial" pitchFamily="34" charset="-120"/>
              </a:rPr>
              <a:t>Evaluamos las 5 pantallas con las 10 heurísticas de Nielsen. Hallazgos por severidad:</a:t>
            </a:r>
            <a:endParaRPr lang="en-US" sz="1500" dirty="0"/>
          </a:p>
        </p:txBody>
      </p:sp>
      <p:sp>
        <p:nvSpPr>
          <p:cNvPr id="7" name="Shape 5"/>
          <p:cNvSpPr/>
          <p:nvPr/>
        </p:nvSpPr>
        <p:spPr>
          <a:xfrm>
            <a:off x="502920" y="2377440"/>
            <a:ext cx="3611880" cy="2377440"/>
          </a:xfrm>
          <a:prstGeom prst="roundRect">
            <a:avLst>
              <a:gd name="adj" fmla="val 3077"/>
            </a:avLst>
          </a:prstGeom>
          <a:solidFill>
            <a:srgbClr val="1E2230"/>
          </a:solidFill>
          <a:ln/>
        </p:spPr>
      </p:sp>
      <p:sp>
        <p:nvSpPr>
          <p:cNvPr id="8" name="Shape 6"/>
          <p:cNvSpPr/>
          <p:nvPr/>
        </p:nvSpPr>
        <p:spPr>
          <a:xfrm>
            <a:off x="502920" y="2377440"/>
            <a:ext cx="64008" cy="2377440"/>
          </a:xfrm>
          <a:prstGeom prst="rect">
            <a:avLst/>
          </a:prstGeom>
          <a:solidFill>
            <a:srgbClr val="FF4B3E"/>
          </a:solidFill>
          <a:ln/>
        </p:spPr>
      </p:sp>
      <p:sp>
        <p:nvSpPr>
          <p:cNvPr id="9" name="Text 7"/>
          <p:cNvSpPr/>
          <p:nvPr/>
        </p:nvSpPr>
        <p:spPr>
          <a:xfrm>
            <a:off x="704088" y="2542032"/>
            <a:ext cx="3246120" cy="640080"/>
          </a:xfrm>
          <a:prstGeom prst="rect">
            <a:avLst/>
          </a:prstGeom>
          <a:noFill/>
          <a:ln/>
        </p:spPr>
        <p:txBody>
          <a:bodyPr wrap="square" rtlCol="0" anchor="ctr"/>
          <a:lstStyle/>
          <a:p>
            <a:pPr indent="0" marL="0">
              <a:buNone/>
            </a:pPr>
            <a:r>
              <a:rPr lang="en-US" sz="3000" b="1" dirty="0">
                <a:solidFill>
                  <a:srgbClr val="FF4B3E"/>
                </a:solidFill>
                <a:latin typeface="Arial Black" pitchFamily="34" charset="0"/>
                <a:ea typeface="Arial Black" pitchFamily="34" charset="-122"/>
                <a:cs typeface="Arial Black" pitchFamily="34" charset="-120"/>
              </a:rPr>
              <a:t>2</a:t>
            </a:r>
            <a:endParaRPr lang="en-US" sz="3000" dirty="0"/>
          </a:p>
        </p:txBody>
      </p:sp>
      <p:sp>
        <p:nvSpPr>
          <p:cNvPr id="10" name="Text 8"/>
          <p:cNvSpPr/>
          <p:nvPr/>
        </p:nvSpPr>
        <p:spPr>
          <a:xfrm>
            <a:off x="704088" y="3200400"/>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mayores</a:t>
            </a:r>
            <a:endParaRPr lang="en-US" sz="1400" dirty="0"/>
          </a:p>
        </p:txBody>
      </p:sp>
      <p:sp>
        <p:nvSpPr>
          <p:cNvPr id="11" name="Text 9"/>
          <p:cNvSpPr/>
          <p:nvPr/>
        </p:nvSpPr>
        <p:spPr>
          <a:xfrm>
            <a:off x="704088" y="3547872"/>
            <a:ext cx="3246120" cy="1188720"/>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confirmar al borrar · mensaje al borrar con asistencias · buscar usuario</a:t>
            </a:r>
            <a:endParaRPr lang="en-US" sz="1100" dirty="0"/>
          </a:p>
        </p:txBody>
      </p:sp>
      <p:sp>
        <p:nvSpPr>
          <p:cNvPr id="12" name="Shape 10"/>
          <p:cNvSpPr/>
          <p:nvPr/>
        </p:nvSpPr>
        <p:spPr>
          <a:xfrm>
            <a:off x="4297680" y="2377440"/>
            <a:ext cx="3611880" cy="2377440"/>
          </a:xfrm>
          <a:prstGeom prst="roundRect">
            <a:avLst>
              <a:gd name="adj" fmla="val 3077"/>
            </a:avLst>
          </a:prstGeom>
          <a:solidFill>
            <a:srgbClr val="1E2230"/>
          </a:solidFill>
          <a:ln/>
        </p:spPr>
      </p:sp>
      <p:sp>
        <p:nvSpPr>
          <p:cNvPr id="13" name="Shape 11"/>
          <p:cNvSpPr/>
          <p:nvPr/>
        </p:nvSpPr>
        <p:spPr>
          <a:xfrm>
            <a:off x="4297680" y="2377440"/>
            <a:ext cx="64008" cy="2377440"/>
          </a:xfrm>
          <a:prstGeom prst="rect">
            <a:avLst/>
          </a:prstGeom>
          <a:solidFill>
            <a:srgbClr val="FFB100"/>
          </a:solidFill>
          <a:ln/>
        </p:spPr>
      </p:sp>
      <p:sp>
        <p:nvSpPr>
          <p:cNvPr id="14" name="Text 12"/>
          <p:cNvSpPr/>
          <p:nvPr/>
        </p:nvSpPr>
        <p:spPr>
          <a:xfrm>
            <a:off x="4498848" y="2542032"/>
            <a:ext cx="3246120" cy="640080"/>
          </a:xfrm>
          <a:prstGeom prst="rect">
            <a:avLst/>
          </a:prstGeom>
          <a:noFill/>
          <a:ln/>
        </p:spPr>
        <p:txBody>
          <a:bodyPr wrap="square" rtlCol="0" anchor="ctr"/>
          <a:lstStyle/>
          <a:p>
            <a:pPr indent="0" marL="0">
              <a:buNone/>
            </a:pPr>
            <a:r>
              <a:rPr lang="en-US" sz="3000" b="1" dirty="0">
                <a:solidFill>
                  <a:srgbClr val="FFB100"/>
                </a:solidFill>
                <a:latin typeface="Arial Black" pitchFamily="34" charset="0"/>
                <a:ea typeface="Arial Black" pitchFamily="34" charset="-122"/>
                <a:cs typeface="Arial Black" pitchFamily="34" charset="-120"/>
              </a:rPr>
              <a:t>5</a:t>
            </a:r>
            <a:endParaRPr lang="en-US" sz="3000" dirty="0"/>
          </a:p>
        </p:txBody>
      </p:sp>
      <p:sp>
        <p:nvSpPr>
          <p:cNvPr id="15" name="Text 13"/>
          <p:cNvSpPr/>
          <p:nvPr/>
        </p:nvSpPr>
        <p:spPr>
          <a:xfrm>
            <a:off x="4498848" y="3200400"/>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menores</a:t>
            </a:r>
            <a:endParaRPr lang="en-US" sz="1400" dirty="0"/>
          </a:p>
        </p:txBody>
      </p:sp>
      <p:sp>
        <p:nvSpPr>
          <p:cNvPr id="16" name="Text 14"/>
          <p:cNvSpPr/>
          <p:nvPr/>
        </p:nvSpPr>
        <p:spPr>
          <a:xfrm>
            <a:off x="4498848" y="3547872"/>
            <a:ext cx="3246120" cy="1188720"/>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loading · validación front · filtros/paginación · ayuda contextual</a:t>
            </a:r>
            <a:endParaRPr lang="en-US" sz="1100" dirty="0"/>
          </a:p>
        </p:txBody>
      </p:sp>
      <p:sp>
        <p:nvSpPr>
          <p:cNvPr id="17" name="Shape 15"/>
          <p:cNvSpPr/>
          <p:nvPr/>
        </p:nvSpPr>
        <p:spPr>
          <a:xfrm>
            <a:off x="8092440" y="2377440"/>
            <a:ext cx="3611880" cy="2377440"/>
          </a:xfrm>
          <a:prstGeom prst="roundRect">
            <a:avLst>
              <a:gd name="adj" fmla="val 3077"/>
            </a:avLst>
          </a:prstGeom>
          <a:solidFill>
            <a:srgbClr val="1E2230"/>
          </a:solidFill>
          <a:ln/>
        </p:spPr>
      </p:sp>
      <p:sp>
        <p:nvSpPr>
          <p:cNvPr id="18" name="Shape 16"/>
          <p:cNvSpPr/>
          <p:nvPr/>
        </p:nvSpPr>
        <p:spPr>
          <a:xfrm>
            <a:off x="8092440" y="2377440"/>
            <a:ext cx="64008" cy="2377440"/>
          </a:xfrm>
          <a:prstGeom prst="rect">
            <a:avLst/>
          </a:prstGeom>
          <a:solidFill>
            <a:srgbClr val="5B9BFF"/>
          </a:solidFill>
          <a:ln/>
        </p:spPr>
      </p:sp>
      <p:sp>
        <p:nvSpPr>
          <p:cNvPr id="19" name="Text 17"/>
          <p:cNvSpPr/>
          <p:nvPr/>
        </p:nvSpPr>
        <p:spPr>
          <a:xfrm>
            <a:off x="8293608" y="2542032"/>
            <a:ext cx="3246120" cy="640080"/>
          </a:xfrm>
          <a:prstGeom prst="rect">
            <a:avLst/>
          </a:prstGeom>
          <a:noFill/>
          <a:ln/>
        </p:spPr>
        <p:txBody>
          <a:bodyPr wrap="square" rtlCol="0" anchor="ctr"/>
          <a:lstStyle/>
          <a:p>
            <a:pPr indent="0" marL="0">
              <a:buNone/>
            </a:pPr>
            <a:r>
              <a:rPr lang="en-US" sz="3000" b="1" dirty="0">
                <a:solidFill>
                  <a:srgbClr val="5B9BFF"/>
                </a:solidFill>
                <a:latin typeface="Arial Black" pitchFamily="34" charset="0"/>
                <a:ea typeface="Arial Black" pitchFamily="34" charset="-122"/>
                <a:cs typeface="Arial Black" pitchFamily="34" charset="-120"/>
              </a:rPr>
              <a:t>3</a:t>
            </a:r>
            <a:endParaRPr lang="en-US" sz="3000" dirty="0"/>
          </a:p>
        </p:txBody>
      </p:sp>
      <p:sp>
        <p:nvSpPr>
          <p:cNvPr id="20" name="Text 18"/>
          <p:cNvSpPr/>
          <p:nvPr/>
        </p:nvSpPr>
        <p:spPr>
          <a:xfrm>
            <a:off x="8293608" y="3200400"/>
            <a:ext cx="324612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cosméticos</a:t>
            </a:r>
            <a:endParaRPr lang="en-US" sz="1400" dirty="0"/>
          </a:p>
        </p:txBody>
      </p:sp>
      <p:sp>
        <p:nvSpPr>
          <p:cNvPr id="21" name="Text 19"/>
          <p:cNvSpPr/>
          <p:nvPr/>
        </p:nvSpPr>
        <p:spPr>
          <a:xfrm>
            <a:off x="8293608" y="3547872"/>
            <a:ext cx="3246120" cy="1188720"/>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mensajes técnicos · consistencia de botones · dashboard vacío</a:t>
            </a:r>
            <a:endParaRPr lang="en-US" sz="1100" dirty="0"/>
          </a:p>
        </p:txBody>
      </p:sp>
      <p:sp>
        <p:nvSpPr>
          <p:cNvPr id="22" name="Text 20"/>
          <p:cNvSpPr/>
          <p:nvPr/>
        </p:nvSpPr>
        <p:spPr>
          <a:xfrm>
            <a:off x="502920" y="5897880"/>
            <a:ext cx="11155680" cy="365760"/>
          </a:xfrm>
          <a:prstGeom prst="rect">
            <a:avLst/>
          </a:prstGeom>
          <a:noFill/>
          <a:ln/>
        </p:spPr>
        <p:txBody>
          <a:bodyPr wrap="square" rtlCol="0" anchor="ctr"/>
          <a:lstStyle/>
          <a:p>
            <a:pPr indent="0" marL="0">
              <a:buNone/>
            </a:pPr>
            <a:r>
              <a:rPr lang="en-US" sz="1300" i="1" dirty="0">
                <a:solidFill>
                  <a:srgbClr val="F5F5F5"/>
                </a:solidFill>
                <a:latin typeface="Arial" pitchFamily="34" charset="0"/>
                <a:ea typeface="Arial" pitchFamily="34" charset="-122"/>
                <a:cs typeface="Arial" pitchFamily="34" charset="-120"/>
              </a:rPr>
              <a:t>Top 3 mejoras: confirmación al eliminar · mensaje correcto al borrar (FK) · selector de usuario en asistencias.</a:t>
            </a:r>
            <a:endParaRPr lang="en-US" sz="1300" dirty="0"/>
          </a:p>
        </p:txBody>
      </p:sp>
      <p:sp>
        <p:nvSpPr>
          <p:cNvPr id="23" name="Text 21"/>
          <p:cNvSpPr/>
          <p:nvPr/>
        </p:nvSpPr>
        <p:spPr>
          <a:xfrm>
            <a:off x="502920" y="6400800"/>
            <a:ext cx="5486400" cy="274320"/>
          </a:xfrm>
          <a:prstGeom prst="rect">
            <a:avLst/>
          </a:prstGeom>
          <a:noFill/>
          <a:ln/>
        </p:spPr>
        <p:txBody>
          <a:bodyPr wrap="square" rtlCol="0" anchor="ctr"/>
          <a:lstStyle/>
          <a:p>
            <a:pPr indent="0" marL="0">
              <a:buNone/>
            </a:pPr>
            <a:r>
              <a:rPr lang="en-US" sz="1100" dirty="0">
                <a:solidFill>
                  <a:srgbClr val="9AA0AE"/>
                </a:solidFill>
                <a:latin typeface="Arial" pitchFamily="34" charset="0"/>
                <a:ea typeface="Arial" pitchFamily="34" charset="-122"/>
                <a:cs typeface="Arial" pitchFamily="34" charset="-120"/>
              </a:rPr>
              <a:t>Presenta: Ernesto</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3DD68C"/>
          </a:solidFill>
          <a:ln/>
        </p:spPr>
      </p:sp>
      <p:sp>
        <p:nvSpPr>
          <p:cNvPr id="3" name="Text 1"/>
          <p:cNvSpPr/>
          <p:nvPr/>
        </p:nvSpPr>
        <p:spPr>
          <a:xfrm>
            <a:off x="10698480" y="6400800"/>
            <a:ext cx="1280160" cy="274320"/>
          </a:xfrm>
          <a:prstGeom prst="rect">
            <a:avLst/>
          </a:prstGeom>
          <a:noFill/>
          <a:ln/>
        </p:spPr>
        <p:txBody>
          <a:bodyPr wrap="square" rtlCol="0" anchor="ctr"/>
          <a:lstStyle/>
          <a:p>
            <a:pPr algn="r" indent="0" marL="0">
              <a:buNone/>
            </a:pPr>
            <a:r>
              <a:rPr lang="en-US" sz="900" dirty="0">
                <a:solidFill>
                  <a:srgbClr val="9AA0AE"/>
                </a:solidFill>
                <a:latin typeface="Arial" pitchFamily="34" charset="0"/>
                <a:ea typeface="Arial" pitchFamily="34" charset="-122"/>
                <a:cs typeface="Arial" pitchFamily="34" charset="-120"/>
              </a:rPr>
              <a:t>18 / 20</a:t>
            </a:r>
            <a:endParaRPr lang="en-US" sz="900" dirty="0"/>
          </a:p>
        </p:txBody>
      </p:sp>
      <p:sp>
        <p:nvSpPr>
          <p:cNvPr id="4" name="Text 2"/>
          <p:cNvSpPr/>
          <p:nvPr/>
        </p:nvSpPr>
        <p:spPr>
          <a:xfrm>
            <a:off x="502920" y="411480"/>
            <a:ext cx="10058400" cy="365760"/>
          </a:xfrm>
          <a:prstGeom prst="rect">
            <a:avLst/>
          </a:prstGeom>
          <a:noFill/>
          <a:ln/>
        </p:spPr>
        <p:txBody>
          <a:bodyPr wrap="square" rtlCol="0" anchor="ctr"/>
          <a:lstStyle/>
          <a:p>
            <a:pPr indent="0" marL="0">
              <a:buNone/>
            </a:pPr>
            <a:r>
              <a:rPr lang="en-US" sz="1300" b="1" spc="200" kern="0" dirty="0">
                <a:solidFill>
                  <a:srgbClr val="3DD68C"/>
                </a:solidFill>
                <a:latin typeface="Arial Black" pitchFamily="34" charset="0"/>
                <a:ea typeface="Arial Black" pitchFamily="34" charset="-122"/>
                <a:cs typeface="Arial Black" pitchFamily="34" charset="-120"/>
              </a:rPr>
              <a:t>PRODUCTO EN VIVO</a:t>
            </a:r>
            <a:endParaRPr lang="en-US" sz="1300" dirty="0"/>
          </a:p>
        </p:txBody>
      </p:sp>
      <p:sp>
        <p:nvSpPr>
          <p:cNvPr id="5" name="Text 3"/>
          <p:cNvSpPr/>
          <p:nvPr/>
        </p:nvSpPr>
        <p:spPr>
          <a:xfrm>
            <a:off x="502920" y="777240"/>
            <a:ext cx="10972800" cy="822960"/>
          </a:xfrm>
          <a:prstGeom prst="rect">
            <a:avLst/>
          </a:prstGeom>
          <a:noFill/>
          <a:ln/>
        </p:spPr>
        <p:txBody>
          <a:bodyPr wrap="square" rtlCol="0" anchor="ctr"/>
          <a:lstStyle/>
          <a:p>
            <a:pPr indent="0" marL="0">
              <a:buNone/>
            </a:pPr>
            <a:r>
              <a:rPr lang="en-US" sz="3400" b="1" dirty="0">
                <a:solidFill>
                  <a:srgbClr val="F5F5F5"/>
                </a:solidFill>
                <a:latin typeface="Arial Black" pitchFamily="34" charset="0"/>
                <a:ea typeface="Arial Black" pitchFamily="34" charset="-122"/>
                <a:cs typeface="Arial Black" pitchFamily="34" charset="-120"/>
              </a:rPr>
              <a:t>Demo y wireframes</a:t>
            </a:r>
            <a:endParaRPr lang="en-US" sz="3400" dirty="0"/>
          </a:p>
        </p:txBody>
      </p:sp>
      <p:sp>
        <p:nvSpPr>
          <p:cNvPr id="6" name="Shape 4"/>
          <p:cNvSpPr/>
          <p:nvPr/>
        </p:nvSpPr>
        <p:spPr>
          <a:xfrm>
            <a:off x="502920" y="2011680"/>
            <a:ext cx="11201400" cy="1828800"/>
          </a:xfrm>
          <a:prstGeom prst="roundRect">
            <a:avLst>
              <a:gd name="adj" fmla="val 5000"/>
            </a:avLst>
          </a:prstGeom>
          <a:solidFill>
            <a:srgbClr val="1E2230"/>
          </a:solidFill>
          <a:ln w="25400">
            <a:solidFill>
              <a:srgbClr val="3DD68C"/>
            </a:solidFill>
            <a:prstDash val="solid"/>
          </a:ln>
        </p:spPr>
      </p:sp>
      <p:sp>
        <p:nvSpPr>
          <p:cNvPr id="7" name="Text 5"/>
          <p:cNvSpPr/>
          <p:nvPr/>
        </p:nvSpPr>
        <p:spPr>
          <a:xfrm>
            <a:off x="502920" y="2240280"/>
            <a:ext cx="11201400" cy="640080"/>
          </a:xfrm>
          <a:prstGeom prst="rect">
            <a:avLst/>
          </a:prstGeom>
          <a:noFill/>
          <a:ln/>
        </p:spPr>
        <p:txBody>
          <a:bodyPr wrap="square" rtlCol="0" anchor="ctr"/>
          <a:lstStyle/>
          <a:p>
            <a:pPr algn="ctr" indent="0" marL="0">
              <a:buNone/>
            </a:pPr>
            <a:r>
              <a:rPr lang="en-US" sz="3000" b="1" dirty="0">
                <a:solidFill>
                  <a:srgbClr val="3DD68C"/>
                </a:solidFill>
                <a:latin typeface="Arial Black" pitchFamily="34" charset="0"/>
                <a:ea typeface="Arial Black" pitchFamily="34" charset="-122"/>
                <a:cs typeface="Arial Black" pitchFamily="34" charset="-120"/>
              </a:rPr>
              <a:t>▶   DEMO EN VIVO</a:t>
            </a:r>
            <a:endParaRPr lang="en-US" sz="3000" dirty="0"/>
          </a:p>
        </p:txBody>
      </p:sp>
      <p:sp>
        <p:nvSpPr>
          <p:cNvPr id="8" name="Text 6"/>
          <p:cNvSpPr/>
          <p:nvPr/>
        </p:nvSpPr>
        <p:spPr>
          <a:xfrm>
            <a:off x="502920" y="2971800"/>
            <a:ext cx="11201400" cy="548640"/>
          </a:xfrm>
          <a:prstGeom prst="rect">
            <a:avLst/>
          </a:prstGeom>
          <a:noFill/>
          <a:ln/>
        </p:spPr>
        <p:txBody>
          <a:bodyPr wrap="square" rtlCol="0" anchor="ctr"/>
          <a:lstStyle/>
          <a:p>
            <a:pPr algn="ctr" indent="0" marL="0">
              <a:buNone/>
            </a:pPr>
            <a:r>
              <a:rPr lang="en-US" sz="1600" dirty="0">
                <a:solidFill>
                  <a:srgbClr val="F5F5F5"/>
                </a:solidFill>
                <a:latin typeface="Arial" pitchFamily="34" charset="0"/>
                <a:ea typeface="Arial" pitchFamily="34" charset="-122"/>
                <a:cs typeface="Arial" pitchFamily="34" charset="-120"/>
              </a:rPr>
              <a:t>Login  →  Usuarios  →  Actividades  →  Asistencias  →  intento como CLIENT (403)</a:t>
            </a:r>
            <a:endParaRPr lang="en-US" sz="1600" dirty="0"/>
          </a:p>
        </p:txBody>
      </p:sp>
      <p:sp>
        <p:nvSpPr>
          <p:cNvPr id="9" name="Text 7"/>
          <p:cNvSpPr/>
          <p:nvPr/>
        </p:nvSpPr>
        <p:spPr>
          <a:xfrm>
            <a:off x="502920" y="5897880"/>
            <a:ext cx="11155680" cy="365760"/>
          </a:xfrm>
          <a:prstGeom prst="rect">
            <a:avLst/>
          </a:prstGeom>
          <a:noFill/>
          <a:ln/>
        </p:spPr>
        <p:txBody>
          <a:bodyPr wrap="square" rtlCol="0" anchor="ctr"/>
          <a:lstStyle/>
          <a:p>
            <a:pPr indent="0" marL="0">
              <a:buNone/>
            </a:pPr>
            <a:r>
              <a:rPr lang="en-US" sz="1300" i="1" dirty="0">
                <a:solidFill>
                  <a:srgbClr val="9AA0AE"/>
                </a:solidFill>
                <a:latin typeface="Arial" pitchFamily="34" charset="0"/>
                <a:ea typeface="Arial" pitchFamily="34" charset="-122"/>
                <a:cs typeface="Arial" pitchFamily="34" charset="-120"/>
              </a:rPr>
              <a:t>Wireframes y mockups de las pantallas clave: proyecto de Figma del equipo (link).</a:t>
            </a:r>
            <a:endParaRPr lang="en-US" sz="1300" dirty="0"/>
          </a:p>
        </p:txBody>
      </p:sp>
      <p:sp>
        <p:nvSpPr>
          <p:cNvPr id="10" name="Text 8"/>
          <p:cNvSpPr/>
          <p:nvPr/>
        </p:nvSpPr>
        <p:spPr>
          <a:xfrm>
            <a:off x="502920" y="6400800"/>
            <a:ext cx="5486400" cy="274320"/>
          </a:xfrm>
          <a:prstGeom prst="rect">
            <a:avLst/>
          </a:prstGeom>
          <a:noFill/>
          <a:ln/>
        </p:spPr>
        <p:txBody>
          <a:bodyPr wrap="square" rtlCol="0" anchor="ctr"/>
          <a:lstStyle/>
          <a:p>
            <a:pPr indent="0" marL="0">
              <a:buNone/>
            </a:pPr>
            <a:r>
              <a:rPr lang="en-US" sz="1100" dirty="0">
                <a:solidFill>
                  <a:srgbClr val="9AA0AE"/>
                </a:solidFill>
                <a:latin typeface="Arial" pitchFamily="34" charset="0"/>
                <a:ea typeface="Arial" pitchFamily="34" charset="-122"/>
                <a:cs typeface="Arial" pitchFamily="34" charset="-120"/>
              </a:rPr>
              <a:t>Presenta: Equipo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B9BFF"/>
          </a:solidFill>
          <a:ln/>
        </p:spPr>
      </p:sp>
      <p:sp>
        <p:nvSpPr>
          <p:cNvPr id="3" name="Text 1"/>
          <p:cNvSpPr/>
          <p:nvPr/>
        </p:nvSpPr>
        <p:spPr>
          <a:xfrm>
            <a:off x="10698480" y="6400800"/>
            <a:ext cx="1280160" cy="274320"/>
          </a:xfrm>
          <a:prstGeom prst="rect">
            <a:avLst/>
          </a:prstGeom>
          <a:noFill/>
          <a:ln/>
        </p:spPr>
        <p:txBody>
          <a:bodyPr wrap="square" rtlCol="0" anchor="ctr"/>
          <a:lstStyle/>
          <a:p>
            <a:pPr algn="r" indent="0" marL="0">
              <a:buNone/>
            </a:pPr>
            <a:r>
              <a:rPr lang="en-US" sz="900" dirty="0">
                <a:solidFill>
                  <a:srgbClr val="9AA0AE"/>
                </a:solidFill>
                <a:latin typeface="Arial" pitchFamily="34" charset="0"/>
                <a:ea typeface="Arial" pitchFamily="34" charset="-122"/>
                <a:cs typeface="Arial" pitchFamily="34" charset="-120"/>
              </a:rPr>
              <a:t>19 / 20</a:t>
            </a:r>
            <a:endParaRPr lang="en-US" sz="900" dirty="0"/>
          </a:p>
        </p:txBody>
      </p:sp>
      <p:sp>
        <p:nvSpPr>
          <p:cNvPr id="4" name="Text 2"/>
          <p:cNvSpPr/>
          <p:nvPr/>
        </p:nvSpPr>
        <p:spPr>
          <a:xfrm>
            <a:off x="502920" y="411480"/>
            <a:ext cx="10058400" cy="365760"/>
          </a:xfrm>
          <a:prstGeom prst="rect">
            <a:avLst/>
          </a:prstGeom>
          <a:noFill/>
          <a:ln/>
        </p:spPr>
        <p:txBody>
          <a:bodyPr wrap="square" rtlCol="0" anchor="ctr"/>
          <a:lstStyle/>
          <a:p>
            <a:pPr indent="0" marL="0">
              <a:buNone/>
            </a:pPr>
            <a:r>
              <a:rPr lang="en-US" sz="1300" b="1" spc="200" kern="0" dirty="0">
                <a:solidFill>
                  <a:srgbClr val="5B9BFF"/>
                </a:solidFill>
                <a:latin typeface="Arial Black" pitchFamily="34" charset="0"/>
                <a:ea typeface="Arial Black" pitchFamily="34" charset="-122"/>
                <a:cs typeface="Arial Black" pitchFamily="34" charset="-120"/>
              </a:rPr>
              <a:t>REFLEXIÓN</a:t>
            </a:r>
            <a:endParaRPr lang="en-US" sz="1300" dirty="0"/>
          </a:p>
        </p:txBody>
      </p:sp>
      <p:sp>
        <p:nvSpPr>
          <p:cNvPr id="5" name="Text 3"/>
          <p:cNvSpPr/>
          <p:nvPr/>
        </p:nvSpPr>
        <p:spPr>
          <a:xfrm>
            <a:off x="502920" y="777240"/>
            <a:ext cx="10972800" cy="822960"/>
          </a:xfrm>
          <a:prstGeom prst="rect">
            <a:avLst/>
          </a:prstGeom>
          <a:noFill/>
          <a:ln/>
        </p:spPr>
        <p:txBody>
          <a:bodyPr wrap="square" rtlCol="0" anchor="ctr"/>
          <a:lstStyle/>
          <a:p>
            <a:pPr indent="0" marL="0">
              <a:buNone/>
            </a:pPr>
            <a:r>
              <a:rPr lang="en-US" sz="3400" b="1" dirty="0">
                <a:solidFill>
                  <a:srgbClr val="F5F5F5"/>
                </a:solidFill>
                <a:latin typeface="Arial Black" pitchFamily="34" charset="0"/>
                <a:ea typeface="Arial Black" pitchFamily="34" charset="-122"/>
                <a:cs typeface="Arial Black" pitchFamily="34" charset="-120"/>
              </a:rPr>
              <a:t>Qué aprendimos · qué haríamos distinto</a:t>
            </a:r>
            <a:endParaRPr lang="en-US" sz="3400" dirty="0"/>
          </a:p>
        </p:txBody>
      </p:sp>
      <p:sp>
        <p:nvSpPr>
          <p:cNvPr id="6" name="Shape 4"/>
          <p:cNvSpPr/>
          <p:nvPr/>
        </p:nvSpPr>
        <p:spPr>
          <a:xfrm>
            <a:off x="502920" y="1920240"/>
            <a:ext cx="5486400" cy="3291840"/>
          </a:xfrm>
          <a:prstGeom prst="roundRect">
            <a:avLst>
              <a:gd name="adj" fmla="val 2222"/>
            </a:avLst>
          </a:prstGeom>
          <a:solidFill>
            <a:srgbClr val="1E2230"/>
          </a:solidFill>
          <a:ln/>
        </p:spPr>
      </p:sp>
      <p:sp>
        <p:nvSpPr>
          <p:cNvPr id="7" name="Shape 5"/>
          <p:cNvSpPr/>
          <p:nvPr/>
        </p:nvSpPr>
        <p:spPr>
          <a:xfrm>
            <a:off x="502920" y="1920240"/>
            <a:ext cx="64008" cy="3291840"/>
          </a:xfrm>
          <a:prstGeom prst="rect">
            <a:avLst/>
          </a:prstGeom>
          <a:solidFill>
            <a:srgbClr val="3DD68C"/>
          </a:solidFill>
          <a:ln/>
        </p:spPr>
      </p:sp>
      <p:sp>
        <p:nvSpPr>
          <p:cNvPr id="8" name="Text 6"/>
          <p:cNvSpPr/>
          <p:nvPr/>
        </p:nvSpPr>
        <p:spPr>
          <a:xfrm>
            <a:off x="704088" y="2084832"/>
            <a:ext cx="512064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Aprendimos</a:t>
            </a:r>
            <a:endParaRPr lang="en-US" sz="1400" dirty="0"/>
          </a:p>
        </p:txBody>
      </p:sp>
      <p:sp>
        <p:nvSpPr>
          <p:cNvPr id="9" name="Text 7"/>
          <p:cNvSpPr/>
          <p:nvPr/>
        </p:nvSpPr>
        <p:spPr>
          <a:xfrm>
            <a:off x="704088" y="2432304"/>
            <a:ext cx="5120640" cy="276148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Testing como parte del desarrollo (TDD) · técnicas formales de diseño de casos · métricas que importan (cobertura útil, CC, MI) · integración continua · trazabilidad.</a:t>
            </a:r>
            <a:endParaRPr lang="en-US" sz="1100" dirty="0"/>
          </a:p>
        </p:txBody>
      </p:sp>
      <p:sp>
        <p:nvSpPr>
          <p:cNvPr id="10" name="Shape 8"/>
          <p:cNvSpPr/>
          <p:nvPr/>
        </p:nvSpPr>
        <p:spPr>
          <a:xfrm>
            <a:off x="6217920" y="1920240"/>
            <a:ext cx="5486400" cy="3291840"/>
          </a:xfrm>
          <a:prstGeom prst="roundRect">
            <a:avLst>
              <a:gd name="adj" fmla="val 2222"/>
            </a:avLst>
          </a:prstGeom>
          <a:solidFill>
            <a:srgbClr val="1E2230"/>
          </a:solidFill>
          <a:ln/>
        </p:spPr>
      </p:sp>
      <p:sp>
        <p:nvSpPr>
          <p:cNvPr id="11" name="Shape 9"/>
          <p:cNvSpPr/>
          <p:nvPr/>
        </p:nvSpPr>
        <p:spPr>
          <a:xfrm>
            <a:off x="6217920" y="1920240"/>
            <a:ext cx="64008" cy="3291840"/>
          </a:xfrm>
          <a:prstGeom prst="rect">
            <a:avLst/>
          </a:prstGeom>
          <a:solidFill>
            <a:srgbClr val="FFB100"/>
          </a:solidFill>
          <a:ln/>
        </p:spPr>
      </p:sp>
      <p:sp>
        <p:nvSpPr>
          <p:cNvPr id="12" name="Text 10"/>
          <p:cNvSpPr/>
          <p:nvPr/>
        </p:nvSpPr>
        <p:spPr>
          <a:xfrm>
            <a:off x="6419088" y="2084832"/>
            <a:ext cx="5120640" cy="365760"/>
          </a:xfrm>
          <a:prstGeom prst="rect">
            <a:avLst/>
          </a:prstGeom>
          <a:noFill/>
          <a:ln/>
        </p:spPr>
        <p:txBody>
          <a:bodyPr wrap="square" rtlCol="0" anchor="ctr"/>
          <a:lstStyle/>
          <a:p>
            <a:pPr indent="0" marL="0">
              <a:buNone/>
            </a:pPr>
            <a:r>
              <a:rPr lang="en-US" sz="1400" b="1" dirty="0">
                <a:solidFill>
                  <a:srgbClr val="F5F5F5"/>
                </a:solidFill>
                <a:latin typeface="Arial Black" pitchFamily="34" charset="0"/>
                <a:ea typeface="Arial Black" pitchFamily="34" charset="-122"/>
                <a:cs typeface="Arial Black" pitchFamily="34" charset="-120"/>
              </a:rPr>
              <a:t>Haríamos distinto</a:t>
            </a:r>
            <a:endParaRPr lang="en-US" sz="1400" dirty="0"/>
          </a:p>
        </p:txBody>
      </p:sp>
      <p:sp>
        <p:nvSpPr>
          <p:cNvPr id="13" name="Text 11"/>
          <p:cNvSpPr/>
          <p:nvPr/>
        </p:nvSpPr>
        <p:spPr>
          <a:xfrm>
            <a:off x="6419088" y="2432304"/>
            <a:ext cx="5120640" cy="2761488"/>
          </a:xfrm>
          <a:prstGeom prst="rect">
            <a:avLst/>
          </a:prstGeom>
          <a:noFill/>
          <a:ln/>
        </p:spPr>
        <p:txBody>
          <a:bodyPr wrap="square" rtlCol="0" anchor="t"/>
          <a:lstStyle/>
          <a:p>
            <a:pPr indent="0" marL="0">
              <a:buNone/>
            </a:pPr>
            <a:r>
              <a:rPr lang="en-US" sz="1100" dirty="0">
                <a:solidFill>
                  <a:srgbClr val="9AA0AE"/>
                </a:solidFill>
                <a:latin typeface="Arial" pitchFamily="34" charset="0"/>
                <a:ea typeface="Arial" pitchFamily="34" charset="-122"/>
                <a:cs typeface="Arial" pitchFamily="34" charset="-120"/>
              </a:rPr>
              <a:t>Testear desde el día 1 · implementar RBAC más temprano · validar también en el frontend · cubrir seguridad y frontend con tests · cerrar antes los defectos abiertos.</a:t>
            </a:r>
            <a:endParaRPr lang="en-US" sz="1100" dirty="0"/>
          </a:p>
        </p:txBody>
      </p:sp>
      <p:sp>
        <p:nvSpPr>
          <p:cNvPr id="14" name="Text 12"/>
          <p:cNvSpPr/>
          <p:nvPr/>
        </p:nvSpPr>
        <p:spPr>
          <a:xfrm>
            <a:off x="502920" y="6400800"/>
            <a:ext cx="5486400" cy="274320"/>
          </a:xfrm>
          <a:prstGeom prst="rect">
            <a:avLst/>
          </a:prstGeom>
          <a:noFill/>
          <a:ln/>
        </p:spPr>
        <p:txBody>
          <a:bodyPr wrap="square" rtlCol="0" anchor="ctr"/>
          <a:lstStyle/>
          <a:p>
            <a:pPr indent="0" marL="0">
              <a:buNone/>
            </a:pPr>
            <a:r>
              <a:rPr lang="en-US" sz="1100" dirty="0">
                <a:solidFill>
                  <a:srgbClr val="9AA0AE"/>
                </a:solidFill>
                <a:latin typeface="Arial" pitchFamily="34" charset="0"/>
                <a:ea typeface="Arial" pitchFamily="34" charset="-122"/>
                <a:cs typeface="Arial" pitchFamily="34" charset="-120"/>
              </a:rPr>
              <a:t>Presenta: Equipo</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4B3E"/>
          </a:solidFill>
          <a:ln/>
        </p:spPr>
      </p:sp>
      <p:sp>
        <p:nvSpPr>
          <p:cNvPr id="3" name="Shape 1"/>
          <p:cNvSpPr/>
          <p:nvPr/>
        </p:nvSpPr>
        <p:spPr>
          <a:xfrm>
            <a:off x="0" y="6309360"/>
            <a:ext cx="12188952" cy="548640"/>
          </a:xfrm>
          <a:prstGeom prst="rect">
            <a:avLst/>
          </a:prstGeom>
          <a:solidFill>
            <a:srgbClr val="FFB100"/>
          </a:solidFill>
          <a:ln/>
        </p:spPr>
      </p:sp>
      <p:sp>
        <p:nvSpPr>
          <p:cNvPr id="4" name="Text 2"/>
          <p:cNvSpPr/>
          <p:nvPr/>
        </p:nvSpPr>
        <p:spPr>
          <a:xfrm>
            <a:off x="731520" y="1371600"/>
            <a:ext cx="10058400" cy="457200"/>
          </a:xfrm>
          <a:prstGeom prst="rect">
            <a:avLst/>
          </a:prstGeom>
          <a:noFill/>
          <a:ln/>
        </p:spPr>
        <p:txBody>
          <a:bodyPr wrap="square" rtlCol="0" anchor="ctr"/>
          <a:lstStyle/>
          <a:p>
            <a:pPr indent="0" marL="0">
              <a:buNone/>
            </a:pPr>
            <a:r>
              <a:rPr lang="en-US" sz="1800" b="1" spc="200" kern="0" dirty="0">
                <a:solidFill>
                  <a:srgbClr val="FFB100"/>
                </a:solidFill>
                <a:latin typeface="Arial Black" pitchFamily="34" charset="0"/>
                <a:ea typeface="Arial Black" pitchFamily="34" charset="-122"/>
                <a:cs typeface="Arial Black" pitchFamily="34" charset="-120"/>
              </a:rPr>
              <a:t>CONCLUSIÓN</a:t>
            </a:r>
            <a:endParaRPr lang="en-US" sz="1800" dirty="0"/>
          </a:p>
        </p:txBody>
      </p:sp>
      <p:sp>
        <p:nvSpPr>
          <p:cNvPr id="5" name="Text 3"/>
          <p:cNvSpPr/>
          <p:nvPr/>
        </p:nvSpPr>
        <p:spPr>
          <a:xfrm>
            <a:off x="731520" y="1828800"/>
            <a:ext cx="10972800" cy="1463040"/>
          </a:xfrm>
          <a:prstGeom prst="rect">
            <a:avLst/>
          </a:prstGeom>
          <a:noFill/>
          <a:ln/>
        </p:spPr>
        <p:txBody>
          <a:bodyPr wrap="square" rtlCol="0" anchor="ctr"/>
          <a:lstStyle/>
          <a:p>
            <a:pPr indent="0" marL="0">
              <a:buNone/>
            </a:pPr>
            <a:r>
              <a:rPr lang="en-US" sz="4000" b="1" dirty="0">
                <a:solidFill>
                  <a:srgbClr val="F5F5F5"/>
                </a:solidFill>
                <a:latin typeface="Arial Black" pitchFamily="34" charset="0"/>
                <a:ea typeface="Arial Black" pitchFamily="34" charset="-122"/>
                <a:cs typeface="Arial Black" pitchFamily="34" charset="-120"/>
              </a:rPr>
              <a:t>Un producto funcional</a:t>
            </a:r>
            <a:endParaRPr lang="en-US" sz="4000" dirty="0"/>
          </a:p>
          <a:p>
            <a:pPr indent="0" marL="0">
              <a:buNone/>
            </a:pPr>
            <a:r>
              <a:rPr lang="en-US" sz="4000" b="1" dirty="0">
                <a:solidFill>
                  <a:srgbClr val="F5F5F5"/>
                </a:solidFill>
                <a:latin typeface="Arial Black" pitchFamily="34" charset="0"/>
                <a:ea typeface="Arial Black" pitchFamily="34" charset="-122"/>
                <a:cs typeface="Arial Black" pitchFamily="34" charset="-120"/>
              </a:rPr>
              <a:t>y un método de calidad replicable</a:t>
            </a:r>
            <a:endParaRPr lang="en-US" sz="4000" dirty="0"/>
          </a:p>
        </p:txBody>
      </p:sp>
      <p:sp>
        <p:nvSpPr>
          <p:cNvPr id="6" name="Text 4"/>
          <p:cNvSpPr/>
          <p:nvPr/>
        </p:nvSpPr>
        <p:spPr>
          <a:xfrm>
            <a:off x="731520" y="3657600"/>
            <a:ext cx="10972800" cy="548640"/>
          </a:xfrm>
          <a:prstGeom prst="rect">
            <a:avLst/>
          </a:prstGeom>
          <a:noFill/>
          <a:ln/>
        </p:spPr>
        <p:txBody>
          <a:bodyPr wrap="square" rtlCol="0" anchor="ctr"/>
          <a:lstStyle/>
          <a:p>
            <a:pPr indent="0" marL="0">
              <a:buNone/>
            </a:pPr>
            <a:r>
              <a:rPr lang="en-US" sz="1600" dirty="0">
                <a:solidFill>
                  <a:srgbClr val="9AA0AE"/>
                </a:solidFill>
                <a:latin typeface="Arial" pitchFamily="34" charset="0"/>
                <a:ea typeface="Arial" pitchFamily="34" charset="-122"/>
                <a:cs typeface="Arial" pitchFamily="34" charset="-120"/>
              </a:rPr>
              <a:t>77 tests verdes  ·  100% en módulos principales  ·  CI activo  ·  trazabilidad completa  ·  defecto crítico cerrado</a:t>
            </a:r>
            <a:endParaRPr lang="en-US" sz="1600" dirty="0"/>
          </a:p>
        </p:txBody>
      </p:sp>
      <p:sp>
        <p:nvSpPr>
          <p:cNvPr id="7" name="Text 5"/>
          <p:cNvSpPr/>
          <p:nvPr/>
        </p:nvSpPr>
        <p:spPr>
          <a:xfrm>
            <a:off x="731520" y="4480560"/>
            <a:ext cx="10972800" cy="822960"/>
          </a:xfrm>
          <a:prstGeom prst="rect">
            <a:avLst/>
          </a:prstGeom>
          <a:noFill/>
          <a:ln/>
        </p:spPr>
        <p:txBody>
          <a:bodyPr wrap="square" rtlCol="0" anchor="ctr"/>
          <a:lstStyle/>
          <a:p>
            <a:pPr indent="0" marL="0">
              <a:buNone/>
            </a:pPr>
            <a:r>
              <a:rPr lang="en-US" sz="4400" b="1" dirty="0">
                <a:solidFill>
                  <a:srgbClr val="FFB100"/>
                </a:solidFill>
                <a:latin typeface="Arial Black" pitchFamily="34" charset="0"/>
                <a:ea typeface="Arial Black" pitchFamily="34" charset="-122"/>
                <a:cs typeface="Arial Black" pitchFamily="34" charset="-120"/>
              </a:rPr>
              <a:t>¡Gracias!</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2026-06-12T15:16:48Z</dcterms:created>
  <dcterms:modified xsi:type="dcterms:W3CDTF">2026-06-12T15:16:48Z</dcterms:modified>
</cp:coreProperties>
</file>